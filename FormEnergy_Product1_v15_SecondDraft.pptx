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Form Energy Inc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Iron-Air Batteries  |  Long-Duration Storage  |  100+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41148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$1.52B Funding  |  ~400 Employees  |  USA  |  Pre-Revenue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 |  March 2026  | 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Form Energy Inc —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Form Energy 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Private (venture-backed)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Iron-Air Battery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Somerville, MA, USA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2017 by MIT researchers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Valuation: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$2.5B 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Funding: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$1.52B total raised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Pre-revenue (2027 target)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Key Contract: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Google 300MW/30GWh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Iron-air battery technology: 100+ hour duration at $20/kWh target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$1.52B funding from Breakthrough Energy, T. Rowe Price, GE Vernova, Temasek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Google contract: 300MW/30GWh (2026-2028) — first major commercial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Pre-revenue status: Manufacturing facility under construction in Weirton, WV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⚠  RECOMMENDATION: CONDITIONAL APPROVAL — ENHANCED DUE DILIGENCE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Form Energy represents a breakthrough in long-duration energy storage with iron-air technology. However, pre-revenue status and manufacturing scale-up risks require milestone-based engagement with performance guarantees before full commercial commitment.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Commercial Conditions</a:t>
            </a:r>
          </a:p>
          <a:p>
            <a:r>
              <a:rPr sz="1100">
                <a:solidFill>
                  <a:srgbClr val="1A202C"/>
                </a:solidFill>
              </a:rPr>
              <a:t>• Payment: Milestone-based (no advance payment)</a:t>
            </a:r>
          </a:p>
          <a:p>
            <a:r>
              <a:rPr sz="1100">
                <a:solidFill>
                  <a:srgbClr val="1A202C"/>
                </a:solidFill>
              </a:rPr>
              <a:t>• Performance bonds: Parent guarantee from Form Energy</a:t>
            </a:r>
          </a:p>
          <a:p>
            <a:r>
              <a:rPr sz="1100">
                <a:solidFill>
                  <a:srgbClr val="1A202C"/>
                </a:solidFill>
              </a:rPr>
              <a:t>• Liquidated damages: For delivery delays post-2027</a:t>
            </a:r>
          </a:p>
          <a:p>
            <a:r>
              <a:rPr sz="1100">
                <a:solidFill>
                  <a:srgbClr val="1A202C"/>
                </a:solidFill>
              </a:rPr>
              <a:t>• Technology escrow: Source code / manufacturing IP</a:t>
            </a:r>
          </a:p>
          <a:p>
            <a:r>
              <a:rPr sz="1100">
                <a:solidFill>
                  <a:srgbClr val="1A202C"/>
                </a:solidFill>
              </a:rPr>
              <a:t>• Termination: Exit rights if milestones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Enhanced Due Diligence (Mandatory)</a:t>
            </a:r>
          </a:p>
          <a:p>
            <a:r>
              <a:rPr sz="1100">
                <a:solidFill>
                  <a:srgbClr val="1A202C"/>
                </a:solidFill>
              </a:rPr>
              <a:t>• Verify Google contract milestones and performance guarantees</a:t>
            </a:r>
          </a:p>
          <a:p>
            <a:r>
              <a:rPr sz="1100">
                <a:solidFill>
                  <a:srgbClr val="1A202C"/>
                </a:solidFill>
              </a:rPr>
              <a:t>• Site visit: Weirton, WV manufacturing facility</a:t>
            </a:r>
          </a:p>
          <a:p>
            <a:r>
              <a:rPr sz="1100">
                <a:solidFill>
                  <a:srgbClr val="1A202C"/>
                </a:solidFill>
              </a:rPr>
              <a:t>• Technology audit: Independent validation of 100-hr duration claims</a:t>
            </a:r>
          </a:p>
          <a:p>
            <a:r>
              <a:rPr sz="1100">
                <a:solidFill>
                  <a:srgbClr val="1A202C"/>
                </a:solidFill>
              </a:rPr>
              <a:t>• Financial audit: Review runway and Series E terms</a:t>
            </a:r>
          </a:p>
          <a:p>
            <a:r>
              <a:rPr sz="1100">
                <a:solidFill>
                  <a:srgbClr val="1A202C"/>
                </a:solidFill>
              </a:rPr>
              <a:t>• Insurance: Verify product liability coverage</a:t>
            </a:r>
          </a:p>
          <a:p>
            <a:r>
              <a:rPr sz="1100">
                <a:solidFill>
                  <a:srgbClr val="1A202C"/>
                </a:solidFill>
              </a:rPr>
              <a:t>• Reference checks: Early pilot customers (if any)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4552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Overall Risk Summary — MEDIUM-HIGH (58/100)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Financial: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$1.52B funding; pre-revenue; 2027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Operational: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Unproven manufacturing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Geopolitical: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US-based; stable jurisdiction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ESG: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Strong environmental; governance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1" name="Picture 20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9601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Company Overview</a:t>
            </a:r>
          </a:p>
          <a:p>
            <a:r>
              <a:rPr sz="1100">
                <a:solidFill>
                  <a:srgbClr val="1A202C"/>
                </a:solidFill>
              </a:rPr>
              <a:t>• Form Energy Inc is a US-based energy</a:t>
            </a:r>
          </a:p>
          <a:p>
            <a:r>
              <a:rPr sz="1100">
                <a:solidFill>
                  <a:srgbClr val="1A202C"/>
                </a:solidFill>
              </a:rPr>
              <a:t>• storage company founded in 2017 by</a:t>
            </a:r>
          </a:p>
          <a:p>
            <a:r>
              <a:rPr sz="1100">
                <a:solidFill>
                  <a:srgbClr val="1A202C"/>
                </a:solidFill>
              </a:rPr>
              <a:t>• MIT researchers. Developing iron-air</a:t>
            </a:r>
          </a:p>
          <a:p>
            <a:r>
              <a:rPr sz="1100">
                <a:solidFill>
                  <a:srgbClr val="1A202C"/>
                </a:solidFill>
              </a:rPr>
              <a:t>• batteries capable of 100+ hour duration</a:t>
            </a:r>
          </a:p>
          <a:p>
            <a:r>
              <a:rPr sz="1100">
                <a:solidFill>
                  <a:srgbClr val="1A202C"/>
                </a:solidFill>
              </a:rPr>
              <a:t>• storage at projected $20/kWh cost.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Breakthrough technology addresses</a:t>
            </a:r>
          </a:p>
          <a:p>
            <a:r>
              <a:rPr sz="1100">
                <a:solidFill>
                  <a:srgbClr val="1A202C"/>
                </a:solidFill>
              </a:rPr>
              <a:t>• long-duration storage gap in renewable</a:t>
            </a:r>
          </a:p>
          <a:p>
            <a:r>
              <a:rPr sz="1100">
                <a:solidFill>
                  <a:srgbClr val="1A202C"/>
                </a:solidFill>
              </a:rPr>
              <a:t>• energy grid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Leadership</a:t>
            </a:r>
          </a:p>
          <a:p>
            <a:r>
              <a:rPr sz="1100">
                <a:solidFill>
                  <a:srgbClr val="1A202C"/>
                </a:solidFill>
              </a:rPr>
              <a:t>• Mateo Jaramillo — CEO</a:t>
            </a:r>
          </a:p>
          <a:p>
            <a:r>
              <a:rPr sz="1100">
                <a:solidFill>
                  <a:srgbClr val="1A202C"/>
                </a:solidFill>
              </a:rPr>
              <a:t>•   Former Tesla Energy (Powerwall)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MIT pedigree: Co-founders from</a:t>
            </a:r>
          </a:p>
          <a:p>
            <a:r>
              <a:rPr sz="1100">
                <a:solidFill>
                  <a:srgbClr val="1A202C"/>
                </a:solidFill>
              </a:rPr>
              <a:t>•   Yet-Ming Chiang research group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HQ: Somerville, MA  |  Founded: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9" name="Picture 8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Funding Trajectory 2017–2024  |  Pre-Revenue Stage  |  $1.52B Total Funding</a:t>
            </a:r>
          </a:p>
        </p:txBody>
      </p:sp>
      <p:pic>
        <p:nvPicPr>
          <p:cNvPr id="5" name="Picture 4" descr="03_f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05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Financial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264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Latest Valuation: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4264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$2.5B 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007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Total Funding: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7007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$1.52B  (Series 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751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Latest Round: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9751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$450M  Series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942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Key Investors: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4942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Breakthrough Energy Ventures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2374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2024: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252374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9E2E"/>
                </a:solidFill>
              </a:rPr>
              <a:t>$0  (pre-revenue)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7980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2027E: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7980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9E2E"/>
                </a:solidFill>
              </a:rPr>
              <a:t>First commercial deliveries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0723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Cash Runway: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0723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9E2E"/>
                </a:solidFill>
              </a:rPr>
              <a:t>Estimated 3-4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3467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Burn Rate: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3467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9E2E"/>
                </a:solidFill>
              </a:rPr>
              <a:t>High (manufacturing build-out)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703320"/>
            <a:ext cx="4389120" cy="402336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Financial Risk:  MEDIUM  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062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Exposure Guidance</a:t>
            </a:r>
          </a:p>
          <a:p>
            <a:r>
              <a:rPr sz="1000">
                <a:solidFill>
                  <a:srgbClr val="1A202C"/>
                </a:solidFill>
              </a:rPr>
              <a:t>• Pre-revenue: No revenue track record</a:t>
            </a:r>
          </a:p>
          <a:p>
            <a:r>
              <a:rPr sz="1000">
                <a:solidFill>
                  <a:srgbClr val="1A202C"/>
                </a:solidFill>
              </a:rPr>
              <a:t>• Milestone-based payments mandatory</a:t>
            </a:r>
          </a:p>
          <a:p>
            <a:r>
              <a:rPr sz="1000">
                <a:solidFill>
                  <a:srgbClr val="1A202C"/>
                </a:solidFill>
              </a:rPr>
              <a:t>• Verify runway through 2027 commercialization</a:t>
            </a:r>
          </a:p>
          <a:p>
            <a:r>
              <a:rPr sz="1000">
                <a:solidFill>
                  <a:srgbClr val="1A202C"/>
                </a:solidFill>
              </a:rPr>
              <a:t>• Request investor letters of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7" name="Picture 2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Energy Storage Companies — Valuation Comparison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315200" cy="4078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005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Competitive Landscape</a:t>
            </a:r>
          </a:p>
          <a:p>
            <a:r>
              <a:rPr sz="1100">
                <a:solidFill>
                  <a:srgbClr val="1A202C"/>
                </a:solidFill>
              </a:rPr>
              <a:t>• Form Energy occupies unique position</a:t>
            </a:r>
          </a:p>
          <a:p>
            <a:r>
              <a:rPr sz="1100">
                <a:solidFill>
                  <a:srgbClr val="1A202C"/>
                </a:solidFill>
              </a:rPr>
              <a:t>• in long-duration storage (100+ hours).</a:t>
            </a:r>
          </a:p>
          <a:p>
            <a:r>
              <a:rPr sz="1100">
                <a:solidFill>
                  <a:srgbClr val="1A202C"/>
                </a:solidFill>
              </a:rPr>
              <a:t>• Competes with lithium-ion for shorter</a:t>
            </a:r>
          </a:p>
          <a:p>
            <a:r>
              <a:rPr sz="1100">
                <a:solidFill>
                  <a:srgbClr val="1A202C"/>
                </a:solidFill>
              </a:rPr>
              <a:t>• durations; unique for multi-day storage.</a:t>
            </a:r>
          </a:p>
          <a:p>
            <a:r>
              <a:rPr sz="1100">
                <a:solidFill>
                  <a:srgbClr val="1A202C"/>
                </a:solidFill>
              </a:rPr>
              <a:t>• Target: $20/kWh vs Li-ion $130/kWh.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Form Energy Competitive Advantages</a:t>
            </a:r>
          </a:p>
          <a:p>
            <a:r>
              <a:rPr sz="1100">
                <a:solidFill>
                  <a:srgbClr val="1A202C"/>
                </a:solidFill>
              </a:rPr>
              <a:t>• 100+ hour duration (Li-ion: 4-8 hrs)</a:t>
            </a:r>
          </a:p>
          <a:p>
            <a:r>
              <a:rPr sz="1100">
                <a:solidFill>
                  <a:srgbClr val="1A202C"/>
                </a:solidFill>
              </a:rPr>
              <a:t>• Iron-air chemistry: abundant materials</a:t>
            </a:r>
          </a:p>
          <a:p>
            <a:r>
              <a:rPr sz="1100">
                <a:solidFill>
                  <a:srgbClr val="1A202C"/>
                </a:solidFill>
              </a:rPr>
              <a:t>• No rare earths or lithium supply risk</a:t>
            </a:r>
          </a:p>
          <a:p>
            <a:r>
              <a:rPr sz="1100">
                <a:solidFill>
                  <a:srgbClr val="1A202C"/>
                </a:solidFill>
              </a:rPr>
              <a:t>• Target cost: $20/kWh (1/6th of Li-ion)</a:t>
            </a:r>
          </a:p>
          <a:p>
            <a:r>
              <a:rPr sz="1100">
                <a:solidFill>
                  <a:srgbClr val="1A202C"/>
                </a:solidFill>
              </a:rPr>
              <a:t>• Google contract validation (300MW)</a:t>
            </a:r>
          </a:p>
          <a:p>
            <a:r>
              <a:rPr sz="1100">
                <a:solidFill>
                  <a:srgbClr val="1A202C"/>
                </a:solidFill>
              </a:rPr>
              <a:t>• US manufacturing: Weirton, WV facility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Competitors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009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Tesla Energy — USA — $800B mkt cap — Powerwall/Powerpack/Megapack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Fluence — USA/Australia — $450M revenue — Grid-scale storage integrator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7044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CATL — China — $120B mkt cap — World’s largest battery manufacturer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3562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BYD — China — $90B mkt cap — Integrated EV + energy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4" name="Picture 13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 &amp; 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Milestones &amp; Strategic Investment  |  Risk Matrix  |  Capability Summary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2670048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5029200" cy="4078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1023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Risk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858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Financial: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5385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858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$1.52B funding; pre-revenue; runway TBD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6144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Technology: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6144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6144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Iron-air validated; manufacturing scale unproven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843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Operational: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843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🟡 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8430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First facility under construction; 2027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716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Competition: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0716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🟢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60716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Unique 100+ hr position vs Li-ion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3002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Supply Chain: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6300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🟢 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63002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Iron, air, water — abundant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102352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Capabilities</a:t>
            </a:r>
          </a:p>
          <a:p>
            <a:r>
              <a:rPr sz="1000">
                <a:solidFill>
                  <a:srgbClr val="1A202C"/>
                </a:solidFill>
              </a:rPr>
              <a:t>• Iron-air battery R&amp;D and engineering</a:t>
            </a:r>
          </a:p>
          <a:p>
            <a:r>
              <a:rPr sz="1000">
                <a:solidFill>
                  <a:srgbClr val="1A202C"/>
                </a:solidFill>
              </a:rPr>
              <a:t>• 100+ hour duration storage technology</a:t>
            </a:r>
          </a:p>
          <a:p>
            <a:r>
              <a:rPr sz="1000">
                <a:solidFill>
                  <a:srgbClr val="1A202C"/>
                </a:solidFill>
              </a:rPr>
              <a:t>• US-based manufacturing (Weirton, WV)</a:t>
            </a:r>
          </a:p>
          <a:p>
            <a:r>
              <a:rPr sz="1000">
                <a:solidFill>
                  <a:srgbClr val="1A202C"/>
                </a:solidFill>
              </a:rPr>
              <a:t>• Strategic partnerships: Google, 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5" name="Picture 24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 &amp;  PEER RISK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Radar  |  Peer Risk Profile  |  Commercial Terms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303520" cy="4334256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630936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5303520"/>
            <a:ext cx="11612880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Commercial Terms &amp; Negotiation</a:t>
            </a:r>
          </a:p>
          <a:p>
            <a:r>
              <a:rPr sz="1000">
                <a:solidFill>
                  <a:srgbClr val="1A202C"/>
                </a:solidFill>
              </a:rPr>
              <a:t>• Pricing: Target $20/kWh (vs Li-ion $130/kWh)</a:t>
            </a:r>
          </a:p>
          <a:p>
            <a:r>
              <a:rPr sz="1000">
                <a:solidFill>
                  <a:srgbClr val="1A202C"/>
                </a:solidFill>
              </a:rPr>
              <a:t>• Lead time: 2027+ for commercial volumes</a:t>
            </a:r>
          </a:p>
          <a:p>
            <a:r>
              <a:rPr sz="1000">
                <a:solidFill>
                  <a:srgbClr val="1A202C"/>
                </a:solidFill>
              </a:rPr>
              <a:t>• Contract: Google 300MW/30GWh reference pricing</a:t>
            </a:r>
          </a:p>
          <a:p>
            <a:r>
              <a:rPr sz="1000">
                <a:solidFill>
                  <a:srgbClr val="1A202C"/>
                </a:solidFill>
              </a:rPr>
              <a:t>• Leverage: Early adopter positioning for LDES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2147"/>
                </a:solidFill>
              </a:rPr>
              <a:t>Key Watch Points</a:t>
            </a:r>
          </a:p>
          <a:p>
            <a:r>
              <a:rPr sz="1000">
                <a:solidFill>
                  <a:srgbClr val="1A202C"/>
                </a:solidFill>
              </a:rPr>
              <a:t>• ⚠ Verify Google contract performance milestones</a:t>
            </a:r>
          </a:p>
          <a:p>
            <a:r>
              <a:rPr sz="1000">
                <a:solidFill>
                  <a:srgbClr val="1A202C"/>
                </a:solidFill>
              </a:rPr>
              <a:t>• ⚠ Monitor Weirton facility construction progress</a:t>
            </a:r>
          </a:p>
          <a:p>
            <a:r>
              <a:rPr sz="1000">
                <a:solidFill>
                  <a:srgbClr val="1A202C"/>
                </a:solidFill>
              </a:rPr>
              <a:t>• ⚠ Track 2027 commercial delivery readiness</a:t>
            </a:r>
          </a:p>
          <a:p>
            <a:r>
              <a:rPr sz="1000">
                <a:solidFill>
                  <a:srgbClr val="1A202C"/>
                </a:solidFill>
              </a:rPr>
              <a:t>• ⚠ Assess technology field validation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1" name="Picture 10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Screening  |  Overall Rating: MEDIUM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960120"/>
            <a:ext cx="9144000" cy="5422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