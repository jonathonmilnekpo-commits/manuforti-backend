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6CB0"/>
                </a:solidFill>
              </a:rPr>
              <a:t>PROCUREMENT AI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Statkraft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18096"/>
                </a:solidFill>
              </a:rPr>
              <a:t>From Framework to Agentic Capability — v2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34640"/>
            <a:ext cx="1143000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"Every company in the world today needs to have an OpenClaw strategy, an agentic system strategy.
This is the new computer."  —  Jensen Huang, CEO Nvidia, GTC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Market Intelligence  ·  Peer Analysis  ·  Agentic Use Cases  ·  Decision Intelligence  ·  Cybersecurity  ·  Execution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Prepared by Aiden  |  Manu Forti Intelligence  |  March 17,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THE MOMENT  |  Nvidia GTC 2026 — Yesterday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OpenClaw is the new computer. Nvidia just made it enterprise-ready.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583680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73152" cy="50749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6126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FFFFFF"/>
                </a:solidFill>
              </a:rPr>
              <a:t>"OpenClaw has made it possible for us to create a world where everyone has their own AI agent."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67712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18096"/>
                </a:solidFill>
              </a:rPr>
              <a:t>— Jensen Huang, CEO Nvidia  |  GTC 2026, San Jose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97480"/>
            <a:ext cx="612648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</a:rPr>
              <a:t>What NemoClaw means for enterprise procurement: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46120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Enterprise-secure OpenClaw stack — protects sensitive corporate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21608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Runs on Nvidia hardware: on-prem GPU servers compatible with H100/A100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97096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Any open-source model: Llama, Mistral, Qwen — no vendor lock-in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72583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Peter Steinberger (OpenClaw creator): 'We're building the claws and guardrails that let enterprises act confidently'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148071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Nvidia investing $26B in open-source AI — this ecosystem is not going away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1051560"/>
            <a:ext cx="4800600" cy="507492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86600" y="1051560"/>
            <a:ext cx="64008" cy="507492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14300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147"/>
                </a:solidFill>
              </a:rPr>
              <a:t>What This Means for Statkraft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5544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The AI moment has a name — and it's now.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1965960"/>
            <a:ext cx="4480560" cy="36576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2084831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147"/>
                </a:solidFill>
              </a:rPr>
              <a:t>► The platform is proven: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359151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OpenClaw runs 2.2M installs weekly. This isn't a pilot.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8620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147"/>
                </a:solidFill>
              </a:rPr>
              <a:t>► The security problem is solved: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136391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NemoClaw = enterprise-grade, on-premises, auditable.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63931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147"/>
                </a:solidFill>
              </a:rPr>
              <a:t>► The model cost is zero: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91363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Llama/Mistral/Qwen are free. Only compute costs money.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4165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147"/>
                </a:solidFill>
              </a:rPr>
              <a:t>► Procurement is next: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69087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Operations AI is mature. Procurement AI is the frontier.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19379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147"/>
                </a:solidFill>
              </a:rPr>
              <a:t>► First movers win: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46811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Equinor set the standard with $130M. Statkraft can set
the Nordic procurement standard.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MARKET INTELLIGENCE  |  2026 Research — 15+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The data is unambiguous: procurement AI is real, scaled, and delivering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" cy="65836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051560"/>
            <a:ext cx="11576304" cy="65836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24712"/>
            <a:ext cx="11347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McKinsey (Jan 2026): AI copilots improve procurement productivity 25–40%. Autonomous category agents deliver 15–30% efficiency gains on top. The next frontier is end-to-end workflow automation — not task tools.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10512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01952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94%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68880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of procurement execs
use GenAI weekly
(Art of Procurement 2026)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60903" y="1810512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2344" y="1901952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2344" y="2468880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have large-scale
deployment — huge
execution gap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7488" y="1810512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7" y="1901952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25–40%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7" y="2468880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efficiency gain from
agentic AI
(McKinsey 2026)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34071" y="1810512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1" y="1901952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~2×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1" y="2468880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AI use in procurement
year-over-year
(Hackett 2026)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0655" y="1810512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2095" y="1901952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+8%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12095" y="2468880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workloads rising
while headcount
falls (Hackett 2026)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127248"/>
            <a:ext cx="5577840" cy="303580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2186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</a:rPr>
              <a:t>📊  Source Data 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61188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EY CPO Survey: 80% of CPOs plan GenAI in 3 years; only 36% have meaningful implementations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050791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Gartner: 74% of procurement leaders say data isn't AI-ready; GenAI can automate 50–80% of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48970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McKinsey: Spend managed per FTE is 50% more today than 5 years ago — AI is what keeps scaling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928616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Hackett: 34% efficiency gains &amp; 23% cost savings from AI-driven procurement outsourcing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67528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AWS/McKinsey: AI supply chains = 15% lower logistics costs, 35% less inventory, 65% better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0644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Art of Procurement: Top CPO use cases — spend analytics (53%), RFQ (42%), contract (41%)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127248"/>
            <a:ext cx="5760720" cy="303580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3127248"/>
            <a:ext cx="64008" cy="303580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2186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147"/>
                </a:solidFill>
              </a:rPr>
              <a:t>⚡  The Adoption Curve — Where Are We?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81928" y="3611880"/>
            <a:ext cx="822960" cy="42062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3675888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2022–2023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6393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18096"/>
                </a:solidFill>
              </a:rPr>
              <a:t>Experimentation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6758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ChatGPT moments. Individual users exploring.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81928" y="4087368"/>
            <a:ext cx="822960" cy="420624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4151376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41148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F06"/>
                </a:solidFill>
              </a:rPr>
              <a:t>Pilot Projects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1513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Teams running structured pilots. Mostly text tasks.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81928" y="4562856"/>
            <a:ext cx="822960" cy="42062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91072" y="4626864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45902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Production Tools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6268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Contract review, spend analytics, RFQ drafting going live.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81928" y="5038344"/>
            <a:ext cx="822960" cy="42062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91072" y="5102352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8040" y="506577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Agentic Systems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5102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Autonomous agents. End-to-end workflows. THIS IS NOW.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81928" y="5513831"/>
            <a:ext cx="822960" cy="42062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91072" y="5577840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2027+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8040" y="55412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Autonomous Procurement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5577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Self-executing sourcing cycles with human gates.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ENERGY SECTOR PEER ANALYSIS  |  What They're Running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Your peers have moved. The gap is closing. Statkraft needs to move now.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3749039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155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</a:rPr>
              <a:t>Equinor 🇳🇴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1664208"/>
            <a:ext cx="345643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81051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$130M AI savings in 2025 (official, Jan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23113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500M NOK/yr from low-code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6517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Automated spend classification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072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AI logistics: 13% inventory reduction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4930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24,000 sensors — predictive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91363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100+ new AI use cases identified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33425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NOK 1B+ projected from robotics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7548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Most relevant peer — watch this closely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0248" y="1051560"/>
            <a:ext cx="3749039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11155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</a:rPr>
              <a:t>Shell / TotalEnergies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1664208"/>
            <a:ext cx="345643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181051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Shell: AI contract authoring — first draft automated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223113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Shell: Supplier compliance monitoring, real-time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26517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Shell: Embedding AI in workflows, not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3072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TotalEnergies: 100K suppliers / $31B spend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34930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Contract NLP scanning: 80% faster review (live)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391363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Continuous supplier financial monitoring 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433425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AI at $31B spend = $310M saving per 1% gain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47548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Both using on-prem + private cloud hybrid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66175" y="1051560"/>
            <a:ext cx="3749039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6" y="11155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</a:rPr>
              <a:t>Vattenfall / Ørsted / BP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03336" y="1664208"/>
            <a:ext cx="345643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03336" y="181051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Vattenfall: Predictive MRO/capex demand (6–12m)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3336" y="223113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Vattenfall: Engaged Hackett Group — paying £50K+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6" y="26517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Ørsted: Autonomous RFQ from spec docs — saves 4–8h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6" y="3072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BP: Autonomous PO routing and compliance checks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336" y="34930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BP: AI workflow named as specific cost reduction lever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3336" y="391363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Multiple majors: Contract NLP on full portfolio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3336" y="433425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Ørsted: AI cost estimating for offshore wind BOS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3336" y="47548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All: Moving from dashboards to autonomous agents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199632"/>
            <a:ext cx="11640312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24535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⚡  The Statkraft Gap: Renewables-specific procurement AI (HV equipment, EPC, offshore wind BOS) is unaddressed by any major. First-mover advantage is real and available now.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AGENTIC AI WORKERS — THE PROCUREMENT TEAM  |  8 Autonomous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Not tools you prompt — agents that work 24/7, flag risks, draft documents, and feed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" cy="62179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051560"/>
            <a:ext cx="11576304" cy="62179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24712"/>
            <a:ext cx="1134770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McKinsey: "The real leap forward comes when AI moves beyond individual use cases to agents autonomously executing end-to-end workflows." Category agents alone deliver 15–30% efficiency improvement.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8308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83080"/>
            <a:ext cx="347472" cy="13258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216712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56231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Supplier
Monitor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24028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Daily news + financial scan on 50+ suppliers. Flags risks before they become crises. Replaces annual review cycle with continuous early warning. Feeds project risk register.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178308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64408" y="1783080"/>
            <a:ext cx="347472" cy="1325880"/>
          </a:xfrm>
          <a:prstGeom prst="rect">
            <a:avLst/>
          </a:prstGeom>
          <a:solidFill>
            <a:srgbClr val="0B7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00984" y="216712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1856231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A75"/>
                </a:solidFill>
              </a:rPr>
              <a:t>Market
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24028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Commodity prices, steel, copper, cable, transformer indices. Daily briefings. Informs project estimates at DG2. Flags cost pressure before budget is locked.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4496" y="178308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4496" y="1783080"/>
            <a:ext cx="347472" cy="13258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16712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1856231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RFQ
Drafter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224028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Given a spec, outputs complete RFQ + evaluation criteria + supplier shortlist. Saves 4–8 hrs per event. Proven at Ørsted and BP. Works from Jaggaer templates.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44584" y="178308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44584" y="1783080"/>
            <a:ext cx="347472" cy="1325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16712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3496" y="1856231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Contract
Reviewer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3496" y="224028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Reads contracts vs. standard playbook. Flags non-standard clauses. 80% faster review benchmark (Luminance/Icertis). Covers the full active portfolio.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20040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200400"/>
            <a:ext cx="347472" cy="1325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" y="358444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3273552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Spend
Classifier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36576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Processes SAP invoices + POs continuously. 70–90% accuracy. Foundation for all other AI use cases. Cleans data for project cost intelligence.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64408" y="320040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64408" y="3200400"/>
            <a:ext cx="347472" cy="132588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00984" y="358444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3273552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F06"/>
                </a:solidFill>
              </a:rPr>
              <a:t>Category
Strategist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36576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Given a brief, researches market and drafts full category strategy. Weeks → days. This is what Manu Forti delivers commercially. Highest-value agent.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54496" y="320040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54496" y="3200400"/>
            <a:ext cx="347472" cy="1325880"/>
          </a:xfrm>
          <a:prstGeom prst="rect">
            <a:avLst/>
          </a:prstGeom>
          <a:solidFill>
            <a:srgbClr val="0B7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358444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93408" y="3273552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A75"/>
                </a:solidFill>
              </a:rPr>
              <a:t>Negotiation
Prep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3408" y="36576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Market benchmarks, BATNA analysis, walk-away price, supplier SWOT. Category managers walk into negotiations prepared — not improvising.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44584" y="320040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44584" y="3200400"/>
            <a:ext cx="347472" cy="132588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81159" y="358444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83496" y="3273552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18096"/>
                </a:solidFill>
              </a:rPr>
              <a:t>CSRD
Compliance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83496" y="36576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Monitors supplier ESG, sanctions, and regulatory status. Automated surveillance for CSRD/EUDR reporting. Audit-ready output.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681728"/>
            <a:ext cx="11640312" cy="53035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718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⚙️  HUMAN-IN-THE-LOOP THRESHOLDS:  Draft doc → Always auto (logged)  |  Supplier comms → Auto &lt;€50K / Human above  |  Create PO → Auto &lt;€10K / Human above  |  Award contract → ALWAYS HUMAN  |  Confidential data → NEVER autonomous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AGENTIC USE CASES — ADVANCED APPLICATIONS  |  Beyond the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From individual task agents to multi-agent workflows that transform how procurement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" cy="594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051560"/>
            <a:ext cx="11576304" cy="5943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24712"/>
            <a:ext cx="1134770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The shift from 'AI tools' to 'AI systems': Multiple agents working together, passing data between them, with procurement professionals as orchestrators not operators.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37360"/>
            <a:ext cx="3749039" cy="205740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37360"/>
            <a:ext cx="365760" cy="2057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2414015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828800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</a:rPr>
              <a:t>Multi-Agent
Sourcing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331720"/>
            <a:ext cx="312724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Trigger: New capex project spec approved
→ Market Intel agent pulls live prices
→ RFQ Drafter creates tender document
→ Supplier Monitor shortlists qualified vendors
→ Negotiation Prep builds target/walk-away
Result: Full sourcing pack in hours, not weeks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737360"/>
            <a:ext cx="3749039" cy="205740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1737360"/>
            <a:ext cx="365760" cy="205740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8536" y="2414015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1828800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F06"/>
                </a:solidFill>
              </a:rPr>
              <a:t>Project Cost
Intelligence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331720"/>
            <a:ext cx="312724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Mines SAP/Jaggaer historical data:
→ Actual prices paid vs. original estimates
→ Lead time actuals vs. vendor claims
→ Cost overrun patterns by category
→ Live commodity index overlays
Result: DG2 estimates grounded in reality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737360"/>
            <a:ext cx="3749039" cy="205740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737360"/>
            <a:ext cx="365760" cy="2057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5" y="2414015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828800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EPC Contract
AI Review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331720"/>
            <a:ext cx="312724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Reads full EPC/EPCI contract packages:
→ Flags deviations from Statkraft playbook
→ Identifies risk allocation non-standards
→ Compares to 5 most recent similar contracts
→ Generates exception report for legal review
Result: Legal cycle time cut 40–60%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86200"/>
            <a:ext cx="3749039" cy="205740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886200"/>
            <a:ext cx="365760" cy="2057400"/>
          </a:xfrm>
          <a:prstGeom prst="rect">
            <a:avLst/>
          </a:prstGeom>
          <a:solidFill>
            <a:srgbClr val="0B7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" y="4562856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977639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7A75"/>
                </a:solidFill>
              </a:rPr>
              <a:t>Supplier
Network Intelligence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480560"/>
            <a:ext cx="312724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Maps supply chain dependencies:
→ Which suppliers share sub-tier vendors?
→ Geographic concentration risk (Taiwan, China)
→ Single-source dependencies flagged
→ Alternative supplier scoring
Result: Resilience built into category strategy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59" y="3886200"/>
            <a:ext cx="3749039" cy="205740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59" y="3886200"/>
            <a:ext cx="365760" cy="2057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88536" y="4562856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79" y="3977639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Cost Overrun
Early Warning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79" y="4480560"/>
            <a:ext cx="312724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Cross-references live commitments vs. budget:
→ Monitors committed spend vs. project forecast
→ Flags if PO prices exceed DG2 assumption &gt;5%
→ Tracks commodity index vs. contract price
→ Triggers review if project exposure breached
Result: CFO sees risks before they land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886200"/>
            <a:ext cx="3749039" cy="205740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3886200"/>
            <a:ext cx="365760" cy="2057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6175" y="4562856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3977639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147"/>
                </a:solidFill>
              </a:rPr>
              <a:t>Autonomous
Tender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4480560"/>
            <a:ext cx="312724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End-to-end low-value tender automation:
→ Receives spec → builds RFQ → issues to panel
→ Evaluates responses vs. criteria
→ Recommends award with justification
→ Human approval gate before award
Result: Procurement bandwidth freed for strategy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DECISION INTELLIGENCE  |  Procurement Data → Better Project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The most strategic use case: mining what Statkraft actually paid to inform what we should budget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11640312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11292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⚠️  Energy infrastructure projects cost on average 40% MORE than estimated and take 2 years longer. (ScienceDirect, 2025 — 662 projects, $1.358 trillion in investment, 83 countries)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5486400" cy="431596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The Root 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Cost overruns don't start on site.
They start in the estimate.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512064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6324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► Optimism bias: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09067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Planners anchor to best-case scenarios. Kahneman's reference class problem.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7530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► Stale benchmarks: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60273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Project teams use market reports, not Statkraft's actual paid prices.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8736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► Unlocked data: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11480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SAP and Jaggaer hold years of actual costs. Nobody mines them systematically.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9943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► Market movement: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62686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HV equipment prices have moved 25–40% since 2020. Old benchmarks are wrong.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1149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► No feedback loop: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3892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When a project overruns, the cost model doesn't update for next 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828800"/>
            <a:ext cx="5879592" cy="431596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1828800"/>
            <a:ext cx="64008" cy="43159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920240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147"/>
                </a:solidFill>
              </a:rPr>
              <a:t>The Procurement AI 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304288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Mine Statkraft's own data to build a live Cost Intelligence engine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834640"/>
            <a:ext cx="55321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90779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► Cost Intelligence Agent: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935224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Queries SAP/Jaggaer: what did Statkraft actually pay for HV transformers in the last 5 years? Adjusts for spec, inflation, and FX.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4381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► DG2 Decision Support: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465576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At DG2 (T-24m), agent delivers: real price range, lead time estimate, commodity trend, Bear/Base/Bull cost scenario. Replaces assumptions with data.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96849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► Overrun Early Warning: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99592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Monitors committed PO prices vs. DG2 budget assumption. Flags if &gt;5% variance. CFO and PM see it before it hits the P&amp;L.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49884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► Feedback Loop: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2628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Post-project: actual vs. estimate auto-analysed. Cost model updates. Every project makes the next estimate more accurate.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02920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► HV Example: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056632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At Statkraft's scale: 2% improvement in estimate accuracy on €500M capex = €10M better capital allocation per year.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VALUE MEASUREMENT METHODOLOGY  |  Every Initiative Declares Its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No go-live without a baseline. No scale without 90-day review. Kill what doesn't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" cy="594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051560"/>
            <a:ext cx="11576304" cy="5943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24712"/>
            <a:ext cx="1134770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Rule: Every AI initiative must declare — BEFORE go-live — its baseline metric, target metric, measurement method, review date, and owner. The Excel model calculates ROI automatically.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83080"/>
            <a:ext cx="2697480" cy="431596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83080"/>
            <a:ext cx="2697480" cy="594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1865376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DECLARE
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450592"/>
            <a:ext cx="245059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Before any work starts:
• What is the current state? (hours, cost, accuracy)
• What data proves this is the baseline?
• Who owns the measurement?
• What tool/system tracks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39" y="36118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B6CB0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4408" y="1783080"/>
            <a:ext cx="2697480" cy="431596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64408" y="1783080"/>
            <a:ext cx="2697480" cy="59436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1865376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SET
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450592"/>
            <a:ext cx="245059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Use benchmarks to set targets:
• RFQ: 75% time reduction (Ørsted)
• Contract NLP: 80% faster (Luminance)
• Spend classification: 85% accuracy
• Supplier monitoring: continuous vs. annual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7" y="36118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B6CB0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1783080"/>
            <a:ext cx="2697480" cy="431596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4496" y="1783080"/>
            <a:ext cx="269748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3136" y="1865376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GO LIVE
+ MEASURE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2450592"/>
            <a:ext cx="245059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At go-live and monthly:
• Track KPI in initiative tracker (Excel)
• Log actual savings vs. target
• Update RAG status: 🟢🟡🔴
• Flag blockers immediately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36118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B6CB0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44584" y="1783080"/>
            <a:ext cx="2697480" cy="431596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44584" y="1783080"/>
            <a:ext cx="2697480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36024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3224" y="1865376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90-DAY
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1744" y="2450592"/>
            <a:ext cx="245059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At 90 days — mandatory gate:
• Achieved &gt;50% of target? → Scale it
• 25–50%? → Fix root cause, 90-day extension
• &lt;25%? → Kill it, document lesson
• CPO signs off on every outcome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6172200"/>
            <a:ext cx="11640312" cy="48463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208776"/>
            <a:ext cx="11338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📊  KPIs tracked in Value Model Excel:  Spend classification accuracy %  |  Hours per sourcing event  |  Contract review time (hrs)  |  Supplier monitoring coverage  |  Estimate accuracy (actual vs. DG2)  |  EUR saved (actual)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7-LAYER CYBERSECURITY ARCHITECTURE  |  Hardware, Software &amp; Expected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On-premises first. Every layer specified. Total cost of ownership transparent.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11640312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88136"/>
            <a:ext cx="11292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🔒  Core Principle: Procurement data must NEVER leave the corporate perimeter. Banned inputs: active tender pricing | negotiation BATNAs | non-public supplier financials | personal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566928" cy="5669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755648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627632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6642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B6CB0"/>
                </a:solidFill>
              </a:rPr>
              <a:t>MODEL DEPLOYMENT: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9019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Llama 3.3 70B / Mistral 3 / Qwen 3.5 on-premises via Ollama or vLLM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719072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Hardware: NVIDIA A100 80GB (×2) or DGX H100  |  Cost: €45–150K CAPEX  |  Running cost: €0/token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249424"/>
            <a:ext cx="566928" cy="566928"/>
          </a:xfrm>
          <a:prstGeom prst="rect">
            <a:avLst/>
          </a:prstGeom>
          <a:solidFill>
            <a:srgbClr val="0B7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" y="2377440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249424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22860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B7A75"/>
                </a:solidFill>
              </a:rPr>
              <a:t>NETWORK ISOLATION: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5237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AI inference servers on dedicated VLAN. Zero outbound internet from inference layer.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340864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Hardware: 10GbE managed switch (€2,500)  |  Software: pfSense or Cisco  |  Config: IT Basis team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871216"/>
            <a:ext cx="566928" cy="566928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" y="2999232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2871216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29077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F06"/>
                </a:solidFill>
              </a:rPr>
              <a:t>DATA CLASSIFICATION: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1455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Tag all data: PUBLIC / INTERNAL / CONFIDENTIAL / RESTRICTED. Agents access at or below clearance level.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962656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Software: Microsoft Purview or custom tagging  |  Cost: Existing M365 licence or €5–15K/yr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93008"/>
            <a:ext cx="566928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" y="3621024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3493008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" y="35295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</a:rPr>
              <a:t>AGENT SANDBOXING: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37673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Each agent in isolated Docker container. No agent-to-agent comms — all via audited message broker.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584448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Software: Docker + Kubernetes (K3s)  |  Cost: Open source (free)  |  Orchestration: Rancher Desktop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114800"/>
            <a:ext cx="566928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" y="4242816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4114800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415137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</a:rPr>
              <a:t>PROMPT INJECTION DEFENCE: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" y="43891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No.1 attack vector: malicious supplier embeds instructions in document. Input sanitisation + output validation.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206240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Software: Custom sanitisation pipeline (Python)  |  Separate parsing model (Llama 3.2 3B)  |  Cost: ~€5K build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736592"/>
            <a:ext cx="566928" cy="566928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" y="4864607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" y="4736592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" y="47731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18096"/>
                </a:solidFill>
              </a:rPr>
              <a:t>AUDIT &amp; MONITORING: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" y="50109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Every AI action logged: timestamp, agent, input hash, output, reviewer. Immutable signed audit log.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4828031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Software: ELK Stack (Elasticsearch/Kibana)  |  Cost: €3,600/yr (Elastic Cloud basic)  |  NIS2 compliant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358383"/>
            <a:ext cx="566928" cy="5669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2608" y="5486399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5358383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408" y="539495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B6CB0"/>
                </a:solidFill>
              </a:rPr>
              <a:t>HUMAN-IN-THE-LOOP: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" y="5632703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Defined approval gates by action type and value. Draft: always auto. Award contract: always human.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5449823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Software: OpenClaw approval workflow  |  Cost: Open source  |  Governance: documented HITL policy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TECHNOLOGY STACK  |  3 Tiers + Total Cost of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On-prem for sensitive data. Private cloud for internal. Cloud tools for public research only.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6CB0"/>
                </a:solidFill>
              </a:rPr>
              <a:t>€45–150K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Year 1 CAPEX
(Hardware)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60903" y="1051560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52344" y="109728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6CB0"/>
                </a:solidFill>
              </a:rPr>
              <a:t>~€90K/yr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2344" y="166420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Annual OPEX
(Software + IT)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7488" y="1051560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7" y="109728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6CB0"/>
                </a:solidFill>
              </a:rPr>
              <a:t>~€320K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7" y="166420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3-Year TCO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34071" y="1051560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1" y="109728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6CB0"/>
                </a:solidFill>
              </a:rPr>
              <a:t>€1.3–2.5M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1" y="166420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Annual Value
(Value Model)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0655" y="1051560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12095" y="109728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6CB0"/>
                </a:solidFill>
              </a:rPr>
              <a:t>8–12×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12095" y="166420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3-Year ROI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359152"/>
            <a:ext cx="3776472" cy="38404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359152"/>
            <a:ext cx="3776472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238658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TIER 1
On-Premises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294436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0392B"/>
                </a:solidFill>
              </a:rPr>
              <a:t>RESTRICTED +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324612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Models: Llama 3.3 70B / Mistral 3 / Qwen 3.5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3575303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Inference: Ollama (dev) / vLLM (prod)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3904487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Orchestration: OpenClaw + LangChain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23367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Vector DB: ChromaDB / Qdrant (on-prem)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56285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Hardware: NVIDIA A100 80GB ×2 (~€45K)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489204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Storage: 4TB NVMe (~€6K)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5221224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Network: Dedicated VLAN isolation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555040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Audit: ELK Stack (~€3.6K/yr)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587959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Cost: €0/token for inference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79" y="620877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Agents: Supplier Monitor, Contract Review,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653796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  Spend Classifier, Negotiation Prep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2359152"/>
            <a:ext cx="3776472" cy="38404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70248" y="2359152"/>
            <a:ext cx="3776472" cy="54864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07408" y="238658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TIER 2
Private Cloud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07408" y="294436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97F06"/>
                </a:solidFill>
              </a:rPr>
              <a:t>INTERNAL data — controlled VPC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07408" y="324612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Platform: Azure OpenAI (EU region) / AWS Bedrock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07408" y="3575303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Data residency: EU (GDPR compliant)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07408" y="3904487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No training on Statkraft data (contractual)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07408" y="423367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Integration: VNET to on-prem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07408" y="456285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Auth: Entra ID / SSO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07408" y="489204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Audit: Azure Monitor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07408" y="5221224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Cost: ~€2K/month (~€24K/yr)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07408" y="555040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Models: GPT-4o, Claude Sonnet (API)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07408" y="587959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Agents: RFQ Drafter, Market Intel,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07408" y="620877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  Category Strategist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66175" y="2359152"/>
            <a:ext cx="3776472" cy="38404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66175" y="2359152"/>
            <a:ext cx="3776472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03336" y="238658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TIER 3
Cloud Tools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03336" y="294436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7AE60"/>
                </a:solidFill>
              </a:rPr>
              <a:t>PUBLIC data ONLY — no corporate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03336" y="324612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Tools: Claude, ChatGPT, Gemini, Perplexity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03336" y="3575303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Rule: NO corporate data input. Ever.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03336" y="3904487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Use: Market research, benchmarking, ideation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03336" y="423367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Manager approval + data handling agreement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03336" y="456285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Usage logged centrally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03336" y="489204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Annual policy review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03336" y="5221224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Cost: ~€0–50/user/month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03336" y="555040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Individual track (Track A/B)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03336" y="587959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Agents: Market research, learning,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03336" y="620877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  public benchmarking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DATA INTEGRATION  |  SAP &amp; Jaggaer → AI Agent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The agents are only as good as the data. Here's how we connect the systems.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11640312" cy="5486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92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B6CB0"/>
                </a:solidFill>
              </a:rPr>
              <a:t>DATA FLOW:  SAP S/4HANA  →  Jaggaer One  →  Integration Layer  →  On-Prem Vector DB  →  AI Agents  →  Decisions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91640"/>
            <a:ext cx="5349240" cy="32918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</a:rPr>
              <a:t>🏢  SAP S/4HANA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7627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18096"/>
                </a:solidFill>
              </a:rPr>
              <a:t>Key APIs: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7168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PurchaseOrderAPI — All PO data (header, items, pricing)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SupplierAPI — Supplier master data + payment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82112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ContractAPI — Contract portfolio (terms, values, expiry)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29584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PurchaseRequisitionAPI — Demand signal for forecasting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77056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SupplierInvoiceAPI — Invoice data for spend 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24528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SAP Joule — Native AI copilot, no custom integration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4983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Protocol: OData v4 / REST  |  Auth: OAuth 2.0  |  Access: Read-only service account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25312" y="1691640"/>
            <a:ext cx="5989320" cy="32918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8192" y="1783080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F06"/>
                </a:solidFill>
              </a:rPr>
              <a:t>🔗  Jaggaer 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2176272"/>
            <a:ext cx="5623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18096"/>
                </a:solidFill>
              </a:rPr>
              <a:t>Key APIs + Webhooks: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487168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/rfx — All sourcing events and responses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2834640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/contract — Portfolio (clauses, expiry, supplier)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3182112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/supplier — Profiles, scores, qualification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3529584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/savings — Savings tracking and reporting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3877056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Webhooks: Contract expiry → trigger Contract Reviewer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4224528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Webhooks: New sourcing event → trigger RFQ Drafter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4754880"/>
            <a:ext cx="5623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Protocol: REST API v2  |  Auth: API key + OAuth  |  Certified: SAP S4HANA integration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074920"/>
            <a:ext cx="6995160" cy="1115568"/>
          </a:xfrm>
          <a:prstGeom prst="rect">
            <a:avLst/>
          </a:prstGeom>
          <a:solidFill>
            <a:srgbClr val="0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14807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📄  Structured Output — MD Files for AI Consumption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58968"/>
            <a:ext cx="6675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spend_summary_YYYY-MM.md  |  active_contracts.md  |  supplier_master.md  |  open_pos.md  |  expiring_contracts_90d.md  |  mro_demand_history.md  |  active_sourcing_events.md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5074920"/>
            <a:ext cx="4416552" cy="1115568"/>
          </a:xfrm>
          <a:prstGeom prst="rect">
            <a:avLst/>
          </a:prstGeom>
          <a:solidFill>
            <a:srgbClr val="0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514807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F06"/>
                </a:solidFill>
              </a:rPr>
              <a:t>⚡  30-Day Quick Start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5458968"/>
            <a:ext cx="4160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Day 1-3: Request SAP read-only service user  |  Day 3-5: Request Jaggaer API credentials  |  Week 2: Run extraction scripts (non-prod)  |  Week 3: Validate &amp; connect ChromaDB  |  Week 4: Test Supplier Monitor on live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EXECUTION ROADMAP  |  90 Days to Pilots. 12 Months to Agentic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Three fast wins in 90 days. Decision Intelligence by month 6. Full agent team by month 12.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2798064" cy="516636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2798064" cy="7132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078992"/>
            <a:ext cx="25786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0
Wks 1–2
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4708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Add use case library (top 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40864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Mandate value measurement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83464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Define data classification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328416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Draft Track D governance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822191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Request SAP + Jaggaer API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31596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Cybersecurity requirements defined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6976" y="1051560"/>
            <a:ext cx="2798064" cy="516636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36976" y="1051560"/>
            <a:ext cx="2798064" cy="7132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74136" y="1078992"/>
            <a:ext cx="25786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1
Wks 3–12
3 Fast Pilots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184708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Pilot: Spend classification (SAP 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2340864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Pilot: Contract NLP scanning (Jaggaer)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283464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Pilot: Supplier monitoring (top 50)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3328416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Baseline metrics captured for 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4136" y="3822191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On-prem server procured + configured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4136" y="431596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90-day review gate — scale or kill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1051560"/>
            <a:ext cx="2798064" cy="516636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1051560"/>
            <a:ext cx="2798064" cy="713232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1078992"/>
            <a:ext cx="25786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2
Mths 4–6
Expand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184708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RFQ drafter live (target: 4–8 hrs saved)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2340864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Cost Intelligence Agent deployed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83464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Demand forecasting (MRO/capex)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328416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Track D governance 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3822191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AI Forum → product team with backlog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431596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DG2 decision support piloted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62288" y="1051560"/>
            <a:ext cx="2798064" cy="516636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62288" y="1051560"/>
            <a:ext cx="2798064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9448" y="1078992"/>
            <a:ext cx="25786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3
Mths 7–12
Full Agentic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9448" y="184708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All 8 agents + 6 advanced use cases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9448" y="2340864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Category strategy agent live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283464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Project cost intelligence at every DG2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9448" y="3328416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CSRD compliance agent 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9448" y="3822191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Full 7-layer security stack certified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9448" y="431596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Statkraft sets Nordic standard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6281928"/>
            <a:ext cx="11640312" cy="39319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3093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Phase 0: Framework improved  |  Phase 1: 3 pilots live, baselines set  |  Phase 2: 25%+ time saving, decision intelligence live  |  Phase 3: 40% efficiency gain, cost overruns reduced  |  Year 2: Nordic standard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6CB0"/>
                </a:solidFill>
              </a:rPr>
              <a:t>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Statkraft has years of procurement data sitting unused.
The tools to unlock it cost less than one project overrun.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468880"/>
            <a:ext cx="1143000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606040"/>
            <a:ext cx="1691640" cy="40233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88336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68833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Use case library + value measurement template added to 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18104"/>
            <a:ext cx="1691640" cy="40233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This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2004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3 pilots launched: spend classification, contract NLP, supplier monitoring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30168"/>
            <a:ext cx="1691640" cy="40233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712464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Month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71246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Decision Intelligence agent live — DG2 estimates grounded in actual SAP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42232"/>
            <a:ext cx="1691640" cy="40233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224528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Month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224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All 8 agents live. 40% efficiency gain. Cost overrun risk materially reduced.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18096"/>
                </a:solidFill>
              </a:rPr>
              <a:t>Sources: Hackett Group 2026 · McKinsey Jan 2026 · EY CPO Survey 2025 · Gartner · Equinor.com · ScienceDirect (662 energy projects) · Art of Procurement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93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Prepared by Aiden  |  Manu Forti Intelligence  |  For Statkraft Procurement  |  March 17,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961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manuforti.as@gmail.com  |  www.manuforti.no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