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6CB0"/>
                </a:solidFill>
              </a:rPr>
              <a:t>PROCUREMENT AI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Statkraft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718096"/>
                </a:solidFill>
              </a:rPr>
              <a:t>From Framework to Agentic 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Market Intelligence  ·  Peer Analysis  ·  Agentic Use Cases  ·  Cybersecurity Stack  ·  Execution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Prepared by Aiden  |  Manu Forti Intelligence  |  March 17,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market has moved — Statkraft must move from pilots to agentic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43000"/>
            <a:ext cx="11320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94% of procurement executives now use GenAI weekly. Only 4% have achieved large-scale deployment. The gap between ambition and production is the defining challenge of 2026 — and Statkraft's opportunity to lead in Norway.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6596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32887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of procurement execs
use GenAI weekly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0903" y="1874519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96596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2532887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have large-scale
deployment (Hackett)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7488" y="1874519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196596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25–40%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7" y="2532887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efficiency gain from
agentic AI (McKinsey)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34071" y="1874519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1" y="196596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500M NOK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5511" y="2532887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Equinor annual savings
from automation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0655" y="1874519"/>
            <a:ext cx="2212848" cy="11887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2095" y="1965960"/>
            <a:ext cx="202996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B6CB0"/>
                </a:solidFill>
              </a:rPr>
              <a:t>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5" y="2532887"/>
            <a:ext cx="202996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of CPOs plan GenAI
in 3 years (EY)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246120"/>
            <a:ext cx="3840480" cy="294436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3101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F06"/>
                </a:solidFill>
              </a:rPr>
              <a:t>🔍 Where We 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70332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Framework exists — governance structure in 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12394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Copilot Studio as primary tool (individual track)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54456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No use case library or ROI measurement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96519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No agentic AI track (Track D missing)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38581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Data governance vague on CONFIDENTIAL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0248" y="3246120"/>
            <a:ext cx="3840480" cy="294436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07408" y="33101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F06"/>
                </a:solidFill>
              </a:rPr>
              <a:t>🎯 Where We Need to 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370332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AI-enabled category management at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412394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8 agentic workers running continuously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454456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Value measurement on every initiative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496519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On-prem deployment for sensitive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538581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Statkraft sets the Nordic standard by 2027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6175" y="3246120"/>
            <a:ext cx="3840480" cy="2944368"/>
          </a:xfrm>
          <a:prstGeom prst="rect">
            <a:avLst/>
          </a:prstGeom>
          <a:solidFill>
            <a:srgbClr val="0A4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03336" y="331012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F06"/>
                </a:solidFill>
              </a:rPr>
              <a:t>🚀 How We Get There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370332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3 immediate pilots: spend classify, contract NLP, supplier monitor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412394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Add Track D: Agentic AI governance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3336" y="454456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Deploy on-prem LLM stack (Llama 3 / Mistral)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6" y="496519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7-layer cybersecurity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6" y="538581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Quarterly value reviews — scale or kill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MARKET INTELLIGENCE  |  2025/26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The data is in: procurement AI is real, proven, and scaling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43000"/>
            <a:ext cx="11320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43% of organisations actively deploying AI in procurement (doubled YoY, Hackett 2026). Workloads up 8% while headcount falls — AI is the only bridge.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5577840" cy="429768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Top CPO Use Cases (2025/26)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59152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432304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5059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Spend analytics &amp;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852928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926080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4436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RFQ / RFP generation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346704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419856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3814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Contract summarisation &amp;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840480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913632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9319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Supplier risk monitoring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334256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407408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42569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Demand forecasting (MRO/capex)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828032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901184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9194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Negotiation preparation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321808"/>
            <a:ext cx="822960" cy="42062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" y="5394960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4132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Compliance monitoring (CSRD/ESG)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828800"/>
            <a:ext cx="5760720" cy="42976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1828800"/>
            <a:ext cx="64008" cy="42976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19202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147"/>
                </a:solidFill>
              </a:rPr>
              <a:t>Key Research Findings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359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McKinsey: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3591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25–40% efficiency improvement potential from agentic AI in procurement — not assistive, agentic.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9992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Hackett 2026: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9992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Procurement workloads +8% in 2026 while headcount and budgets fall. AI is no longer optional.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6393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EY CPO Survey: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6393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80% of CPOs plan to deploy GenAI in 3 years. Only 36% have meaningful implementations today.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2793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Gartner: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42793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74% of procurement leaders say their data isn't AI-ready. GenAI can automate 50–80% of procurement work.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9194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Art of Procurement: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49194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94% of procurement executives use GenAI at least weekly — up 44pp from 2023.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ENERGY SECTOR PEER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What your direct peers are actually running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15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Equinor
🇳🇴 Norway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691640"/>
            <a:ext cx="34747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2880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$130M AI savings in 2025 (official disclosure Jan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677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500M NOK/yr from low-code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0662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Automated spend classification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14553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AI logistics: 13% inventory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58444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100+ new AI use cases identified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02336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NOK 1B+ projected from robotics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115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Shell / TotalEnergies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1691640"/>
            <a:ext cx="34747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82880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Continuous supplier financial monitoring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2677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Automated contract authoring (first draft)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70662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AI supplier compliance checks in 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14553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TotalEnergies: 100K suppliers / $31B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358444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Contract NLP: 80% faster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02336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Embedding AI into core workflows — not dashboards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66175" y="1051560"/>
            <a:ext cx="3749039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1115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Vattenfall / Ørsted / BP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3336" y="1691640"/>
            <a:ext cx="347472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182880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Vattenfall: predictive MRO/capex demand (6-12m horizon)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226771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Ørsted + BP: autonomous RFQ generation from spec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270662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Saves 4–8 hrs per sourcing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6" y="314553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Vattenfall engaged Hackett Group for AI transformation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358444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BP: AI agents routing POs and compliance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03336" y="402336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▸  Multiple majors: contract NLP on full portfolio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199632"/>
            <a:ext cx="11640312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45352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⚡  The Statkraft Gap: Renewables-specific procurement AI (HV equipment, EPC, O&amp;M) is unaddressed by any major. First mover advantage is available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CRITICAL FRAMEWORK REVIEW  |  Current State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6 weaknesses in the current Procurement AI framework — and why they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577840" cy="14173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45720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5087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1612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No Value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9047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Framework describes how to build — not what success looks like. No KPIs, no ROI tracking, no 90-day post-implementation review. Initiatives exist but impact is unmeasured.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577840" cy="14173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51560"/>
            <a:ext cx="45720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5087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1612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Copilot Studio Is a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9047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Restricting individuals to low-complexity chatbots prevents anything transformative. The 25–40% efficiency gain from McKinsey lives in agentic tools, not Copilot Lite.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60320"/>
            <a:ext cx="5577840" cy="14173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560320"/>
            <a:ext cx="45720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30175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670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No Use Case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99923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Blank-sheet ideation without a framework produces low-value ideas. Teams need a ranked library of 10–15 high-impact use cases to start from, not a blank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560320"/>
            <a:ext cx="5577840" cy="14173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560320"/>
            <a:ext cx="45720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301752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670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Citizen Dev Without Data 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99923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Local shared use path is vague. Who approves agent access to supplier financials, contract pricing, and negotiation positions? Current framework doesn't say.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69079"/>
            <a:ext cx="5577840" cy="14173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069079"/>
            <a:ext cx="45720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" y="4526279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1788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No Agentic AI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50799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Framework covers assistive AI only. Zero mention of autonomous agents that take actions. Track D is missing — this is where the real value sits. Peers are already there.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069079"/>
            <a:ext cx="5577840" cy="14173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069079"/>
            <a:ext cx="45720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4526279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788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6CB0"/>
                </a:solidFill>
              </a:rPr>
              <a:t>Governance Is IT-Heavy, Procurement-Light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50799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Category managers know whether a tool solves a procurement problem. IT architects don't. The AI Forum needs procurement ownership, not just IT participation.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10 CONCRETE IMPROVEMENT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Immediate, structural, and pilot actions — in priority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2004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881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IMMEDIATE (Weeks 1–4)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051560"/>
            <a:ext cx="3794760" cy="347472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0881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STRUCTURAL (Months 1–3)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051560"/>
            <a:ext cx="416052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0881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PILOT FIRST (Months 1–2)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320040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463040"/>
            <a:ext cx="41148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189280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155448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ADD USE CASE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8745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Top 10–15 high-value use cases ranked by effort vs. impact. Give teams a starting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34640"/>
            <a:ext cx="320040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834640"/>
            <a:ext cx="41148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326440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2608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MANDATE VALUE MEASUREMENT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2461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Every initiative declares: baseline metric, target, measurement method, review date. No go-live without this.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06240"/>
            <a:ext cx="320040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206240"/>
            <a:ext cx="41148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4636007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79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ADD DATA GOVERNANCE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177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Tag data by classification. Supplier pricing, contract terms, negotiation positions = RESTRICTED. Agents can only access at their clearance level.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320040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577840"/>
            <a:ext cx="411480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" y="6007607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69279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UPGRADE INDIVIDUAL 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893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Allow Claude, Gemini, OpenAI with manager approval + data handling rules. Copilot Lite is not enough.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1463040"/>
            <a:ext cx="379476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03320" y="1463040"/>
            <a:ext cx="411480" cy="129844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9896" y="189280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15544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ADD TRACK D — AGENTIC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1874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Autonomous agents need their own governance tier. Define HITL thresholds: auto below limit, human approval above.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03320" y="2834640"/>
            <a:ext cx="379476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03320" y="2834640"/>
            <a:ext cx="411480" cy="129844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39896" y="326440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29260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GIVE AI FORUM A BACKLOG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3246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The forum should own a prioritised use case backlog. Make it a product team, not a discussion group.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3320" y="4206240"/>
            <a:ext cx="379476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03320" y="4206240"/>
            <a:ext cx="411480" cy="129844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9896" y="4636007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29767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90-DAY POST GO-LIVE REVIEWS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617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Every initiative reviewed vs. declared success metrics. Kill what doesn't work. Scale what does.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26679" y="1463040"/>
            <a:ext cx="416052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26679" y="1463040"/>
            <a:ext cx="411480" cy="12984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63255" y="189280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15544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SPEND CLASSIFICATION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18745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Fast win, 70–90% accuracy, high ROI, zero supplier-facing risk. Cleans up spend data for everything else.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6679" y="2834640"/>
            <a:ext cx="416052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26679" y="2834640"/>
            <a:ext cx="411480" cy="12984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63255" y="3264408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29260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CONTRACT NLP SCANNING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32461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Flag non-standard terms across existing contract portfolio. Immediate value, no supplier interaction required.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26679" y="4206240"/>
            <a:ext cx="4160520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26679" y="4206240"/>
            <a:ext cx="411480" cy="12984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63255" y="4636007"/>
            <a:ext cx="347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4297679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SUPPLIER MONITORING AGENTS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6177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Automated financial + media monitoring on top 50 suppliers. Continuous early warning vs. annual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AGENTIC AI WORKERS  |  The Procurement Agent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8 autonomous AI workers that run continuously — not tools you prompt, agents that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051560"/>
            <a:ext cx="11576304" cy="6858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43000"/>
            <a:ext cx="11320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4A"/>
                </a:solidFill>
              </a:rPr>
              <a:t>Agentic AI is not ChatGPT with a procurement wrapper. These are autonomous workers that monitor, analyse, draft, and flag — 24/7 — with human approval thresholds governing action. McKinsey: 25–40% efficiency gain lives 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47088"/>
            <a:ext cx="2816352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847088"/>
            <a:ext cx="347472" cy="12984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224942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Supplier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2860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Daily news + financial scan on 50+ suppliers. Flags risks before they become crises. Replaces annual reviews with continuous early warning.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847088"/>
            <a:ext cx="2816352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847088"/>
            <a:ext cx="347472" cy="1298448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984" y="224942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Market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860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Commodity prices, indices, competitor moves, regulatory changes. Daily briefings for category managers. Never miss a market move.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847088"/>
            <a:ext cx="2816352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4496" y="1847088"/>
            <a:ext cx="347472" cy="12984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24942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6CB0"/>
                </a:solidFill>
              </a:rPr>
              <a:t>RFQ Drafter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2860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Given a spec, outputs a complete RFQ with evaluation criteria and supplier shortlist. Saves 4–8 hrs per sourcing event. Used by Ørsted and BP.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44584" y="1847088"/>
            <a:ext cx="2816352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44584" y="1847088"/>
            <a:ext cx="347472" cy="12984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24942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6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Contract 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2860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Reads contracts, flags non-standard clauses vs. playbook. 80% faster review (industry benchmark). Immediate value on existing portfolio.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18688"/>
            <a:ext cx="2816352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218688"/>
            <a:ext cx="347472" cy="12984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" y="362102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310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Spend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Processes invoices and POs continuously. Keeps spend data clean at 70–90% accuracy. Foundation for every other AI use case.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3218688"/>
            <a:ext cx="2816352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3218688"/>
            <a:ext cx="347472" cy="129844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00984" y="362102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3310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F06"/>
                </a:solidFill>
              </a:rPr>
              <a:t>Category Strategist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Given a brief, researches the market and drafts a category strategy. This is what Manu Forti delivers. The highest-value agent.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54496" y="3218688"/>
            <a:ext cx="2816352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4496" y="3218688"/>
            <a:ext cx="347472" cy="1298448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62102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3310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7A75"/>
                </a:solidFill>
              </a:rPr>
              <a:t>Negotiation Prep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Builds negotiation pack with market benchmarks, BATNA analysis, and walk-away price. Category managers walk in prepared, not improvising.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44584" y="3218688"/>
            <a:ext cx="2816352" cy="129844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44584" y="3218688"/>
            <a:ext cx="347472" cy="1298448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59" y="362102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3496" y="33101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18096"/>
                </a:solidFill>
              </a:rPr>
              <a:t>Compliance Checker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83496" y="3657600"/>
            <a:ext cx="2304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Monitors supplier ESG, sanctions, and regulatory status for CSRD/EUDR compliance. Automated surveillance vs. periodic manual review.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645152"/>
            <a:ext cx="11640312" cy="5029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69087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⚙️  Human-in-the-Loop Thresholds:  Draft doc → Always autonomous (logged)  |  Supplier comms → Auto &lt;€50K, Human above  |  Create PO → Auto &lt;€10K, Human above  |  Award contract → Always Human  |  Share confidential data → Never autonomous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CYBERSECURITY ARCHITECTURE  |  7-Layer On-Premises Security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Core principle: procurement data must never leave the corporate perimeter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🔒  On-Premises First Policy: All CONFIDENTIAL data processed on-prem. Cloud LLMs prohibited for: tender pricing, negotiation BATNAs, non-public supplier financials, contract pricing.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64208"/>
            <a:ext cx="594360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801368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1664208"/>
            <a:ext cx="11018520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709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MODEL DEPLOYMENT: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719072"/>
            <a:ext cx="8092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Run open-source LLMs on-premises: Llama 3.3, Mistral 3, Qwen 3.5. Performance comparable to GPT-4 for most procurement tasks. No data sent to any cloud provider. Deployment via Ollama (lightweight) or vLLM (production scale).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594360" cy="566928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242316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86000"/>
            <a:ext cx="11018520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B7A75"/>
                </a:solidFill>
              </a:rPr>
              <a:t>NETWORK ISOLATION: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340864"/>
            <a:ext cx="8092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AI inference servers on dedicated VLAN. Zero outbound internet from inference layer. External data (market prices, news, supplier info) fetched by a sanitising data layer before reaching AI.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07792"/>
            <a:ext cx="594360" cy="566928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044952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2907792"/>
            <a:ext cx="11018520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953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F06"/>
                </a:solidFill>
              </a:rPr>
              <a:t>DATA CLASSIFICATION &amp; ACCESS CONTROL: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962656"/>
            <a:ext cx="8092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Tag all data: PUBLIC / INTERNAL / CONFIDENTIAL / RESTRICTED. AI agents can only access data at or below their clearance level. Supplier pricing + contract terms + negotiation positions = RESTRICTED.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29584"/>
            <a:ext cx="59436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" y="366674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" y="3529584"/>
            <a:ext cx="11018520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575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AGENT SANDBOXING: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584448"/>
            <a:ext cx="8092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Each agent runs in an isolated container (Docker/Kubernetes). No direct agent-to-agent comms — all via audited message broker. Read-only access to source systems. No agent can write to ERP without HITL approval.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151376"/>
            <a:ext cx="59436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4288536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" y="4151376"/>
            <a:ext cx="11018520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1970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PROMPT INJECTION DEFENCE: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206240"/>
            <a:ext cx="8092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No. 1 attack vector: malicious supplier embeds instructions in a document (invoice, contract, email). Mitigations: input sanitisation pipeline, output validation layer, separate parsing model.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73168"/>
            <a:ext cx="594360" cy="566928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4910328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4773168"/>
            <a:ext cx="11018520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818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AUDIT &amp; MONITORING: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828031"/>
            <a:ext cx="8092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Every AI action logged: timestamp, agent ID, input hash, output, reviewer. Immutable append-only signed audit log. Real-time anomaly detection. Required for CSRD/NIS2 compliance.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394959"/>
            <a:ext cx="594360" cy="5669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5532120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" y="5394959"/>
            <a:ext cx="11018520" cy="566928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4406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HUMAN-IN-THE-LOOP THRESHOLDS: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5449823"/>
            <a:ext cx="8092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Defined approval gates by action type and value. Auto-execute below threshold, human approval above. Award contract = always human. Share confidential data = never autonomous.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TECHNOLOGY STACK  |  Agentic Procurement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Three deployment tiers — matched to data sensitivity and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794760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37947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07899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TIER 1
On-Premises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002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0392B"/>
                </a:solidFill>
              </a:rPr>
              <a:t>For RESTRICTED &amp; CONFIDENTIAL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3852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Technology: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19456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LLM: Llama 3.3 / Mistral 3 / Qwen 3.5 (self-hosted)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5237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Inference: Ollama (dev) or vLLM (production)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52927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Orchestration: OpenClaw / LangChain / AutoGen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182111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Vector DB: ChromaDB or Qdrant (on-prem)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511295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Storage: SAP ERP / SharePoint (read-only 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84047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Auth: Active Directory / 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69663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Monitoring: ELK Stack / Grafana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4988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Containers: Docker + Kubernetes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87375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Key Agents: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512978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Supplier Monitor  ·  Contract Reviewer  ·  Spend Classifier  ·  Negotiation Prep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1051560"/>
            <a:ext cx="3794760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248" y="1051560"/>
            <a:ext cx="3794760" cy="50292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107899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TIER 2
Private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16002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97F06"/>
                </a:solidFill>
              </a:rPr>
              <a:t>For INTERNAL data — controlled VPC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193852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Technology: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219456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LLM: Azure OpenAI (EU data residency) or AWS Bedrock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25237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Orchestration: OpenClaw agents / AutoGen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2852927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Data: Statkraft-controlled Azure tenant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3182111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No training on Statkraft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3511295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Data residency: EU (GDPR compliant)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384047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VNET integration with on-prem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169663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Azure Monitor for audit logging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4988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Entra ID for access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487375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F06"/>
                </a:solidFill>
              </a:rPr>
              <a:t>Key Agents: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512978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RFQ Drafter  ·  Market Intelligence  ·  Category Strategist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6175" y="1051560"/>
            <a:ext cx="3794760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66175" y="1051560"/>
            <a:ext cx="37947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3336" y="107899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TIER 3
Cloud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336" y="160020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7AE60"/>
                </a:solidFill>
              </a:rPr>
              <a:t>For PUBLIC data only — no corporate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03336" y="193852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18096"/>
                </a:solidFill>
              </a:rPr>
              <a:t>Technology: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219456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Tools: Claude, ChatGPT, Gemini, Perplexity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3336" y="252374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Use case: market research, benchmarking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6" y="2852927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Rule: NO corporate data input. Ever.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6" y="3182111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Individual track with manager approval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3336" y="3511295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Data handling agreement required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3336" y="3840479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Output review before use in Statkraft docs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6" y="4169663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Usage logged centrally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3336" y="449884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· Annual policy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3336" y="487375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Key Agents: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03336" y="5129784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Market Research  ·  Benchmarking  ·  Draft ideas  · 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USE CASE LIBRARY  |  Top 12 Ranked by Impact vs.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Start here — not a blank sheet. Ranked by value delivered and implementation speed.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640312" cy="347472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79" y="10789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0789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07899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1078992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44752"/>
            <a:ext cx="11640312" cy="393192"/>
          </a:xfrm>
          <a:prstGeom prst="rect">
            <a:avLst/>
          </a:prstGeom>
          <a:solidFill>
            <a:srgbClr val="F5F9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508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SPEND 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08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508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B6CB0"/>
                </a:solidFill>
              </a:rPr>
              <a:t>Fast 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70–90% accuracy, cleans data for everything else. Foundation use case.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47088"/>
            <a:ext cx="1164031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911095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CONTRACT NLP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191109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911095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91109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B6CB0"/>
                </a:solidFill>
              </a:rPr>
              <a:t>Fast 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911095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Flag non-standard clauses across portfolio. 80% faster review. No supplier risk.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49424"/>
            <a:ext cx="11640312" cy="393192"/>
          </a:xfrm>
          <a:prstGeom prst="rect">
            <a:avLst/>
          </a:prstGeom>
          <a:solidFill>
            <a:srgbClr val="F5F9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31343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SUPPLIER RISK 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3134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3134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97F06"/>
                </a:solidFill>
              </a:rPr>
              <a:t>Priority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3134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Daily monitoring of top 50 suppliers. Continuous early warning system.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651760"/>
            <a:ext cx="1164031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7157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RFQ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2715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715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2715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97F06"/>
                </a:solidFill>
              </a:rPr>
              <a:t>Priority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7157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Auto-draft RFQs from spec docs. Saves 4–8 hrs per event. Proven at Ørsted/BP.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054096"/>
            <a:ext cx="11640312" cy="393192"/>
          </a:xfrm>
          <a:prstGeom prst="rect">
            <a:avLst/>
          </a:prstGeom>
          <a:solidFill>
            <a:srgbClr val="F5F9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118103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DEMAND FORECASTING (MRO)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311810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118103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311810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97F06"/>
                </a:solidFill>
              </a:rPr>
              <a:t>Priority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3118103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6–12 month horizon for capex/MRO. Proven at Vattenfall. Reduces emergency buys.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456432"/>
            <a:ext cx="1164031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5204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NEGOTIATION PACK BUILDER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9080" y="35204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352043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9320" y="35204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97F06"/>
                </a:solidFill>
              </a:rPr>
              <a:t>Priority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352043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Market benchmarks, BATNA analysis, walk-away price. Category managers walk in prepared.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858768"/>
            <a:ext cx="11640312" cy="393192"/>
          </a:xfrm>
          <a:prstGeom prst="rect">
            <a:avLst/>
          </a:prstGeom>
          <a:solidFill>
            <a:srgbClr val="F5F9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92277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CATEGORY STRATEGY DRAFTING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69080" y="39227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B6CB0"/>
                </a:solidFill>
              </a:rPr>
              <a:t>V.High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39227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39227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B7A75"/>
                </a:solidFill>
              </a:rPr>
              <a:t>Strategic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39227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Given a brief, outputs full strategy. Manu Forti methodology. Highest value agent.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261104"/>
            <a:ext cx="1164031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3251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ESG / CSRD COMPLIANCE CHECK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69080" y="4325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High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325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43251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Compliance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43251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Monitor supplier ESG and sanctions status continuously. Audit-ready output.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663440"/>
            <a:ext cx="11640312" cy="393192"/>
          </a:xfrm>
          <a:prstGeom prst="rect">
            <a:avLst/>
          </a:prstGeom>
          <a:solidFill>
            <a:srgbClr val="F5F9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7274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INVOICE PROCESSING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69080" y="47274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47274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Low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89320" y="47274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B6CB0"/>
                </a:solidFill>
              </a:rPr>
              <a:t>Fast Win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80" y="47274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3-way matching + anomaly detection. Reduces manual processing, catches errors.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065776"/>
            <a:ext cx="1164031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1297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MARKET PRICE INTELLIGENCE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69080" y="51297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51297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</a:rPr>
              <a:t>Low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89320" y="51297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B6CB0"/>
                </a:solidFill>
              </a:rPr>
              <a:t>Fast Win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0880" y="51297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Daily briefings on commodity prices and indices. Category managers always current.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468112"/>
            <a:ext cx="11640312" cy="393192"/>
          </a:xfrm>
          <a:prstGeom prst="rect">
            <a:avLst/>
          </a:prstGeom>
          <a:solidFill>
            <a:srgbClr val="F5F9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5532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SUPPLIER ONBOARDING CHECKS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69080" y="5532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0" y="5532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89320" y="5532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Structured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40880" y="5532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Automate due diligence checks for new suppliers. Faster onboarding, lower risk.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870448"/>
            <a:ext cx="11640312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EB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593445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3A4A"/>
                </a:solidFill>
              </a:rPr>
              <a:t>CONTRACT DRAFTING ASSIST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69080" y="59344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D97F06"/>
                </a:solidFill>
              </a:rPr>
              <a:t>Medium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0" y="59344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0392B"/>
                </a:solidFill>
              </a:rPr>
              <a:t>High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89320" y="59344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18096"/>
                </a:solidFill>
              </a:rPr>
              <a:t>Structured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40880" y="593445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D3A4A"/>
                </a:solidFill>
              </a:rPr>
              <a:t>AI-assisted first draft of standard contracts. Reduces legal cycle time by 40–60%.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GOVERNANCE FRAMEWORK  |  Four-Track Model with Track D Added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Revised governance model: from IT-heavy to procurement-led, with agentic AI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816352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816352" cy="6400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115568"/>
            <a:ext cx="2084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INDIVIDUAL
ASSISTIVE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28800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Copilot, Claude, ChatGPT,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331720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Manager approval + data handling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834639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PUBLIC/INTERNAL data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337559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Usage logged centrally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840479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Annual policy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5264" y="1051560"/>
            <a:ext cx="2816352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55264" y="1051560"/>
            <a:ext cx="2816352" cy="640080"/>
          </a:xfrm>
          <a:prstGeom prst="rect">
            <a:avLst/>
          </a:prstGeom>
          <a:solidFill>
            <a:srgbClr val="0B7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6704" y="10972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9624" y="1115568"/>
            <a:ext cx="2084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LOCAL
SHARED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1828800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Team-level tools with shared prompt libraries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2331720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Data governance rules mandatory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2834639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No CONFIDENTIAL data without IT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3337559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Category manager leads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2424" y="3840479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Quarterly review against declared KPIs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1051560"/>
            <a:ext cx="2816352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1051560"/>
            <a:ext cx="2816352" cy="64008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0972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1115568"/>
            <a:ext cx="20848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ENTERPRISE
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1828800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Coupa AI, SAP Ariba, approved platforms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331720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Full IT + Procurement governance 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834639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RESTRICTED data permitted with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337559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6-monthly review vs. business 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840479"/>
            <a:ext cx="2587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Change management mandatory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17152" y="1051560"/>
            <a:ext cx="2926080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17152" y="1051560"/>
            <a:ext cx="292608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10972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
⭐NEW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1512" y="1115568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AGENTIC AI
(AUTONOMOUS)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18288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Autonomous agents with continuous operation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23317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Dedicated governance tier — not Track 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283463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HITL thresholds defined per action 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333755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Cybersecurity assessment mandatory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384047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On-prem deployment for CONFIDENTIAL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2" y="434339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Real-time audit log of all agent 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4312" y="484631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CPO sign-off required for production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6199632"/>
            <a:ext cx="11640312" cy="457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23620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3 Mandatory Additions:  A) Cybersecurity assessment at every path selection review  |  B) On-premises first policy for CONFIDENTIAL data — no cloud LLMs  |  C) Banned inputs: active tender pricing, negotiation BATNAs, non-public supplier financials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6CB0"/>
                </a:solidFill>
              </a:rPr>
              <a:t>EXECUTION ROADMAP  |  90-Day Sprint + 12-Month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Three pilots in 90 days. Full agentic capability in 12 months. Measured at every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18096"/>
                </a:solidFill>
              </a:rPr>
              <a:t>Statkraft Procurement AI Strategy  |  Confidential  |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98064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98064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7899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0
Weeks 1–2
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288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Add use case library (top 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30428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Mandate value measurement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7977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Define data classification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25526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Draft Track D governance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7307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Identify cybersecurity 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1051560"/>
            <a:ext cx="2798064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36976" y="1051560"/>
            <a:ext cx="2798064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4" y="107899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
Weeks 3–12
Three Pilots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4" y="18288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Pilot 1: Spend classification cleanup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4" y="230428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Pilot 2: Contract NLP scanning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6704" y="277977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Pilot 3: Supplier monitoring agent (top 50)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704" y="325526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Baseline metrics captured for 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37307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90-day review gate — scale or kill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1051560"/>
            <a:ext cx="2798064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1051560"/>
            <a:ext cx="2798064" cy="685800"/>
          </a:xfrm>
          <a:prstGeom prst="rect">
            <a:avLst/>
          </a:prstGeom>
          <a:solidFill>
            <a:srgbClr val="D97F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07899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
Months 4–6
Expand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8288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Deploy RFQ drafter (target: 4–8 hrs saved/event)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30428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Launch demand forecasting (MRO/capex)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77977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Track D governance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25526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On-prem LLM stack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7307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AI Forum becomes product team w/ backlog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62288" y="1051560"/>
            <a:ext cx="2798064" cy="5074920"/>
          </a:xfrm>
          <a:prstGeom prst="rect">
            <a:avLst/>
          </a:prstGeom>
          <a:solidFill>
            <a:srgbClr val="04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62288" y="1051560"/>
            <a:ext cx="2798064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2015" y="107899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
Months 7–12
Agentic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2015" y="182880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All 8 agentic workers operational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2015" y="2304288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Category strategy agent 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2015" y="2779776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Negotiation pack builder deployed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5" y="3255264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CSRD compliance agent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015" y="373075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Full 7-layer security stack certified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2015" y="420624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✓  Nordic benchmark leadership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199632"/>
            <a:ext cx="11640312" cy="457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2362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📌 Phase 0: Framework improved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52344" y="62362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📌 Phase 1: 3 pilots live, ROI baseline set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8" y="62362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📌 Phase 2: 25%+ time saving on sourcing events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4072" y="62362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📌 Phase 3: 40% efficiency gain (McKinsey benchmark)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74936" y="62362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📌 Year 2: Statkraft is the Nordic standard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Statkraft can lead in Procurement AI.
The gap is open. The tools are ready. The case is proven.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06040"/>
            <a:ext cx="11430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645920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16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8163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Add use case library + value measurement template to the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18688"/>
            <a:ext cx="1645920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291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Launch 3 pilots: spend classification, contract NLP, supplier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4176"/>
            <a:ext cx="1645920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quarter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767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Add Track D governance, deploy on-prem LLM stack, upgrade individual track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69664"/>
            <a:ext cx="1645920" cy="38404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428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This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2428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All 8 agents operational, 40% efficiency gain, Statkraft sets the Nordic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Prepared by Aiden  |  Manu Forti Intelligence  |  For Statkraft Procurement Leadership  |  March 17,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Contact: manuforti.as@gmail.com  |  www.manuforti.no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18096"/>
                </a:solidFill>
              </a:rPr>
              <a:t>Sources: Hackett Group (2026), McKinsey, EY CPO Survey (2025), Gartner, Equinor.com, Art of Procurement, Spend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