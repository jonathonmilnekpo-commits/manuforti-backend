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6CB0"/>
                </a:solidFill>
              </a:rPr>
              <a:t>PROCUREMENT AI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Statkraft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18096"/>
                </a:solidFill>
              </a:rPr>
              <a:t>From Framework to Agentic Capability — Powered by Nvidia NemoClaw + Nemotron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"Every company in the world today needs to have an OpenClaw strategy, an agentic system strategy.
This is the new computer."  —  Jensen Huang, CEO Nvidia, GTC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Market Intelligence  ·  Peer Analysis  ·  Agentic Use Cases  ·  Decision Intelligence  ·  Cybersecurity  ·  Execution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Prepared by Aiden  |  March 17,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THE MOMENT  |  Nvidia GTC 2026 — Yesterday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OpenClaw is the new computer. Nvidia just made it enterprise-ready.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58368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152" cy="5074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</a:rPr>
              <a:t>"OpenClaw has made it possible for us to create a world where everyone has their own AI agent."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</a:rPr>
              <a:t>— Jensen Huang, CEO Nvidia  |  GTC 2026, San Jose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6126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What NemoClaw means for enterprise procurement: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Enterprise-secure OpenClaw stack — protects sensitive corporate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21608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Runs on Nvidia hardware: on-prem GPU servers compatible with H100/A100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97096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Nemotron models: purpose-built for agentic reasoning, open-weight, on-prem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72583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Peter Steinberger (OpenClaw creator): 'We're building the claws and guardrails that let enterprises act confidently'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48071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Nvidia investing $26B in open-source AI — this ecosystem is not going away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051560"/>
            <a:ext cx="4800600" cy="50749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051560"/>
            <a:ext cx="64008" cy="507492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143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What This Means for Statkraft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554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The AI moment has a name — and it's now.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965960"/>
            <a:ext cx="4480560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08483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platform is proven: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35915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OpenClaw runs 2.2M installs weekly. This isn't a pilot.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620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security problem is solved: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3639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NemoClaw = enterprise-grade, on-premises, auditable.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6393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model cost is zero: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36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Nemotron models are open-weight. Inference cost: €0/token on-prem.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416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Procurement is next: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90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Operations AI is mature. Procurement AI is the frontier.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1937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First movers win: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681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Equinor set the standard with $130M. Statkraft can set
the Nordic procurement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MARKET INTELLIGENCE  |  2026 Research — 15+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data is unambiguous: procurement AI is real, scaled, and delivering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583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 (Jan 2026): AI copilots improve procurement productivity 25–40%. Autonomous category agents deliver 15–30% efficiency gains on top. The next frontier is end-to-end workflow automation — not task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of procurement execs
use GenAI weekly
(Art of Procurement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3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have large-scale
deployment — huge
execution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25–40%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7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efficiency gain from
agentic AI
(McKinsey 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4071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1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~2×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AI use in procurement
year-over-year
(Hackett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0655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5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+8%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5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workloads rising
while headcount
falls (Hackett 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27248"/>
            <a:ext cx="5577840" cy="303580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18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📊  Source Data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1188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EY CPO Survey: 80% of CPOs plan GenAI in 3 years; only 36% have meaningful implementations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5079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Gartner: 74% of procurement leaders say data isn't AI-ready; GenAI can automate 50–80% of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897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McKinsey: Spend managed per FTE is 50% more today than 5 years ago — AI is what keeps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286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Hackett: 34% efficiency gains &amp; 23% cost savings from AI-driven procurement outsourcing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6752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AWS/McKinsey: AI supply chains = 15% lower logistics costs, 35% less inventory, 65% better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Art of Procurement: Top CPO use cases — spend analytics (53%), RFQ (42%), contract (41%)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127248"/>
            <a:ext cx="5760720" cy="303580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127248"/>
            <a:ext cx="64008" cy="30358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⚡  The Adoption Curve — Where Are We?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3611880"/>
            <a:ext cx="822960" cy="42062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67588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2022–2023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639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Experimentation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675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ChatGPT moments. Individual users exploring.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1928" y="4087368"/>
            <a:ext cx="822960" cy="420624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415137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114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F06"/>
                </a:solidFill>
              </a:rPr>
              <a:t>Pilot Projects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Teams running structured pilots. Mostly text tasks.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4562856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62686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590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Production 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626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Contract review, spend analytics, RFQ drafting going live.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1928" y="5038344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510235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0657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Agentic Systems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Autonomous agents. End-to-end workflows. THIS IS NOW.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928" y="5513831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557784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2027+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55412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Autonomous Procurement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Self-executing sourcing cycles with human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ENERGY SECTOR PEER ANALYSIS  |  What They're Running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Your peers have moved. The gap is closing. Statkraft needs to move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Equinor 🇳🇴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$130M AI savings in 2025 (official, Jan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500M NOK/yr from low-code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Automated spend classification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logistics: 13% inventory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24,000 sensors — 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100+ new AI use cases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NOK 1B+ projected from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Most relevant peer — watch this closely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Shell / TotalEnergies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AI contract authoring — first draft automated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Supplier compliance monitoring, 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Embedding AI in workflows, not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TotalEnergies: 100K suppliers / $31B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Contract NLP scanning: 80% faster review (live)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Continuous supplier financial monitoring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at $31B spend = $310M saving per 1% 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Both using on-prem + private cloud hybrid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Vattenfall / Ørsted / BP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3336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Predictive MRO/capex demand (6–12m)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Engaged Hackett Group — paying £50K+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Autonomous RFQ from spec docs — saves 4–8h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Autonomous PO routing and compliance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AI workflow named as specific cost reduction lever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Multiple majors: Contract NLP on full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AI cost estimating for offshore wind BOS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All: Moving from dashboards to autonomous 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24535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The Statkraft Gap: Renewables-specific procurement AI (HV equipment, EPC, offshore wind BOS) is unaddressed by any major. First-mover advantage is real and available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AGENTIC AI WORKERS — THE PROCUREMENT TEAM  |  8 Autonomous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Not tools you prompt — agents that work 24/7, flag risks, draft documents, and feed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217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217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McKinsey: "The real leap forward comes when AI moves beyond individual use cases to agents autonomously executing end-to-end workflows." Category agents alone deliver 15–30% efficiency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Supplier
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Daily news + financial scan on 50+ suppliers. Flags risks before they become crises. Replaces annual review cycle with continuous early warning. Feeds project risk register.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Market
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Commodity prices, steel, copper, cable, transformer indices. Daily briefings. Informs project estimates at DG2. Flags cost pressure before budget is locked.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RFQ
Drafter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spec, outputs complete RFQ + evaluation criteria + supplier shortlist. Saves 4–8 hrs per event. Proven at Ørsted and BP. Works from Jaggaer templates.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4584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44584" y="1783080"/>
            <a:ext cx="347472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Contract
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Reads contracts vs. standard playbook. Flags non-standard clauses. 80% faster review benchmark (Luminance/Icertis). Covers the full active portfolio.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00400"/>
            <a:ext cx="347472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Spend
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Processes SAP invoices + POs continuously. 70–90% accuracy. Foundation for all other AI use cases. Cleans data for project cost intelligence.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200400"/>
            <a:ext cx="347472" cy="132588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0984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Category
Strategist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brief, researches market and drafts full category strategy. Weeks → days. Highest-value agent — internal or commercial deployment.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4496" y="320040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Negotiation
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Market benchmarks, BATNA analysis, walk-away price, supplier SWOT. Category managers walk into negotiations prepared — not improvising.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4584" y="3200400"/>
            <a:ext cx="347472" cy="13258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59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3496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</a:rPr>
              <a:t>CSRD
Compliance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3496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Monitors supplier ESG, sanctions, and regulatory status. Automated surveillance for CSRD/EUDR reporting. Audit-ready output.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81728"/>
            <a:ext cx="11640312" cy="53035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718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⚙️  HUMAN-IN-THE-LOOP THRESHOLDS:  Draft doc → Always auto (logged)  |  Supplier comms → Auto &lt;€50K / Human above  |  Create PO → Auto &lt;€10K / Human above  |  Award contract → ALWAYS HUMAN  |  Confidential data → NEVER autonomous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ADVANCED AI USE CASES  |  Built for Statkraft Project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Procurement AI that de-risks projects — not just saves money on spend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48872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155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Statkraft's core challenge: procurement decisions made at DG2 determine project outcomes 2-3 years later — yet most are made without systematic access to what Statkraft actually paid before. These six applications close that gap. Two groups: Project Intelligence (better decisions) and Process Automation (faster delivery).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5596128" cy="3474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83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GROUP 1 — PROJECT INTELLIGENCE  |  Better decisions at every project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847088"/>
            <a:ext cx="5760720" cy="347472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88366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GROUP 2 — PROCESS AUTOMATION  |  Faster delivery, lower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67712"/>
            <a:ext cx="5596128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67712"/>
            <a:ext cx="384048" cy="1463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27614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4086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Project Cost
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DG2 estimates built on market reports, not Statkraft actuals.
→ Agent mines SAP/Jaggaer: what did Statkraft actually pay?
→ Adjusts for spec, inflation, commodity trends
→ Delivers Bear/Base/Bull range at DG2, not a single point estimate
Result: €400M capex decisions made with real data, not assumptions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5596128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384048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4288536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67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Cost Overrun
Early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70248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Cost overruns average 40% in energy (662 projects, ScienceDirect).
→ Monitors committed PO prices vs. DG2 budget assumption continuously
→ Flags deviation &gt;5% to PM and CFO before it hits the P&amp;L
→ Tracks commodity index movement vs. locked contract prices
Result: Finance sees project risk early — not at completion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21808"/>
            <a:ext cx="5596128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321808"/>
            <a:ext cx="384048" cy="146304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5815584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Supply Chain
Resilience Intel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97296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Sub-tier supplier failures cause project delays Statkraft cannot see coming.
→ Maps which suppliers share the same sub-tier vendors
→ Flags geographic concentration risk (e.g. transformers: 70% made in 3 countries)
→ Identifies single-source dependencies and scores alternative routes
Result: Resilience built into category strategy, not discovered during a crisis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2267712"/>
            <a:ext cx="5760720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2267712"/>
            <a:ext cx="384048" cy="146304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7614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3408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Multi-Agent
Sourcing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2743200"/>
            <a:ext cx="5212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Sourcing a major package takes weeks of coordination across teams.
→ Trigger: project spec approved → agents coordinate automatically
→ Market Intel pulls live prices, RFQ Drafter creates document,
   Supplier Monitor shortlists, Negotiation Prep builds target price
Result: Full sourcing pack in hours. Procurement bandwidth freed for judgement.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794760"/>
            <a:ext cx="5760720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794760"/>
            <a:ext cx="384048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288536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3867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EPC Contract
AI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270248"/>
            <a:ext cx="5212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EPC contracts are 100s of pages. Non-standard clauses cost millions.
→ Reads full EPC/EPCI package against Statkraft standard playbook
→ Flags deviations: risk allocation, payment terms, delay penalties
→ Compares against 5 most recent similar contracts for precedent
Result: Legal review cycle cut 40-60%. High-risk clauses never missed.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4768" y="5321808"/>
            <a:ext cx="5760720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44768" y="5321808"/>
            <a:ext cx="384048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5815584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5394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Autonomous
Tender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797296"/>
            <a:ext cx="5212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Low-value tenders (&lt;€50K) consume the same effort as strategic ones.
→ Agent receives spec → builds RFQ → issues to approved panel automatically
→ Evaluates responses against weighted criteria, recommends award
→ Human approval gate before any award — agent never awards autonomously
Result: 100 low-value tenders/yr automated. Team focuses on strategic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DECISION INTELLIGENCE  |  Procurement Data → Better Project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most strategic use case: mining what Statkraft actually paid to inform what we should budget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 Energy infrastructure projects cost on average 40% MORE than estimated and take 2 years longer. (ScienceDirect, 2025 — 662 projects, $1.358 trillion in investment, 83 countries)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The 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overruns don't start on site.
They start in the estimate.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12064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Optimism bias: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9067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Planners anchor to best-case scenarios. Kahneman's reference class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Stale benchmarks: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027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Project teams use market reports, not Statkraft's actual paid prices.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Unlocked data: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1148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SAP and Jaggaer hold years of actual costs. Nobody mines them systematically.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994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Market movement: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268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HV equipment prices have moved 25–40% since 2020. Old benchmarks are wrong.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114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No feedback loop: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389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When a project overruns, the cost model doesn't update for next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828800"/>
            <a:ext cx="5879592" cy="43159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828800"/>
            <a:ext cx="64008" cy="43159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92024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The Procurement AI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04288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Mine Statkraft's own data to build a live Cost Intelligence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5532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9077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Cost Intelligence Agent: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3522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Queries SAP/Jaggaer: what did Statkraft actually pay for HV transformers in the last 5 years? Adjusts for spec, inflation, and FX.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4381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DG2 Decision Support: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46557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At DG2 (T-24m), agent delivers: real price range, lead time estimate, commodity trend, Bear/Base/Bull cost scenario. Replaces assumptions with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684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Overrun Early Warning: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99592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Monitors committed PO prices vs. DG2 budget assumption. Flags if &gt;5% variance. CFO and PM see it before it hits the P&amp;L.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988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Feedback Loop: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262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Post-project: actual vs. estimate auto-analysed. Cost model updates. Every project makes the next estimate more accurate.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02920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HV Example: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5663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Statkraft has spent hundreds of millions on HV equipment — but that data sits locked in SAP, invisible to the next project team. Unlocking it changes everything: instead of guessing from market reports, project managers get Statkraft's own actual prices, lead times, and supplier performance — segmented by spec and region. One project team, armed with real data, negotiates from a position of strength. Across a portfolio of 20+ projects, that's the difference between reactive budgeting and intelligent capital allocation.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VALUE MEASUREMENT METHODOLOGY  |  Every Initiative Declares Its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 go-live without a baseline. No scale without 90-day review. Kill what doesn't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Rule: Every AI initiative must declare — BEFORE go-live — its baseline metric, target metric, measurement method, review date, and owner. The Excel model calculates ROI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2697480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DECLARE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Before any work starts:
• What is the current state? (hours, cost, accuracy)
• What data proves this is the baseline?
• Who owns the measurement?
• What tool/system tracks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783080"/>
            <a:ext cx="2697480" cy="59436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SET
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 benchmarks to set targets:
• RFQ: 75% time reduction (Ørsted)
• Contract NLP: 80% faster (Luminance)
• Spend classification: 85% accuracy
• Supplier monitoring: continuous vs. annual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7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783080"/>
            <a:ext cx="26974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 LIVE
+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go-live and monthly:
• Track KPI in initiative tracker (Excel)
• Log actual savings vs. target
• Update RAG status: 🟢🟡🔴
• Flag blockers immediately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783080"/>
            <a:ext cx="269748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4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3224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90-DAY
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90 days — mandatory gate:
• Achieved &gt;50% of target? → Scale it
• 25–50%? → Fix root cause, 90-day extension
• &lt;25%? → Kill it, document lesson
• CPO signs off on every outcome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172200"/>
            <a:ext cx="11640312" cy="4846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208776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📊  KPIs tracked in Value Model Excel:  Spend classification accuracy %  |  Hours per sourcing event  |  Contract review time (hrs)  |  Supplier monitoring coverage  |  Estimate accuracy (actual vs. DG2)  |  EUR saved (actual)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7-LAYER CYBERSECURITY ARCHITECTURE  |  Hardware, Software &amp; Expected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On-premises first. Every layer specified. Total cost of ownership transparent.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88136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🔒  Core Principle: Procurement data must NEVER leave the corporate perimeter. Banned inputs: active tender pricing | negotiation BATNAs | non-public supplier financials | personal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755648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62763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MODEL DEPLOYMENT: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01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Nemotron 3 Super (120B/12B active) + Nemotron Mini 4B on-prem via NemoClaw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1907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NVIDIA A100 80GB (×2) or DGX H100  |  Cost: €45–150K CAPEX  |  Running cost: €0/token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9424"/>
            <a:ext cx="566928" cy="566928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237744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249424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2860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B7A75"/>
                </a:solidFill>
              </a:rPr>
              <a:t>NETWORK ISOLATION: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523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AI inference servers on dedicated VLAN. Zero outbound internet from inference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40864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10GbE managed switch (€2,500)  |  Software: pfSense or Cisco  |  Config: IT Basis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66928" cy="56692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2999232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871216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F06"/>
                </a:solidFill>
              </a:rPr>
              <a:t>DATA CLASSIFICATION: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455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Tag all data: PUBLIC / INTERNAL / CONFIDENTIAL / RESTRICTED. Agents access at or below clearance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962656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Microsoft Purview or custom tagging  |  Cost: Existing M365 licence or €5–15K/yr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93008"/>
            <a:ext cx="56692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621024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3493008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35295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AGENT SANDBOXING: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767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Each agent in isolated Docker container. No agent-to-agent comms — all via audited message broker.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584448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Docker + Kubernetes (K3s)  |  Cost: Open source (free)  |  Orchestration: Rancher Desktop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14800"/>
            <a:ext cx="56692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4242816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114800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151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PROMPT INJECTION DEFENCE: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389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No.1 attack vector: malicious supplier embeds instructions in document. Input sanitisation + output 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206240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Custom sanitisation pipeline (Python)  |  Separate parsing model (Nemotron Mini 4B)  |  Cost: ~€5K build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36592"/>
            <a:ext cx="566928" cy="56692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4864607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73659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4773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18096"/>
                </a:solidFill>
              </a:rPr>
              <a:t>AUDIT &amp; MONITORING: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5010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Every AI action logged: timestamp, agent, input hash, output, reviewer. Immutable signed audit log.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828031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ELK Stack (Elasticsearch/Kibana)  |  Cost: €3,600/yr (Elastic Cloud basic)  |  NIS2 compliant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358383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" y="5486399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358383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" y="53949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HUMAN-IN-THE-LOOP: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563270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Defined approval gates by action type and value. Draft: always auto. Award contract: always human.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449823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OpenClaw approval workflow  |  Cost: Open source  |  Governance: documented HITL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TECHNOLOGY STACK  |  2 Tiers +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 for sensitive data. Private cloud for internal. Cloud tools for public research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€45–150K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Year 1 CAPEX
(Hardware)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0903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~€90K/yr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OPEX
(Software + 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7488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7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~€320K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7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TCO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4071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1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€1.3–2.5M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1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Value
(Value Model)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5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5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8–12×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5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ROI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359152"/>
            <a:ext cx="3776472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1
On-Premises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</a:rPr>
              <a:t>RESTRICTED +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Nemotron 3 Super (120B/12B active) / Nemotron Mini 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Inference: NemoClaw (OpenShell) + vLLM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Orchestration: NemoClaw + LangChain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Vector DB: ChromaDB / Qdrant (on-prem)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Hardware: NVIDIA A100 80GB ×2 (~€45K)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Storage: 4TB NVMe (~€6K)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Network: Dedicated VLAN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ELK Stack (~€3.6K/yr)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€0/token for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Supplier Monitor, Contract Review,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5379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Spend Classifier, Negotiation Prep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0248" y="2359152"/>
            <a:ext cx="3776472" cy="54864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2
Private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F06"/>
                </a:solidFill>
              </a:rPr>
              <a:t>INTERNAL data — controlled VPC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Platform: Microsoft Copilot (M365)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Data residency: EU (GDPR compliant)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No training on Statkraft data (contractual)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Integration: VNET to on-prem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Auth: Entra ID / SSO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Azure 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~€2K/month (~€24K/yr)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8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GPT-4o, Claude Sonnet, or Nemotron via Nvidia API (API)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07408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RFQ Drafter, Market Intel,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7408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Category Strategist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DATA INTEGRATION  |  SAP &amp; Jaggaer → AI Agent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agents are only as good as the data. Here's how we connect the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5486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6CB0"/>
                </a:solidFill>
              </a:rPr>
              <a:t>DATA FLOW:  SAP S/4HANA  →  Jaggaer One  →  Integration Layer  →  On-Prem Vector DB  →  AI Agents  → 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534924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🏢  SAP S/4HANA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PurchaseOrderAPI — All PO data (header, items, pricing)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SupplierAPI — Supplier master data + payment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8211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ContractAPI — Contract portfolio (terms, values, expiry)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958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PurchaseRequisitionAPI — Demand signal for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SupplierInvoiceAPI — Invoice data for spend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2452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SAP Joule — Native AI copilot, no custom integration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498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OData v4 / REST  |  Auth: OAuth 2.0  |  Access: Read-only service account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1691640"/>
            <a:ext cx="598932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178308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F06"/>
                </a:solidFill>
              </a:rPr>
              <a:t>🔗  Jaggaer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17627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 + Webhooks: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8716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/rfx — All sourcing events and responses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83464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/contract — Portfolio (clauses, expiry, supplier)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182112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/supplier — Profiles, scores, qualification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529584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/savings — Savings tracking and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77056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Contract expiry → trigger Contract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22452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New sourcing event → trigger RFQ Drafter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754880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REST API v2  |  Auth: API key + OAuth  |  Certified: SAP S4HANA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74920"/>
            <a:ext cx="6995160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48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📄  Structured Output — MD Files for AI Consumption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5896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spend_summary_YYYY-MM.md  |  active_contracts.md  |  supplier_master.md  |  open_pos.md  |  expiring_contracts_90d.md  |  mro_demand_history.md  |  active_sourcing_events.md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5074920"/>
            <a:ext cx="4416552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514807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⚡  30-Day Quick 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58968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 1-3: Request SAP read-only service user  |  Day 3-5: Request Jaggaer API credentials  |  Week 2: Run extraction scripts (non-prod)  |  Week 3: Validate &amp; connect ChromaDB  |  Week 4: Test Supplier Monitor on live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EXECUTION ROADMAP  |  90 Days to Pilots. 12 Months to Agentic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Three fast wins in 90 days. Decision Intelligence by month 6. Full agent team by month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98064" cy="7132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0
Wks 1–2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Add use case library (top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Mandate value measurement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Define data classification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Draft Track D governance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Request SAP + Jaggaer API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Cybersecurity requirements defined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36976" y="1051560"/>
            <a:ext cx="2798064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
Wks 3–12
3 Fast 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Spend classification (SAP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Contract NLP scanning (Jaggaer)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Supplier monitoring (top 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Baseline metrics captured for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On-prem server procured + configured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90-day review gate — scale or kill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051560"/>
            <a:ext cx="2798064" cy="713232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
Mths 4–6
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RFQ drafter live (target: 4–8 hrs saved)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Cost Intelligence Agent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Demand forecasting (MRO/capex)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Track D governance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AI Forum → product team with 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DG2 decision support piloted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62288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62288" y="1051560"/>
            <a:ext cx="27980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
Mths 7–12
Full Agentic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All 8 agents + 6 advanced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Category strategy agent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Project cost intelligence at every DG2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CSRD compliance agent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Full 7-layer security stack certified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Statkraft sets Nordic standard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281928"/>
            <a:ext cx="11640312" cy="39319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093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Phase 0: Framework improved  |  Phase 1: 3 pilots live, baselines set  |  Phase 2: 25%+ time saving, decision intelligence live  |  Phase 3: 40% efficiency gain, cost overruns reduced  |  Year 2: Nordic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Statkraft has years of procurement data sitting unused.
The tools to unlock it cost less than one project overrun.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8833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8833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Use case library + value measurement template added to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2004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3 pilots launched: spend classification, contract NLP, supplier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30168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1246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Decision Intelligence agent live — DG2 estimates grounded in actual SAP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42232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24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All 8 agents live. 40% efficiency gain. Cost overrun risk materially reduced.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18096"/>
                </a:solidFill>
              </a:rPr>
              <a:t>Sources: Hackett Group 2026 · McKinsey Jan 2026 · EY CPO Survey 2025 · Gartner · Equinor.com · ScienceDirect (662 energy projects) · Art of Procurement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Prepared by Aiden  |  For Statkraft Procurement  |  March 17,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procurement.ai@statkraft.com  |  statkraft.com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VALUE CALCULATION METHODOLOGY  |  Standard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How we calculate savings: 4 calculation types, clear assumptions, auditable workings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Principle: Every saving is calculated from a specific, measurable baseline. No general percentages without a defined formula. All assumptions are explicit and Statkraft-adjustable in the Excel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11640312" cy="34747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 STANDARD CALCULATION TYPES — Applied consistently across all 20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57984"/>
            <a:ext cx="2798064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A
Time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</a:rPr>
              <a:t>Formula: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7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Hours saved × FTE hourly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017520"/>
            <a:ext cx="2578608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FTE hourly rate = Annual FTE cost (€120K) ÷ 1,750 working hours = €68.57/hr
Hours saved = (Baseline hours − AI-assisted hours) × Volume per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50208"/>
            <a:ext cx="2578608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</a:rPr>
              <a:t>Examples in use cases: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Contract NLP: 4 hrs → 0.8 hrs × 1,200 contracts × €68.57
• CSRD checks: 0.8 hrs saved × 200 suppliers × 12 checks × €68.57
• Invoice processing: 15 min → 4.5 min × 18,000 invoices × €68.57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64408" y="2157984"/>
            <a:ext cx="2798064" cy="47548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B
Spend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F06"/>
                </a:solidFill>
              </a:rPr>
              <a:t>Formula: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5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Addressable spend × Savings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4136" y="3017520"/>
            <a:ext cx="2578608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Addressable spend = Annual spend (€1.9B) × Category relevance %
Savings rate = Conservative benchmark from peer implementations
Benchmark source cited for every use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4136" y="3950208"/>
            <a:ext cx="2578608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F06"/>
                </a:solidFill>
              </a:rPr>
              <a:t>Examples in use cases: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4136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Spend Classification: €1.9B × 23% accuracy gap × 5% recovery rate
• Tail Spend: €1.9B × 8% tail spend × 15% savings via competitive tendering
• Negotiation: €1.9B × 0.3% additional savings from better preparation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4496" y="2157984"/>
            <a:ext cx="2798064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C
Risk Reduction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Formula: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Probability × Impact of adverse event avoided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3017520"/>
            <a:ext cx="257860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Probability = Assessed likelihood of event per year (conservative)
Impact = Quantified cost of the event occurring (documented)
Uses expected value: P × Impact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4224" y="3950208"/>
            <a:ext cx="257860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4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Examples in use cases: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Supplier Monitor: 1 major failure × €2M avg cost ÷ 2 years expected
• Supply Chain Risk: 15% prob of major disruption × €5M impact
• Project Cost Intel: 40% avg overrun × 2% improvement × €400M capex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584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44584" y="2157984"/>
            <a:ext cx="2798064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54311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D
Capacity Release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1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Formula: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94392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FTE time freed × % redirected to strategic value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54311" y="3017520"/>
            <a:ext cx="2578608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54311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Capacity freed = Hours automated × % of tasks that are automatable
Value multiplier = 1.0× (conservative — treating freed time at cost rate)
Does NOT assume headcount reduction — assumes redeployment to higher value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54311" y="3950208"/>
            <a:ext cx="2578608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54311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Examples in use cases: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54311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RFQ Drafter: 40hrs × 75% time reduction × 250 events per year
• Market Intelligence: analyst time freed for strategic work
• Category Strategy: 3 strategies/yr → 12/yr, same team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245352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📊  Bear = 50% of base  |  Base = conservative benchmark  |  Bull = 150% of base  |  All assumptions in yellow cells of Excel model — adjust to Statkraft actuals  |  No use case is included without a documented peer implementation or published benchmark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AI INITIATIVE REGISTER  |  20 Use Cases  |  €111M Annual Value Potential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B4B4B4"/>
                </a:solidFill>
                <a:latin typeface="Calibri"/>
              </a:rPr>
              <a:t>Statkraft Procurement AI Strategy  |  Confidential  | 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27432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804672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274320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804672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Initiative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777240"/>
            <a:ext cx="109728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2696" y="804672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777240"/>
            <a:ext cx="32004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804672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777240"/>
            <a:ext cx="77724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80467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Base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777240"/>
            <a:ext cx="68580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6" y="804672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777240"/>
            <a:ext cx="77724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80467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019556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" y="1037844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019556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1037844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Spend Classification &amp; Enrichment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019556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2696" y="1037844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Data Quality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1019556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6" y="1037844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019556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103784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€21.9M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1019556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1037844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019556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103784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4–6 wks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261872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" y="1280160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261872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1280160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Contract NLP Scanning &amp;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1261872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82696" y="1280160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Contract Mgmt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1261872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9976" y="1280160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1261872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0016" y="128016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€263K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1261872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1280160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1261872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056" y="128016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6–8 wks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1504188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" y="1522476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1504188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" y="1522476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Supplier Monitoring Agent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1504188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82696" y="1522476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Risk Mgmt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1504188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79976" y="1522476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1504188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0016" y="152247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€105K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1504188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77256" y="1522476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1504188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6" y="152247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8–10 wks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1746504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" y="1764792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1746504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6" y="1764792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RFQ &amp; Tender Drafting Agent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46120" y="1746504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82696" y="1764792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Sourcing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43400" y="1746504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79976" y="1764792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1746504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0016" y="176479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€514K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40680" y="1746504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77256" y="1764792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1746504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63056" y="176479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8–12 wks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1988820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" y="2007108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1988820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9496" y="2007108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Demand Forecasting — MRO &amp; Capex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1988820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82696" y="2007108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MRO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43400" y="1988820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79976" y="2007108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63440" y="1988820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00016" y="200710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€33.4M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40680" y="1988820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77256" y="2007108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26480" y="1988820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63056" y="200710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12–16 wks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2231136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5176" y="2249424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2231136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9496" y="2249424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Negotiation Intelligence &amp; Preparation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46120" y="2231136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82696" y="2249424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Sourcing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43400" y="2231136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79976" y="2249424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63440" y="2231136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00016" y="224942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€5.7M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40680" y="2231136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77256" y="2249424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26480" y="2231136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63056" y="224942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8–12 wks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2473452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5176" y="2491740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2473452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2491740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Category Strategy Agent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46120" y="2473452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82696" y="2491740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Strategy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43400" y="2473452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379976" y="2491740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63440" y="2473452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00016" y="249174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€9.5M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40680" y="2473452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477256" y="2491740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26480" y="2473452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63056" y="249174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12–20 wks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2715768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5176" y="2734056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2715768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9496" y="2734056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CSRD &amp; ESG Compliance Automation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46120" y="2715768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82696" y="2734056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Compliance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343400" y="2715768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379976" y="2734056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663440" y="2715768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700016" y="273405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€105K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40680" y="2715768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77256" y="2734056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126480" y="2715768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163056" y="273405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10–14 wks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" y="2958084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65176" y="2976372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2920" y="2958084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39496" y="2976372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Invoice Processing &amp; Anomaly Detection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46120" y="2958084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82696" y="2976372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P2P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343400" y="2958084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379976" y="2976372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663440" y="2958084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700016" y="297637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€216K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440680" y="2958084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477256" y="2976372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26480" y="2958084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63056" y="297637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4–6 wks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28600" y="3200400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65176" y="3218688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2920" y="3200400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39496" y="3218688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Market Intelligence Agent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46120" y="3200400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282696" y="3218688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Market Intel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343400" y="3200400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379976" y="3218688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63440" y="3200400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00016" y="321868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€5.7M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440680" y="3200400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477256" y="3218688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126480" y="3200400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163056" y="321868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2–4 wks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28600" y="3442716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65176" y="3461004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2920" y="3442716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39496" y="3461004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Should-Cost Modelling Agent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246120" y="3442716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282696" y="3461004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Cost Intel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343400" y="3442716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379976" y="3461004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663440" y="3442716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700016" y="346100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€4.75M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440680" y="3442716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77256" y="3461004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26480" y="3442716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163056" y="346100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8–12 wks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8600" y="3685032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65176" y="3703320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2920" y="3685032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39496" y="3703320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Supplier Onboarding Automation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246120" y="3685032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282696" y="3703320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Supplier Mgmt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343400" y="3685032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79976" y="3703320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663440" y="3685032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700016" y="370332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€311K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440680" y="3685032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477256" y="3703320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6480" y="3685032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163056" y="370332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10–14 wks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28600" y="3927348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65176" y="3945636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02920" y="3927348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39496" y="3945636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Tail Spend Automation Agent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246120" y="3927348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282696" y="3945636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P2P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343400" y="3927348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379976" y="3945636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663440" y="3927348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700016" y="394563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€22.8M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440680" y="3927348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477256" y="3945636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126480" y="3927348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163056" y="394563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6–10 wks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28600" y="4169664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65176" y="4187952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14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02920" y="4169664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539496" y="4187952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Project Cost Intelligence Agent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246120" y="4169664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282696" y="4187952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Decision Intel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43400" y="4169664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379976" y="4187952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C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4663440" y="4169664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700016" y="418795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€3.2M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440680" y="4169664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477256" y="4187952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126480" y="4169664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163056" y="418795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16–24 wks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28600" y="4411980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65176" y="4430268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15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02920" y="4411980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39496" y="4430268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EPC Contract AI Review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246120" y="4411980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282696" y="4430268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Contract Mgmt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343400" y="4411980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379976" y="4430268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663440" y="4411980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700016" y="443026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€21.9K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440680" y="4411980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477256" y="4430268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126480" y="4411980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163056" y="443026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12–18 wks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28600" y="4654296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65176" y="4672584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16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502920" y="4654296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39496" y="4672584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Supplier Financial Risk Monitoring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3246120" y="4654296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282696" y="4672584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Risk Mgmt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343400" y="4654296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379976" y="4672584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C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663440" y="4654296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700016" y="467258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€1.0M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440680" y="4654296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477256" y="4672584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126480" y="4654296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163056" y="4672584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8–12 wks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28600" y="4896612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65176" y="4914900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17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02920" y="4896612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539496" y="4914900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SAP Joule — Native AI Activation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3246120" y="4896612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282696" y="4914900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Platform AI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343400" y="4896612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379976" y="4914900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663440" y="4896612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700016" y="491490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€13.7K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5440680" y="4896612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477256" y="4914900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6126480" y="4896612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163056" y="4914900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1–2 wks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28600" y="5138928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65176" y="5157216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18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02920" y="5138928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39496" y="5157216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Jaggaer JAI — Native AI Activation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246120" y="5138928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3282696" y="5157216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Platform AI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4343400" y="5138928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4379976" y="5157216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A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4663440" y="5138928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4700016" y="515721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€8.2K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5440680" y="5138928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5477256" y="5157216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A44"/>
                </a:solidFill>
                <a:latin typeface="Calibri"/>
              </a:rPr>
              <a:t>High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126480" y="5138928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163056" y="5157216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1–2 wks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228600" y="5381244"/>
            <a:ext cx="27432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65176" y="5399532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19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02920" y="5381244"/>
            <a:ext cx="27432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39496" y="5399532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Autonomous Low-Value Tender Management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3246120" y="5381244"/>
            <a:ext cx="109728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3282696" y="5399532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P2P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4343400" y="5381244"/>
            <a:ext cx="3200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379976" y="5399532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B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663440" y="5381244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4700016" y="539953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€400K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440680" y="5381244"/>
            <a:ext cx="68580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477256" y="5399532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9900"/>
                </a:solidFill>
                <a:latin typeface="Calibri"/>
              </a:rPr>
              <a:t>Medium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6126480" y="5381244"/>
            <a:ext cx="777240" cy="2423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163056" y="5399532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10–16 wks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228600" y="5623560"/>
            <a:ext cx="27432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65176" y="5641848"/>
            <a:ext cx="22860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20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02920" y="5623560"/>
            <a:ext cx="27432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539496" y="5641848"/>
            <a:ext cx="26974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CDCDC"/>
                </a:solidFill>
                <a:latin typeface="Calibri"/>
              </a:rPr>
              <a:t>Supply Chain Network Risk Mapping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3246120" y="5623560"/>
            <a:ext cx="109728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3282696" y="5641848"/>
            <a:ext cx="105156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Risk/Strategy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4343400" y="5623560"/>
            <a:ext cx="3200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4379976" y="5641848"/>
            <a:ext cx="2743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C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4663440" y="5623560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4700016" y="564184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€750K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5440680" y="5623560"/>
            <a:ext cx="68580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5477256" y="5641848"/>
            <a:ext cx="6400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3333"/>
                </a:solidFill>
                <a:latin typeface="Calibri"/>
              </a:rPr>
              <a:t>Low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6126480" y="5623560"/>
            <a:ext cx="777240" cy="2423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163056" y="5641848"/>
            <a:ext cx="731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DCDC"/>
                </a:solidFill>
                <a:latin typeface="Calibri"/>
              </a:rPr>
              <a:t>16–24 wks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28600" y="5865876"/>
            <a:ext cx="6675120" cy="2423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65176" y="5884164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TOTAL — 20 Use Cases (Base)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749040" y="5884164"/>
            <a:ext cx="10972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C00"/>
                </a:solidFill>
                <a:latin typeface="Calibri"/>
              </a:rPr>
              <a:t>€110.6M/yr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