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73152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A0C8F0"/>
                </a:solidFill>
              </a:defRPr>
            </a:pPr>
            <a:r>
              <a:t>SUPPLIER EVALUATION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OX2 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8C8C8"/>
                </a:solidFill>
              </a:defRPr>
            </a:pPr>
            <a:r>
              <a:t>Renewable Energy Development  |  Onshore &amp; Offshore Wind  |  Solar PV &amp;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411480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8C8C8"/>
                </a:solidFill>
              </a:defRPr>
            </a:pPr>
            <a:r>
              <a:t>SEK 5.4B Revenue  |  ~612 Employees  |  10+ Markets  |  EQT Owned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69696"/>
                </a:solidFill>
              </a:defRPr>
            </a:pPr>
            <a:r>
              <a:t>Confidential  |  March 2026  |  Manu Forti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0C8F0"/>
                </a:solidFill>
              </a:defRPr>
            </a:pPr>
            <a:r>
              <a:t>OX2 AB — Risk &amp; Suitability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005A8C"/>
                </a:solidFill>
              </a:defRPr>
            </a:pPr>
            <a:r>
              <a:t>OX2</a:t>
            </a:r>
          </a:p>
        </p:txBody>
      </p:sp>
      <p:pic>
        <p:nvPicPr>
          <p:cNvPr id="7" name="Picture 6" descr="01_risk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583680" cy="326231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949440" y="960120"/>
            <a:ext cx="4937760" cy="51206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147"/>
                </a:solidFill>
              </a:defRPr>
            </a:pPr>
            <a:r>
              <a:t>SUPPLIER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49961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Supplier: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49961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OX2 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77393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Ownership: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77393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EQT Private Equity (Oct 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04825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Sector: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04825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Renewable Energy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32257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HQ: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32257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Stockholm, Sweden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59689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Founded: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59689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2004 (19+ years experience)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87121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Revenue: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7121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SEK 5.4B ($520M est. 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14553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EBITDA: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14553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SEK 1,000M+ ($96M+, ~18% margin)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41985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Pipeline: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41985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Multi-GW development portfolio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69417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Employees: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69417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~612 globally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773168"/>
            <a:ext cx="6583680" cy="1307592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737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147"/>
                </a:solidFill>
              </a:defRPr>
            </a:pPr>
            <a:r>
              <a:t>Key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66360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EQT acquisition (Oct 2024) provides financial stability and long-term capital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132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Pure-play renewable developer with 19+ years track record in Nordics/Baltics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0136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Revenue volatility due to project timing — typical for development business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07023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Multi-GW pipeline across onshore wind, offshore wind, solar PV, and 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F8C8D"/>
                </a:solidFill>
              </a:defRPr>
            </a:pPr>
            <a:r>
              <a:t>Source: Manu Forti Intelligence  |  Confidential  |  March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Manu Forti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0C8F0"/>
                </a:solidFill>
              </a:defRPr>
            </a:pPr>
            <a:r>
              <a:t>Decision Summary &amp; Commercial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005A8C"/>
                </a:solidFill>
              </a:defRPr>
            </a:pPr>
            <a:r>
              <a:t>OX2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11277295" cy="123444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✓  RECOMMENDATION: APPROVE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OX2 is recommended for renewable energy project development partnerships. Strong EQT backing, proven track record, and pure-play renewable focus make them a suitable counterparty. Standard project finance structures and milestone-based payments recommended.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147"/>
                </a:solidFill>
              </a:defRPr>
            </a:pPr>
            <a:r>
              <a:t>Commercial Conditions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Milestone-based payments tied to project approvals and milestones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Standard development fee structures for project origination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EQT parent company guarantee for large-scale commitments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Performance security via escrow for upfront development costs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Regular financial reporting (quarterly) given private 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B6CB0"/>
                </a:solidFill>
              </a:defRPr>
            </a:pPr>
            <a:r>
              <a:t>Risk Mitigation Measures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Verify EQT commitment letter for long-term capital support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Secure step-in rights if development milestones missed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Contingency planning for grid connection delays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Diversify across multiple OX2 projects to reduce concentration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Monitor regulatory changes in key markets (Sweden, Finland, Poland)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92040"/>
            <a:ext cx="11277295" cy="13716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147"/>
                </a:solidFill>
              </a:defRPr>
            </a:pPr>
            <a:r>
              <a:t>Overall Risk Summary — LOW (35/100)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8BB78"/>
                </a:solidFill>
              </a:defRPr>
            </a:pPr>
            <a:r>
              <a:t>Financial: 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F8C8D"/>
                </a:solidFill>
              </a:defRPr>
            </a:pPr>
            <a:r>
              <a:t>SEK 5.4B revenue, PE-backed, strong liquidity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8BB78"/>
                </a:solidFill>
              </a:defRPr>
            </a:pPr>
            <a:r>
              <a:t>Operational: 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F8C8D"/>
                </a:solidFill>
              </a:defRPr>
            </a:pPr>
            <a:r>
              <a:t>19+ years experience, multi-GW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8BB78"/>
                </a:solidFill>
              </a:defRPr>
            </a:pPr>
            <a:r>
              <a:t>Geopolitical: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F8C8D"/>
                </a:solidFill>
              </a:defRPr>
            </a:pPr>
            <a:r>
              <a:t>Sweden HQ, EU/NATO aligned, diversified markets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37667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8BB78"/>
                </a:solidFill>
              </a:defRPr>
            </a:pPr>
            <a:r>
              <a:t>ESG: 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564184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7F8C8D"/>
                </a:solidFill>
              </a:defRPr>
            </a:pPr>
            <a:r>
              <a:t>Pure-play renewable, strong sustainability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F8C8D"/>
                </a:solidFill>
              </a:defRPr>
            </a:pPr>
            <a:r>
              <a:t>Source: Manu Forti Intelligence  |  Confidential  |  March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Manu Forti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SUPPLIER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0C8F0"/>
                </a:solidFill>
              </a:defRPr>
            </a:pPr>
            <a:r>
              <a:t>Corporate Structure &amp; Global Footprint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005A8C"/>
                </a:solidFill>
              </a:defRPr>
            </a:pPr>
            <a:r>
              <a:t>OX2</a:t>
            </a:r>
          </a:p>
        </p:txBody>
      </p:sp>
      <p:pic>
        <p:nvPicPr>
          <p:cNvPr id="7" name="Picture 6" descr="02_org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498079" cy="4447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96012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147"/>
                </a:solidFill>
              </a:defRPr>
            </a:pPr>
            <a:r>
              <a:t>Company Overview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OX2 is a leading European developer of renewable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energy projects, specializing in onshore wind,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offshore wind, solar PV, and energy storage.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Founded in 2004, the company has developed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a multi-gigawatt project pipeline across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Northern Europe and Australia.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Acquired by EQT Private Equity in October 2024,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providing long-term capital and strategic backing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for continued growth and project development.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11480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147"/>
                </a:solidFill>
              </a:defRPr>
            </a:pPr>
            <a:r>
              <a:t>Leadership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Paul Stormoen — CEO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  Founder and industry veteran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  20+ years in renewables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HQ: Stockholm, Sweden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Founded: 2004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Delisted: October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F8C8D"/>
                </a:solidFill>
              </a:defRPr>
            </a:pPr>
            <a:r>
              <a:t>Source: Manu Forti Intelligence  |  Confidential  |  March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Manu Forti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FINANCIAL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0C8F0"/>
                </a:solidFill>
              </a:defRPr>
            </a:pPr>
            <a:r>
              <a:t>Revenue &amp; EBITDA Trajectory 2021–2024  |  EQT Backed  |  Strong Liquidity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005A8C"/>
                </a:solidFill>
              </a:defRPr>
            </a:pPr>
            <a:r>
              <a:t>OX2</a:t>
            </a:r>
          </a:p>
        </p:txBody>
      </p:sp>
      <p:pic>
        <p:nvPicPr>
          <p:cNvPr id="7" name="Picture 6" descr="03_financial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1476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0058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147"/>
                </a:solidFill>
              </a:defRPr>
            </a:pPr>
            <a:r>
              <a:t>Financial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42646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2024 Revenue: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59" y="142646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SEK 5.4B  (-20% YoY)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70078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2024 EBITDA: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59" y="170078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SEK 1,000M+  (~18% margin)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97510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2023 Net Profit: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59" y="197510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SEK 800M+  ($77M+)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24942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3yr Revenue CAGR: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59" y="224942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+9%  (2021–2023)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523744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Order Book: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59" y="2523744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Multi-GW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798063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Gross Debt: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59" y="2798063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Moderate (PE managed)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072383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Net Cash Position: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59" y="3072383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Positive (EQT backed)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346703"/>
            <a:ext cx="23317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2147"/>
                </a:solidFill>
              </a:defRPr>
            </a:pPr>
            <a:r>
              <a:t>Debt / EBITDA: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59" y="3346703"/>
            <a:ext cx="205740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&lt;1.0x  ✓  (conservative)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3703320"/>
            <a:ext cx="4389120" cy="402336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37673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Financial Risk:  LOW 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20624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147"/>
                </a:solidFill>
              </a:defRPr>
            </a:pPr>
            <a:r>
              <a:t>Exposure Guidance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EQT backing provides financial stability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Milestone-based payments reduce counterparty risk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No parent guarantee required for standard projects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Escrow recommended for large upfront commitments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F8C8D"/>
                </a:solidFill>
              </a:defRPr>
            </a:pPr>
            <a:r>
              <a:t>Source: Manu Forti Intelligence  |  Confidential  |  March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Manu Forti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MARKET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0C8F0"/>
                </a:solidFill>
              </a:defRPr>
            </a:pPr>
            <a:r>
              <a:t>Renewable Developer Revenue Comparison — 2024 Estimates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005A8C"/>
                </a:solidFill>
              </a:defRPr>
            </a:pPr>
            <a:r>
              <a:t>OX2</a:t>
            </a:r>
          </a:p>
        </p:txBody>
      </p:sp>
      <p:pic>
        <p:nvPicPr>
          <p:cNvPr id="7" name="Picture 6" descr="04_market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315200" cy="44274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0058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147"/>
                </a:solidFill>
              </a:defRPr>
            </a:pPr>
            <a:r>
              <a:t>Competitive Landscape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OX2 operates as a focused pure-play developer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with deep expertise in Nordic and Baltic markets.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While smaller than utility-scale competitors,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OX2's specialized focus and local relationships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provide competitive advantages in target markets.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926080"/>
            <a:ext cx="4114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147"/>
                </a:solidFill>
              </a:defRPr>
            </a:pPr>
            <a:r>
              <a:t>OX2 Competitive Advantages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19+ years Nordic/Baltic market expertise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Multi-GW development pipeline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EQT backing for long-term growth capital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Integrated development capabilities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Strong track record of project sales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Pure-play renewable focus (no fossil legacy)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147"/>
                </a:solidFill>
              </a:defRPr>
            </a:pPr>
            <a:r>
              <a:t>Key Competitors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0096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Ørsted — Denmark — $9.6B — Global offshore wind leader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05272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Vattenfall — Sweden — $15B+ — Swedish state-owned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70448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RWE — Germany — $20B+ — Major German utility/renewables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35624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Iberdrola — Spain — $25B+ — Spanish renewable giant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972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000000"/>
                </a:solidFill>
              </a:defRPr>
            </a:pPr>
            <a:r>
              <a:t>• Enel Green Power — Italy — $20B+ — Italian global renewables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F8C8D"/>
                </a:solidFill>
              </a:defRPr>
            </a:pPr>
            <a:r>
              <a:t>Source: Manu Forti Intelligence  |  Confidential  |  March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Manu Forti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OPERATIONAL CAPABILITY  &amp; 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0C8F0"/>
                </a:solidFill>
              </a:defRPr>
            </a:pPr>
            <a:r>
              <a:t>Milestones &amp; Strategic Investment  |  Risk Matrix  |  Capability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005A8C"/>
                </a:solidFill>
              </a:defRPr>
            </a:pPr>
            <a:r>
              <a:t>OX2</a:t>
            </a:r>
          </a:p>
        </p:txBody>
      </p:sp>
      <p:pic>
        <p:nvPicPr>
          <p:cNvPr id="7" name="Picture 6" descr="05_investmen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400800" cy="3200400"/>
          </a:xfrm>
          <a:prstGeom prst="rect">
            <a:avLst/>
          </a:prstGeom>
        </p:spPr>
      </p:pic>
      <p:pic>
        <p:nvPicPr>
          <p:cNvPr id="8" name="Picture 7" descr="06_risk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960120"/>
            <a:ext cx="5029200" cy="36142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510235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147"/>
                </a:solidFill>
              </a:defRPr>
            </a:pPr>
            <a:r>
              <a:t>Risk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3858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2147"/>
                </a:solidFill>
              </a:defRPr>
            </a:pPr>
            <a:r>
              <a:t>Financial: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5385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8BB78"/>
                </a:solidFill>
              </a:defRPr>
            </a:pPr>
            <a:r>
              <a:t>🟢 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3858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F8C8D"/>
                </a:solidFill>
              </a:defRPr>
            </a:pPr>
            <a:r>
              <a:t>SEK 5.4B revenue; PE-backed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6144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2147"/>
                </a:solidFill>
              </a:defRPr>
            </a:pPr>
            <a:r>
              <a:t>Geopolitical: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6144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8BB78"/>
                </a:solidFill>
              </a:defRPr>
            </a:pPr>
            <a:r>
              <a:t>🟢 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6144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F8C8D"/>
                </a:solidFill>
              </a:defRPr>
            </a:pPr>
            <a:r>
              <a:t>Sweden HQ; EU/NATO aligned markets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8430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2147"/>
                </a:solidFill>
              </a:defRPr>
            </a:pPr>
            <a:r>
              <a:t>Project Timing: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8430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69E2E"/>
                </a:solidFill>
              </a:defRPr>
            </a:pPr>
            <a:r>
              <a:t>🟡 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8430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F8C8D"/>
                </a:solidFill>
              </a:defRPr>
            </a:pPr>
            <a:r>
              <a:t>Revenue volatility from project cycles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0716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2147"/>
                </a:solidFill>
              </a:defRPr>
            </a:pPr>
            <a:r>
              <a:t>Policy/Regulatory: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60716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69E2E"/>
                </a:solidFill>
              </a:defRPr>
            </a:pPr>
            <a:r>
              <a:t>🟡 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60716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F8C8D"/>
                </a:solidFill>
              </a:defRPr>
            </a:pPr>
            <a:r>
              <a:t>Dependent on renewable energy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300216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2147"/>
                </a:solidFill>
              </a:defRPr>
            </a:pPr>
            <a:r>
              <a:t>Competition: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63002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48BB78"/>
                </a:solidFill>
              </a:defRPr>
            </a:pPr>
            <a:r>
              <a:t>🟢 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630021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F8C8D"/>
                </a:solidFill>
              </a:defRPr>
            </a:pPr>
            <a:r>
              <a:t>Differentiated niche positioning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5102352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147"/>
                </a:solidFill>
              </a:defRPr>
            </a:pPr>
            <a:r>
              <a:t>Key Capabilities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ISO certifications for project management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19 years continuous renewable development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10+ markets — diversified geographic presence</a:t>
            </a:r>
          </a:p>
          <a:p>
            <a:pPr>
              <a:spcAft>
                <a:spcPts val="200"/>
              </a:spcAft>
              <a:defRPr sz="1000">
                <a:solidFill>
                  <a:srgbClr val="000000"/>
                </a:solidFill>
              </a:defRPr>
            </a:pPr>
            <a:r>
              <a:t>• Full chain: origination → development → sale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F8C8D"/>
                </a:solidFill>
              </a:defRPr>
            </a:pPr>
            <a:r>
              <a:t>Source: Manu Forti Intelligence  |  Confidential  |  March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Manu Forti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COMMERCIAL INTELLIGENCE  &amp;  PEER RISK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0C8F0"/>
                </a:solidFill>
              </a:defRPr>
            </a:pPr>
            <a:r>
              <a:t>Benchmarking Radar  |  Peer Risk Profile  |  Commercial Terms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005A8C"/>
                </a:solidFill>
              </a:defRPr>
            </a:pPr>
            <a:r>
              <a:t>OX2</a:t>
            </a:r>
          </a:p>
        </p:txBody>
      </p:sp>
      <p:pic>
        <p:nvPicPr>
          <p:cNvPr id="7" name="Picture 6" descr="07_benchmarking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303520" cy="4378362"/>
          </a:xfrm>
          <a:prstGeom prst="rect">
            <a:avLst/>
          </a:prstGeom>
        </p:spPr>
      </p:pic>
      <p:pic>
        <p:nvPicPr>
          <p:cNvPr id="8" name="Picture 7" descr="08_peer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914400"/>
            <a:ext cx="6309360" cy="381869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74320" y="5303520"/>
            <a:ext cx="11612880" cy="13716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02147"/>
                </a:solidFill>
              </a:defRPr>
            </a:pPr>
            <a:r>
              <a:t>Commercial Terms &amp; Negotiation</a:t>
            </a:r>
          </a:p>
          <a:p>
            <a:pPr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• Pricing: Development fees based on project capacity/MW</a:t>
            </a:r>
          </a:p>
          <a:p>
            <a:pPr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• Payment: Milestones for permitting, PPA, construction ready</a:t>
            </a:r>
          </a:p>
          <a:p>
            <a:pPr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• Leverage: Volume commitment; framework agreements</a:t>
            </a:r>
          </a:p>
          <a:p>
            <a:pPr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• IP: Client owns project rights; OX2 retains method 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D69E2E"/>
                </a:solidFill>
              </a:defRPr>
            </a:pPr>
            <a:r>
              <a:t>Key Watch Points</a:t>
            </a:r>
          </a:p>
          <a:p>
            <a:pPr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⚠ Project timing: Revenue recognition varies by project stage</a:t>
            </a:r>
          </a:p>
          <a:p>
            <a:pPr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⚠ Grid delays: Monitor connection timelines in key markets</a:t>
            </a:r>
          </a:p>
          <a:p>
            <a:pPr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⚠ Policy: Track renewable support scheme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F8C8D"/>
                </a:solidFill>
              </a:defRPr>
            </a:pPr>
            <a:r>
              <a:t>Source: Manu Forti Intelligence  |  Confidential  |  March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Manu Forti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ESG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A0C8F0"/>
                </a:solidFill>
              </a:defRPr>
            </a:pPr>
            <a:r>
              <a:t>Environmental, Social &amp; Governance Screening  |  Overall Rating: 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005A8C"/>
                </a:solidFill>
              </a:defRPr>
            </a:pPr>
            <a:r>
              <a:t>OX2</a:t>
            </a:r>
          </a:p>
        </p:txBody>
      </p:sp>
      <p:pic>
        <p:nvPicPr>
          <p:cNvPr id="7" name="Picture 6" descr="09_esg_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960120"/>
            <a:ext cx="9144000" cy="54678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F8C8D"/>
                </a:solidFill>
              </a:defRPr>
            </a:pPr>
            <a:r>
              <a:t>Source: Manu Forti Intelligence  |  Confidential  | 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Manu Forti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