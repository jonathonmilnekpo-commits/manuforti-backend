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6CB0"/>
                </a:solidFill>
              </a:rPr>
              <a:t>ENERGY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Procurement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18096"/>
                </a:solidFill>
              </a:rPr>
              <a:t>Competitive Intelligence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2044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What Equinor, Shell, Vattenfall, BP, TotalEnergies &amp; RWE are doing —
and where the gap is for Statkraft and Manu Forti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Prepared by Aiden  |  Manu Forti Intelligence  |  March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Operational AI is generating real savings — Procurement AI is still early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77724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152" cy="7772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Major energy companies are ahead on operational AI but procurement-specific capability lags 2-3 years. This is the window for Manu Forti.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2103120" cy="14173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6CB0"/>
                </a:solidFill>
              </a:rPr>
              <a:t>$130M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Equinor AI savings
in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965960"/>
            <a:ext cx="2103120" cy="14173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2057400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6CB0"/>
                </a:solidFill>
              </a:rPr>
              <a:t>NOK 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633472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Equinor projected
robotics 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1965960"/>
            <a:ext cx="2103120" cy="14173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3" y="2057400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6CB0"/>
                </a:solidFill>
              </a:rPr>
              <a:t>100,000+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2633472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TotalEnergies
suppliers / $31B 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5" y="1965960"/>
            <a:ext cx="2103120" cy="14173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5" y="2057400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6CB0"/>
                </a:solidFill>
              </a:rPr>
              <a:t>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5" y="2633472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AI use in procurement
year-over-year (Hackett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1965960"/>
            <a:ext cx="2103120" cy="14173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2057400"/>
            <a:ext cx="19202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6CB0"/>
                </a:solidFill>
              </a:rPr>
              <a:t>+8%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633472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Procurement workloads
rising as headcount falls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11640312" cy="914400"/>
          </a:xfrm>
          <a:prstGeom prst="rect">
            <a:avLst/>
          </a:prstGeom>
          <a:solidFill>
            <a:srgbClr val="0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30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F06"/>
                </a:solidFill>
              </a:rPr>
              <a:t>⚡  The Gap: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630168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 majors lagging on Category Strategy AI, Supplier Evaluation Intelligence, and Procurement Advisory AI — exactly where Manu Forti operates.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663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</a:rPr>
              <a:t>Sources: Equinor.com (Jan 2026), Hackett Group Key Issues Study (Mar 2026), Klover.ai, Vattenfall/Hackett Case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EQUINOR  |  Norway  ⭐ Most Relevant Peer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$130M AI savings in 2025 — but procurement AI is still emerging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303520" cy="42976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2025 AI Savings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1005840" cy="5486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45920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$120M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459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Since 2020 — Predictive maintenance
24,000 sensors, 700+ rotating machines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50008"/>
            <a:ext cx="1005840" cy="5486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395727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$12M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395727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Johan Sverdrup Phase 3 well planning
AI found solution humans missed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99815"/>
            <a:ext cx="1005840" cy="5486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145535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2M km²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45535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Seismic data interpreted in 2025
10× faster than manual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49624"/>
            <a:ext cx="1005840" cy="5486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895344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9534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New AI use cases identified
Procurement on the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051560"/>
            <a:ext cx="6035040" cy="4297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1051560"/>
            <a:ext cx="73152" cy="42976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Strategic Read for Statkraft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60020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Quote: "AI is a central part of our operations. Moving forward, AI will become even more important for solving industrial tasks safely, faster, more profitably, and at scale."
— Hege Skryseth, EVP Technology, Digital &amp; Innovation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11430000" cy="3657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063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Equinor is 2-3 years ahead of Statkraft on operational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474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Procurement-specific AI not yet public — on the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886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Norwegian Continental Shelf 2035 ambition: AI is 'crucial'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297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Statkraft can get ahead now before Equinor sets the standard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SHELL  &amp;  VATTENFALL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Shell leads on contract AI; Vattenfall is paying Hackett Group to do what Manu Forti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00" cy="42976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🐚 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</a:rPr>
              <a:t>Most advanced on procurement AI among majors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► Contract Authoring: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writes first drafts of procurement contracts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► Supplier Compliance: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monitors obligations, flags deviations in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► Workflow Embedding: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063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inside core procurement workflows, not just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► Goal: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611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Free up procurement professionals for strategic supplier relationships and diversity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530352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8056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Insight: Shell is 2-3 years ahead on contract AI. Statkraft's HV equipment contracts are a direct analogue use case.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5760720" cy="4297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73152" cy="429768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15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147"/>
                </a:solidFill>
              </a:rPr>
              <a:t>⚡  Vattenfall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444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</a:rPr>
              <a:t>Most comparable peer — European utility in active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965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Engaged The Hackett Group for AI-guided procurement transformation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441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Led by Arjan De Jong (Head of Solutions &amp; Insights)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1693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Hackett providing: insights, expertise, practical AI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9242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Focus: Moving from transactional to strategic, AI-augmented category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8679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▸  Revenue: $26.47B (2024) — significant procurement spend at stake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434840"/>
            <a:ext cx="5577840" cy="59436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48056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147"/>
                </a:solidFill>
              </a:rPr>
              <a:t>🎯  Vattenfall is paying Hackett Group (£50K+ retainer) for what Manu Forti delivers in days at a fraction of the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BP  |  TOTALENERGIES  |  RWE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Scale and tech investment are forcing procurement AI — whether they're ready or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42976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6CB0"/>
                </a:solidFill>
              </a:rPr>
              <a:t>BP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AI agents routing purchase requests and compliance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Workflow optimisation: named as a specific AI workstream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Cost reduction focus post-2020 restructuring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SAP Ariba + custom 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Every efficiency gain matters under cost pressure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051560"/>
            <a:ext cx="3749039" cy="4297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147"/>
                </a:solidFill>
              </a:rPr>
              <a:t>TotalEnergies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544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100,000+ suppliers globally / $31B spend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Positioning as 'data company evolving into AI company'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1% AI efficiency = $310M annual savings at their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Battery supply chain AI via Saft subsidiary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▸  Present in ~120 countries — complexity demands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051560"/>
            <a:ext cx="3749039" cy="42976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6CB0"/>
                </a:solidFill>
              </a:rPr>
              <a:t>RWE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5544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AWS, HPE, Infosys, FPT: major AI tech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Microsoft for AI tools across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88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Bought Vattenfall's Norfolk offshore assets (€1.1B)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Scaling fast — procurement complexity increasing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Less visible externally but significant investment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MARKET CONTEXT  |  Hackett Group 2026 Study — Published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AI use in procurement nearly doubled — workloads rising while headcount 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651760" cy="1188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AI use in procurement
nearly doubled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51560"/>
            <a:ext cx="2651760" cy="1188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15568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+8%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642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Procurement workloads
in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51560"/>
            <a:ext cx="2651760" cy="1188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15568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642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Efficiency gains from
AI-driven procurement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051560"/>
            <a:ext cx="2651760" cy="1188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115568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6642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Cost savings from
AI procurement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Gartner 2025: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88920"/>
            <a:ext cx="1188720" cy="5943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834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880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of procurement leaders say their data isn't AI-ready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788920"/>
            <a:ext cx="1188720" cy="5943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834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50-80%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880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of current procurement work can be automated by GenAI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11640312" cy="3200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935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WHERE ENERGY COMPANIES ARE  →  AND WHERE THE GAP 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8229600" cy="4114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40" y="3931920"/>
            <a:ext cx="3364992" cy="4114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9592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Operational AI (maintenance, drilling, seismic)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995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✅ Advanced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89120"/>
            <a:ext cx="8229600" cy="4114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4389120"/>
            <a:ext cx="3364992" cy="4114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45312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Contract automation &amp; supplier compliance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4531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⚠️ Developing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8229600" cy="4114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49640" y="4846320"/>
            <a:ext cx="3364992" cy="4114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1032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Category Strategy AI &amp; Supplier Evaluation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❌ Lagging — The Manu Forti 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Manu Forti: faster, cheaper, and more procurement-specific than any alternative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286000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051560"/>
            <a:ext cx="164592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7" y="1097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Manu Forti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051560"/>
            <a:ext cx="1645920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097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Equinor
(Internal)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7023" y="1051560"/>
            <a:ext cx="1645920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2743" y="1097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Shell
(Internal)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051560"/>
            <a:ext cx="1645920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1097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Vattenfall
(Hackett)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51560"/>
            <a:ext cx="1645920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097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Big Consulting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36192"/>
            <a:ext cx="2286000" cy="43891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6093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Procurement AI 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8608" y="1536192"/>
            <a:ext cx="1645920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7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✅ Core 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2816" y="1536192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⚠️ Emerging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07023" y="1536192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2743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✅ Contract/
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1231" y="1536192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✅ Transformation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536192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✅ Generic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993391"/>
            <a:ext cx="2286000" cy="43891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066543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Speed to 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8608" y="1993391"/>
            <a:ext cx="1645920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4327" y="20482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19933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8536" y="20482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Years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7023" y="19933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3" y="20482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71231" y="19933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20482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12+ months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19933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20482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6+ months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450591"/>
            <a:ext cx="2286000" cy="43891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5237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Price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78608" y="2450591"/>
            <a:ext cx="1645920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24327" y="25054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€99 – €3,999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42816" y="24505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8536" y="25054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Internal
(millions)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7023" y="24505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52743" y="25054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Internal
(millions)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71231" y="24505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16952" y="25054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£50K+ retainer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24505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25054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£100K+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907791"/>
            <a:ext cx="2286000" cy="43891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29809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Renewables Focus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78608" y="2907791"/>
            <a:ext cx="1645920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4327" y="2962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✅ Wind, solar, HV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42816" y="29077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88536" y="2962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O&amp;G first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07023" y="29077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52743" y="2962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O&amp;G first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71231" y="29077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16952" y="2962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✅ Utility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35440" y="29077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2962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Generic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364991"/>
            <a:ext cx="2286000" cy="43891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4381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AI-Native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78608" y="3364991"/>
            <a:ext cx="1645920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24327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✅ Built on agents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42816" y="33649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88536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Legacy + AI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07023" y="33649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52743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Legacy + AI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71231" y="33649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16952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Legacy + AI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33649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81160" y="34198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Human + AI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3822191"/>
            <a:ext cx="2286000" cy="43891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38953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Supplier Analysis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78608" y="3822191"/>
            <a:ext cx="1645920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24327" y="38770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✅ Product 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42816" y="38221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88536" y="38770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Internal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07023" y="38221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52743" y="38770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Internal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71231" y="38221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16952" y="38770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Internal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35440" y="3822191"/>
            <a:ext cx="164592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81160" y="38770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4A"/>
                </a:solidFill>
              </a:rPr>
              <a:t>Not offered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IMPLICATIONS FOR STATKRAFT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Act now — the procurement AI gap is closing, and early movers will set the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Manu Forti Intelligence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0292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097280"/>
            <a:ext cx="11064240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338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Don't wait for IT programmes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17043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Start with high-value categories where AI analysis already exists — HV equipment and EPC contractors are ready now. Use Manu Forti's Product 1 for vendor qualification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6231"/>
            <a:ext cx="50292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208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856231"/>
            <a:ext cx="11064240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89280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Shell's contract AI is your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2938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Shell's contract authoring automation is the direction of travel. Statkraft's HV equipment contracts (€100M+ framework agreements) are exactly the right complexity level for AI-assisted drafting.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15184"/>
            <a:ext cx="50292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7797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615184"/>
            <a:ext cx="11064240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Vattenfall is paying £50K+ for what you already have access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8833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Vattenfall engaged Hackett Group to guide their AI procurement transformation. Statkraft can use Manu Forti's Category Strategy methodology at a fraction of the cost and 10× the speed.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74136"/>
            <a:ext cx="50292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5387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374136"/>
            <a:ext cx="11064240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410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Build a Procurement AI roadmap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4728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Use the Manu Forti methodology as the framework. Positions Statkraft ahead of Norwegian peers and ahead of where Equinor will be in 2-3 years.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33087"/>
            <a:ext cx="50292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29767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133087"/>
            <a:ext cx="11064240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6966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Monitor Equinor's public disclosures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206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They're the leading benchmark for Norwegian energy AI. Their next milestone: NOK 1B+ annual savings from robotics. Watch the procurement-specific use cases emerging.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Every major energy company is investing in AI.
Procurement is the last frontier — and the biggest prize.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74320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Equinor proved AI delivers at scale ($130M in a year). Procurement is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19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Shell proved contract AI works. Procurement cycle times can be cut dramatically.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Vattenfall proved the demand. Companies will pay to get there — the question is who guides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970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Manu Forti is already built for this. Product 1 + Category Strategy = the answer the market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Manu Forti Intelligence  |  Procurement AI for the Energy 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Contact: manuforti.as@gmail.com  |  www.manuforti.no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CCDD"/>
                </a:solidFill>
              </a:rPr>
              <a:t>Prepared by Aiden  |  March 17,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