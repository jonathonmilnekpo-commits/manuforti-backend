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691640"/>
            <a:ext cx="12024360" cy="457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840480" cy="475488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CATEGORY MARKET INTELLIGENCE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Fish Production Plant — Supply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Land-Based RAS Facility Construction &amp; 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594360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015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Cermaq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856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8561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Jonathon Milne  |  AI-Powered Procurement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96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696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19 February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3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537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Confidential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AI-POWERED PROCUREMENT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Cermaq AS — Land-Based RAS Facility Construction &amp;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210312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2103120" cy="73152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89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BD9"/>
                </a:solidFill>
              </a:rPr>
              <a:t>EUR 2.1bn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Market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143000"/>
            <a:ext cx="210312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1143000"/>
            <a:ext cx="2103120" cy="73152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389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BD9"/>
                </a:solidFill>
              </a:rPr>
              <a:t>14%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Growth (CAGR)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1143000"/>
            <a:ext cx="210312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79" y="1143000"/>
            <a:ext cx="2103120" cy="73152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1389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BD9"/>
                </a:solidFill>
              </a:rPr>
              <a:t>40+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Viable Suppliers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143000"/>
            <a:ext cx="210312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1143000"/>
            <a:ext cx="2103120" cy="73152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389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BD9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Buyer Power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40280"/>
            <a:ext cx="77724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2860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KEY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97480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69748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RAS systems integration is highly consolidated — AKVA Group dominant, Billund Aquaculture bankruptcy reduces competition further. Cermaq already contracted with AKVA (€60M, Hasvik).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46120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246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24612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SCADA &amp; automation carries the highest lock-in risk in the category — proprietary systems from AKVA/ScaleAQ create long-term switching costs. Negotiate open architecture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94760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794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79476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HVAC &amp; ventilation for RAS is a specialist niche — fewer than 5 credible vendors in Norway. Munters leads globally; early engagement critical due to 6–9 month lead times.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43400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343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34340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Oxygen supply is a recurring cost category often underweighted at build stage — sole-source contracts with AGA or Air Liquide are common but carry volume risk.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1143000"/>
            <a:ext cx="35661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1188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STRATEGIC 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1627632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Dual-source critical categories. Negotiate open-architecture SCADA. Lock in HVAC and oxygen early.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383280"/>
            <a:ext cx="338328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4930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QUICK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3822191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3785615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Engage Munters immediately — HVAC lead times will be your first programme risk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370831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4334255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Negotiate open-architecture and data portability clauses into the AKVA contract before signing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919472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488289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Run civil construction tender now — Northern Norway contractor capacity is being absorbed by energy projects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5468112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543153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Lock oxygen pricing — AGA/Air Liquide multi-year contract with capex for onsite O2 feasibility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Supply Category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Risk &amp; Concentration Overview — All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1155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Supply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1155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Spend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115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Supply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115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115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Lock-In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Key Suppliers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371600"/>
            <a:ext cx="1156716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481328"/>
            <a:ext cx="1156716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RAS Systems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1664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35-45%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5887" y="1636776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7" y="163677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73168" y="1636776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163677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70448" y="1636776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163677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AKVA Group  ·  Pure Salmon Technology  ·  ScaleAQ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148840"/>
            <a:ext cx="1156716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2677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Civil &amp; Building 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20-30%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5887" y="2304288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7" y="230428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73168" y="230428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230428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230428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230428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AF Gruppen  ·  NCC Norway  ·  Hæhre Entreprenør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816352"/>
            <a:ext cx="1156716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9352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HVAC &amp; Ventilation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29992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5-8%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75887" y="2971800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5887" y="29718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3168" y="2971800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29718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0448" y="2971800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29718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29992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Munters  ·  Swegon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483864"/>
            <a:ext cx="1156716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6027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Electrical, SCADA &amp; Automation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36667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8-12%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75887" y="3639312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5887" y="363931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73168" y="3639312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73168" y="363931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0448" y="3639312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0448" y="363931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36667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ABB Norway  ·  Siemens Norway  ·  Schneider Electric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51376"/>
            <a:ext cx="1156716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4270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Oxygen &amp; Gas Supply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43342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3-5%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75887" y="4306824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75887" y="43068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73168" y="4306824"/>
            <a:ext cx="9601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73168" y="43068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70448" y="4306824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70448" y="43068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86600" y="43342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AGA (Linde Group)  ·  Air Liquide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818888"/>
            <a:ext cx="1156716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49377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Fish Feed Systems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5001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3-6%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4974336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75887" y="497433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73168" y="4974336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73168" y="497433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70448" y="4974336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70448" y="497433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86600" y="5001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AKVA Group (feed systems)  ·  Arvo-Tec  ·  IFF/Intragilis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486400"/>
            <a:ext cx="1156716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5605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Fish Feed Supply (Ongoing)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0" y="5669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9BD9"/>
                </a:solidFill>
              </a:rPr>
              <a:t>Largest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75887" y="5641848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75887" y="564184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73168" y="564184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73168" y="564184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70448" y="5641848"/>
            <a:ext cx="960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70448" y="564184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86600" y="5669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Skretting (Nutreco/SHV)  ·  BioMar  ·  Ewos (Cargill)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RAS Systems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Turnkey recirculating aquaculture system design, supply, install and commission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SUPPLY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143000"/>
            <a:ext cx="16002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SPEND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35-45% of total cape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TIER 1 — RECOMMENDED FOR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5577840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42032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596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AKVA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2432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 (Klepp)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9260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World's largest aquaculture tech supplier. Full turnkey RAS. Already contracted with Cermaq (Hasvik €60M).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291839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30098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Concentration — now dominant partner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1"/>
            <a:ext cx="5577840" cy="10241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39311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6941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Pure Salmon Technology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72160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0233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15+ years, 20+ facilities including world's largest (Helgeland Smolt, Lerøy Sjøtroll). Strong Norwegian track record.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389120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3982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Smaller than AKVA, limited bandwidth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36592"/>
            <a:ext cx="5577840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736592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79145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ScaleAQ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818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Full-range RAS + digital/software. Strong closed aquaculture systems (CAS) portfolio.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5486400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549554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SCADA lock-in risk — proprietary software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TIER 2 — MONITOR / CONDITIONAL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542032"/>
            <a:ext cx="55778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606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MAT-KULING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26334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8895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Norwegian manufacturer, 'world's only one-stop shop' for water treatment equipment. Strong component supplier.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227832"/>
            <a:ext cx="557784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291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North AquaCulture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3319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Denmark/Norway (Oslo office)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575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Founded 2021 by RAS experts. Newer player, growing. Good for component/subsystem work.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913631"/>
            <a:ext cx="55778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Nofitech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4005071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2611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RAS systems with strong academic/research links. Smaller scale.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782312"/>
            <a:ext cx="5577840" cy="32004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837175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NOT RECOMMENDED / EXCLUDED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5166359"/>
            <a:ext cx="557784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52395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Billund Aquaculture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5239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</a:rPr>
              <a:t>BANKRUPT 2024 — AKVA Group has taken over some of their projects. Critical risk flag for any existing Billund installations.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5605271"/>
            <a:ext cx="557784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5678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Clewer Aquaculture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5678423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4A6"/>
                </a:solidFill>
              </a:rPr>
              <a:t>Finnish, limited Norwegian presence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5303520"/>
            <a:ext cx="5577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5376672"/>
            <a:ext cx="5577840" cy="932688"/>
          </a:xfrm>
          <a:prstGeom prst="rect">
            <a:avLst/>
          </a:prstGeom>
          <a:solidFill>
            <a:srgbClr val="2A1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5413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⚠  LOCK-IN / DEPENDENCY WARNING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574243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AKVA's RAS software and control systems are proprietary. Switching post-installation is costly (est. 6–18 months, EUR 2–5M). Negotiate open-architecture and data portability at contract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HVAC &amp; Ventilation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Specialised aquaculture HVAC — humidity control, CO2/H2S ventilation, temperature management, energy recovery for RAS buildings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SUPPLY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143000"/>
            <a:ext cx="16002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SPEND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5-8% of total capex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TIER 1 — RECOMMENDED FOR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5577840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42032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596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2432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Sweden (global)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9260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Global leader in aquaculture HVAC. Dedicated aquaculture division. Trusted by MOWI, Cermaq, SalMar.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291839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30098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Lead times 6–9 months. Premium pricing.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1"/>
            <a:ext cx="5577840" cy="10241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39311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6941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Swegon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72160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Sweden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0233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Industrial HVAC with aquaculture adaptations. More cost-competitive than Munters.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389120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3982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Less aquaculture-specific than Munters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TIER 2 — MONITOR / CONDITIONAL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542032"/>
            <a:ext cx="55778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606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Systemair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6334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Sweden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8895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General industrial HVAC — can serve aquaculture but lacks specialist expertise.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227832"/>
            <a:ext cx="557784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91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Local Norwegian HVAC contractors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319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575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For installation and maintenance — not design/supply of specialist equipment.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303520"/>
            <a:ext cx="5577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5376672"/>
            <a:ext cx="5577840" cy="932688"/>
          </a:xfrm>
          <a:prstGeom prst="rect">
            <a:avLst/>
          </a:prstGeom>
          <a:solidFill>
            <a:srgbClr val="2A1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413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⚠  LOCK-IN / DEPENDENCY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74243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Munters systems are highly proprietary — service and spare parts locked to their ecosystem. Negotiate long-term service agreements at point of sale, not after installation.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Electrical, SCADA &amp;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Plant-wide electrical infrastructure, process control (SCADA), sensors, monitoring, MCC panels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SUPPLY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143000"/>
            <a:ext cx="16002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143000"/>
            <a:ext cx="16002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SPEND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8-12% of total capex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TIER 1 — RECOMMENDED FOR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5577840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42032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596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ABB Norway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2432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 (Oslo)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9260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Dedicated aquaculture automation division in Norway. Full SCADA capability. Strong local service.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291839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30098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Proprietary DCS — lock-in risk if integrated with all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1"/>
            <a:ext cx="5577840" cy="10241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39311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6941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Siemens Norway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72160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0233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Industrial SCADA, PLC and MCC expertise. Very strong in Norwegian industry.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389120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3982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High lock-in — Siemens TIA Portal ecosystem is sticky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36592"/>
            <a:ext cx="5577840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736592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79145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818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France/Norway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EcoStruxure platform — more open architecture than competitors. Growing aquaculture footprint.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5486400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549554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Less aquaculture-specific than ABB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TIER 2 — MONITOR / CONDITIONAL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542032"/>
            <a:ext cx="55778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606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ScaleAQ (digital/software)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26334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8895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Aquaculture-native SCADA and production management software. Best-of-breed for fish production data — but lock-in risk is VERY high.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227832"/>
            <a:ext cx="557784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291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AquaCloud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3319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575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Cloud-based aquaculture data platform. Open architecture — a way to reduce SCADA lock-in.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303520"/>
            <a:ext cx="5577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5376672"/>
            <a:ext cx="5577840" cy="932688"/>
          </a:xfrm>
          <a:prstGeom prst="rect">
            <a:avLst/>
          </a:prstGeom>
          <a:solidFill>
            <a:srgbClr val="2A1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413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⚠  LOCK-IN / DEPENDENCY WARNING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74243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⚠️ HIGHEST LOCK-IN RISK IN CATEGORY. SCADA systems from any of these vendors become deeply embedded. Key ask: insist on open data protocols (OPC-UA), data portability guarantees, and avoid sole-source integration at contract stage.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Oxygen &amp; Gas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Liquid oxygen supply, oxygenation equipment, CO2 stripping systems — critical for fish survival in 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SUPPLY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143000"/>
            <a:ext cx="1600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143000"/>
            <a:ext cx="16002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SPEND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630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3-5% capex + signifi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TIER 1 — RECOMMENDED FOR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5577840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42032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596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AGA (Linde Group)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2432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Finland/Norway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9260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Dominant in Norwegian aquaculture. Nationwide logistics, reliable supply chain.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291839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30098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Near-monopoly in some regions — limited negotiating leverage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1"/>
            <a:ext cx="5577840" cy="10241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39311"/>
            <a:ext cx="73152" cy="10241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6941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Air Liquide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72160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France/Norway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0233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Global scale, competitive on large-volume contracts.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389120"/>
            <a:ext cx="5303520" cy="219456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3982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⚠  Logistics in Northern Norway can be challenging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103120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148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TIER 2 — MONITOR / CONDITIONAL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542032"/>
            <a:ext cx="55778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606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Linde Gas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6334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Germany/Norway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8895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Part of same group as AGA — effectively limits choice in practice.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227832"/>
            <a:ext cx="557784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91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Yara Industrial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319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Norway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575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</a:rPr>
              <a:t>CO2 supply and industrial gases — relevant for CO2 stripping applications.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303520"/>
            <a:ext cx="5577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5376672"/>
            <a:ext cx="5577840" cy="932688"/>
          </a:xfrm>
          <a:prstGeom prst="rect">
            <a:avLst/>
          </a:prstGeom>
          <a:solidFill>
            <a:srgbClr val="2A1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413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⚠  LOCK-IN / DEPENDENCY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74243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Infrastructure lock-in: onsite tanks and pipework installed by AGA/Air Liquide create switching friction. Negotiate multi-year pricing caps at build stage. Consider onsite O2 generation (Oxymat, Novair) to reduce dependency for large facilities.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4A6"/>
                </a:solidFill>
              </a:rPr>
              <a:t>STRATEGIC SOURCING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BD9"/>
                </a:solidFill>
              </a:rPr>
              <a:t>Fish Production Plant — Supply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554480"/>
            <a:ext cx="7616952" cy="457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Cermaq's primary risk in this supply market is over-dependence on AKVA Group. With AKVA already the RAS integrator (Hasvik contract), also awarding feed systems and SCADA creates a single-vendor ecosystem with limited exit options. Recommended strategy: (1) Appoint AKVA for RAS integration but insist on open-architecture SCADA and data portability in the contract. (2) Source feed systems independently (IFF or Arvo-Tec). (3) Engage Munters early for HVAC — 6–9 month lead time is a programme risk. (4) Run competitive tender for civil construction — capacity is the constraint, not capability. (5) Lock oxygen supply pricing at build stage via multi-year contract with capex for onsite generation feasibility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9BD9"/>
                </a:solidFill>
              </a:rPr>
              <a:t>IMMEDIATE ACTIONS (NEXT 30 DAYS)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11880"/>
            <a:ext cx="2560320" cy="173736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30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BD9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221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Engage Munters immediately — HVAC lead times will be your first programme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611880"/>
            <a:ext cx="2560320" cy="173736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361188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39" y="3630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BD9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8221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Negotiate open-architecture and data portability clauses into the AKVA contract before signing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611880"/>
            <a:ext cx="2560320" cy="173736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61188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3630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BD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8221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Run civil construction tender now — Northern Norway contractor capacity is being absorbed by energy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3611880"/>
            <a:ext cx="2560320" cy="173736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361188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3630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BD9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38221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Lock oxygen pricing — AGA/Air Liquide multi-year contract with capex for onsite O2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BD9"/>
                </a:solidFill>
              </a:rPr>
              <a:t>AI-POWERED PROCUREMENT INTELLIGENCE  |  JONATHON MILNE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Cermaq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