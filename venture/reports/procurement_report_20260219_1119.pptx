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645920"/>
            <a:ext cx="12024360" cy="45720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3474720" cy="457200"/>
          </a:xfrm>
          <a:prstGeom prst="rect">
            <a:avLst/>
          </a:prstGeom>
          <a:solidFill>
            <a:srgbClr val="1C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BD9"/>
                </a:solidFill>
              </a:rPr>
              <a:t>SUPPLIER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Sample Supplier 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0C4DE"/>
                </a:solidFill>
              </a:rPr>
              <a:t>Engineering Services — Offshore Renewables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46120"/>
            <a:ext cx="5486400" cy="36576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429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94A6"/>
                </a:solidFill>
              </a:rPr>
              <a:t>PREPARED FOR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4290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Seabased 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130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94A6"/>
                </a:solidFill>
              </a:rPr>
              <a:t>PREPARED BY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381304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Jonathon Milne  |  AI-Powered Procurement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9709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94A6"/>
                </a:solidFill>
              </a:rPr>
              <a:t>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4197096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19 February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8114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94A6"/>
                </a:solidFill>
              </a:rPr>
              <a:t>CLASSIFICATION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581144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Confidential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C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3550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BD9"/>
                </a:solidFill>
              </a:rPr>
              <a:t>AI-POWERED PROCUREMENT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Sample Supplier AS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4A6"/>
                </a:solidFill>
              </a:rPr>
              <a:t>Prepared for: Seabased 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65653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94A6"/>
                </a:solidFill>
              </a:rPr>
              <a:t>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56539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94A6"/>
                </a:solidFill>
              </a:rPr>
              <a:t>19 February 2026  | 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88720"/>
            <a:ext cx="2560320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1887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OVERALL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57276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0" y="1188720"/>
            <a:ext cx="5029200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8960" y="1188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A94A6"/>
                </a:solidFill>
              </a:rPr>
              <a:t>RECOMMENDATION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1536192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9BD9"/>
                </a:solidFill>
              </a:rPr>
              <a:t>APPROVE WITH CONDITIONS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468880"/>
            <a:ext cx="777240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51460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BD9"/>
                </a:solidFill>
              </a:rPr>
              <a:t>KEY FINDINGS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926080"/>
            <a:ext cx="320040" cy="320040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9260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926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Supplier has 8-year track record in offshore cable installation with DNV GL certification.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493008"/>
            <a:ext cx="320040" cy="320040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49300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49300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Financial health is stable but thin cash reserves (~3 months runway) create delivery risk.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059936"/>
            <a:ext cx="320040" cy="320040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05993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059936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No qualified alternative supplier identified in the Nordic market — concentration risk is HIGH.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626864"/>
            <a:ext cx="320040" cy="320040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462686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626864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ESG credentials are limited — no published sustainability report, though no adverse findings.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12480" y="1188720"/>
            <a:ext cx="3566160" cy="5029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0" y="12344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9BD9"/>
                </a:solidFill>
              </a:rPr>
              <a:t>CONDITIONS / WATCH POINTS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1691640"/>
            <a:ext cx="201168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0" y="164592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Request audited financials (FY2024) prior to contract execution.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03920" y="2286000"/>
            <a:ext cx="201168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78240" y="22402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Cap initial contract value at NOK 5M pending performance review.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03920" y="2880360"/>
            <a:ext cx="201168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78240" y="283464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Include 6-month break clause tied to delivery KPIs.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03920" y="3474720"/>
            <a:ext cx="201168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0" y="342900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Require key-person clause for lead engineer.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Risk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Sample Supplier AS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4A6"/>
                </a:solidFill>
              </a:rPr>
              <a:t>Prepared for: Seabased 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65653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94A6"/>
                </a:solidFill>
              </a:rPr>
              <a:t>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56539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94A6"/>
                </a:solidFill>
              </a:rPr>
              <a:t>19 February 2026  | 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143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4A6"/>
                </a:solidFill>
              </a:rPr>
              <a:t>Risk Category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143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4A6"/>
                </a:solidFill>
              </a:rPr>
              <a:t>Rating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11430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4A6"/>
                </a:solidFill>
              </a:rPr>
              <a:t>Key Driver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444752"/>
            <a:ext cx="11430000" cy="36576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1572768"/>
            <a:ext cx="1143000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737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Financial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39" y="1737360"/>
            <a:ext cx="128016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39" y="17373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1682495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Stable revenue, but limited cash reserves. Monitor closely.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258568"/>
            <a:ext cx="11430000" cy="640080"/>
          </a:xfrm>
          <a:prstGeom prst="rect">
            <a:avLst/>
          </a:prstGeom>
          <a:solidFill>
            <a:srgbClr val="16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423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Operational/Delivery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49039" y="2423160"/>
            <a:ext cx="128016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9039" y="24231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2368296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Strong 8-year track record, certified to DNV GL standards.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944368"/>
            <a:ext cx="1143000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1089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Geopolitical/Country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49039" y="3108960"/>
            <a:ext cx="128016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49039" y="31089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054096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Norwegian-registered entity, fully EU/EEA compliant.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630168"/>
            <a:ext cx="11430000" cy="640080"/>
          </a:xfrm>
          <a:prstGeom prst="rect">
            <a:avLst/>
          </a:prstGeom>
          <a:solidFill>
            <a:srgbClr val="16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79475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Concentration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49039" y="3794759"/>
            <a:ext cx="1280160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49039" y="3794759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0" y="3739896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Only qualified supplier in Nordic market. No alternative identified.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315968"/>
            <a:ext cx="1143000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448055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ESG &amp; Compliance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49039" y="4480559"/>
            <a:ext cx="128016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39" y="4480559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0" y="4425696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No sustainability report. Sanctions screening: CLEAR.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001768"/>
            <a:ext cx="11430000" cy="640080"/>
          </a:xfrm>
          <a:prstGeom prst="rect">
            <a:avLst/>
          </a:prstGeom>
          <a:solidFill>
            <a:srgbClr val="16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516635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Reputational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749039" y="5166359"/>
            <a:ext cx="128016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49039" y="5166359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LOW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03520" y="5111496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No adverse media findings across 3-year monitoring window.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Commercial Intelligence &amp; Negotiation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Sample Supplier AS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4A6"/>
                </a:solidFill>
              </a:rPr>
              <a:t>Prepared for: Seabased 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65653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94A6"/>
                </a:solidFill>
              </a:rPr>
              <a:t>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56539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94A6"/>
                </a:solidFill>
              </a:rPr>
              <a:t>19 February 2026  |  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43000"/>
            <a:ext cx="5394960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1887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BD9"/>
                </a:solidFill>
              </a:rPr>
              <a:t>MARKET PRICING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600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4A6"/>
                </a:solidFill>
              </a:rPr>
              <a:t>Item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600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4A6"/>
                </a:solidFill>
              </a:rPr>
              <a:t>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1600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4A6"/>
                </a:solidFill>
              </a:rPr>
              <a:t>Mid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600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4A6"/>
                </a:solidFill>
              </a:rPr>
              <a:t>High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920240"/>
            <a:ext cx="5394960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199339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Day rate (senior engineer)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199339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0B981"/>
                </a:solidFill>
              </a:rPr>
              <a:t>12,000 NOK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199339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9E0B"/>
                </a:solidFill>
              </a:rPr>
              <a:t>15,000 NOK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199339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F4444"/>
                </a:solidFill>
              </a:rPr>
              <a:t>18,500 NOK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331720"/>
            <a:ext cx="5394960" cy="384048"/>
          </a:xfrm>
          <a:prstGeom prst="rect">
            <a:avLst/>
          </a:prstGeom>
          <a:solidFill>
            <a:srgbClr val="16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4048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Mobilisation fee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240487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0B981"/>
                </a:solidFill>
              </a:rPr>
              <a:t>50,000 NOK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240487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9E0B"/>
                </a:solidFill>
              </a:rPr>
              <a:t>85,000 NOK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240487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F4444"/>
                </a:solidFill>
              </a:rPr>
              <a:t>120,000 NOK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743200"/>
            <a:ext cx="5394960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281635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Typical project value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28163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0B981"/>
                </a:solidFill>
              </a:rPr>
              <a:t>500K NOK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28163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9E0B"/>
                </a:solidFill>
              </a:rPr>
              <a:t>1.2M NOK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28163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F4444"/>
                </a:solidFill>
              </a:rPr>
              <a:t>3M+ NOK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154680"/>
            <a:ext cx="5394960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2004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BD9"/>
                </a:solidFill>
              </a:rPr>
              <a:t>NEGOTIATION LEVERAGE POINTS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611880"/>
            <a:ext cx="274320" cy="274320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3192" y="3630168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3611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Multi-year commitment (2–3 year frame agreement) unlocks 10–15% rate discount.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114800"/>
            <a:ext cx="274320" cy="274320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" y="4133087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1148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Reference value: Seabased's profile gives the supplier a marquee client for marketing.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617720"/>
            <a:ext cx="274320" cy="274320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3192" y="4636008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46177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Early engagement before peak season (Q1) gives scheduling leverage over competitors.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5120640"/>
            <a:ext cx="274320" cy="274320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3192" y="5138928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1206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Volume guarantee across multiple projects reduces their mobilisation cost per project.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1143000"/>
            <a:ext cx="5577840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55080" y="11887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BD9"/>
                </a:solidFill>
              </a:rPr>
              <a:t>RECOMMENDED CONTRACT TERMS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1600200"/>
            <a:ext cx="557784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169164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Payment terms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06840" y="169164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Net 30–45 days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17920" y="2075688"/>
            <a:ext cx="5577840" cy="457200"/>
          </a:xfrm>
          <a:prstGeom prst="rect">
            <a:avLst/>
          </a:prstGeom>
          <a:solidFill>
            <a:srgbClr val="16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55080" y="216712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Contract length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06840" y="216712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12–24 month frame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17920" y="2551176"/>
            <a:ext cx="557784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55080" y="264261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Price escalation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06840" y="264261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CPI-linked, annual review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17920" y="3026664"/>
            <a:ext cx="5577840" cy="457200"/>
          </a:xfrm>
          <a:prstGeom prst="rect">
            <a:avLst/>
          </a:prstGeom>
          <a:solidFill>
            <a:srgbClr val="16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55080" y="311810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Liability cap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06840" y="3118104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1× annual contract value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17920" y="3502152"/>
            <a:ext cx="557784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55080" y="359359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Termination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06840" y="359359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90 days notice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217920" y="3977639"/>
            <a:ext cx="5577840" cy="457200"/>
          </a:xfrm>
          <a:prstGeom prst="rect">
            <a:avLst/>
          </a:prstGeom>
          <a:solidFill>
            <a:srgbClr val="16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55080" y="4069079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Performance KPIs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06840" y="4069079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Negotiable — push for monthly scorecard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C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A94A6"/>
                </a:solidFill>
              </a:rPr>
              <a:t>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9BD9"/>
                </a:solidFill>
              </a:rPr>
              <a:t>APPROVE WITH CONDITIONS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011680"/>
            <a:ext cx="6702552" cy="45720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E"/>
                </a:solidFill>
              </a:rPr>
              <a:t>Supplier demonstrates the technical capability and track record required. Financial risk is manageable with appropriate contract protections. Concentration risk is the primary concern — recommend proceeding while actively developing an alternative supplier pipeline in parallel.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9BD9"/>
                </a:solidFill>
              </a:rPr>
              <a:t>RECOMMENDED NEXT STEPS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931920"/>
            <a:ext cx="2560320" cy="1645920"/>
          </a:xfrm>
          <a:prstGeom prst="rect">
            <a:avLst/>
          </a:prstGeom>
          <a:solidFill>
            <a:srgbClr val="1C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931920"/>
            <a:ext cx="2560320" cy="109728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1148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Request audited FY2024 financials before contract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349240"/>
            <a:ext cx="2560320" cy="320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3766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9BD9"/>
                </a:solidFill>
              </a:rPr>
              <a:t>Immediate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3931920"/>
            <a:ext cx="2560320" cy="1645920"/>
          </a:xfrm>
          <a:prstGeom prst="rect">
            <a:avLst/>
          </a:prstGeom>
          <a:solidFill>
            <a:srgbClr val="1C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91840" y="3931920"/>
            <a:ext cx="2560320" cy="109728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41148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Reference call with 2 existing customers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5349240"/>
            <a:ext cx="2560320" cy="320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53766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9BD9"/>
                </a:solidFill>
              </a:rPr>
              <a:t>Within 30 days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3931920"/>
            <a:ext cx="2560320" cy="1645920"/>
          </a:xfrm>
          <a:prstGeom prst="rect">
            <a:avLst/>
          </a:prstGeom>
          <a:solidFill>
            <a:srgbClr val="1C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3931920"/>
            <a:ext cx="2560320" cy="109728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41148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Negotiate net-45 payment and 2-year frame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5349240"/>
            <a:ext cx="2560320" cy="320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53766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9BD9"/>
                </a:solidFill>
              </a:rPr>
              <a:t>Negotiation phase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20" y="3931920"/>
            <a:ext cx="2560320" cy="1645920"/>
          </a:xfrm>
          <a:prstGeom prst="rect">
            <a:avLst/>
          </a:prstGeom>
          <a:solidFill>
            <a:srgbClr val="1C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61120" y="3931920"/>
            <a:ext cx="2560320" cy="109728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0" y="41148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Begin alternative supplier qualification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0" y="5349240"/>
            <a:ext cx="2560320" cy="320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53766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9BD9"/>
                </a:solidFill>
              </a:rPr>
              <a:t>Q3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9BD9"/>
                </a:solidFill>
              </a:rPr>
              <a:t>AI-POWERED PROCUREMENT INTELLIGENCE  |  JONATHON MILNE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5653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4A6"/>
                </a:solidFill>
              </a:rPr>
              <a:t>Prepared for: Seabased 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65653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94A6"/>
                </a:solidFill>
              </a:rPr>
              <a:t>CONFIDENTIAL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656539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94A6"/>
                </a:solidFill>
              </a:rPr>
              <a:t>19 February 2026  | 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