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88952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8096"/>
                </a:solidFill>
              </a:rPr>
              <a:t>SUPPLIER EVALUATION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Nel ASA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DC"/>
                </a:solidFill>
              </a:rPr>
              <a:t>Hydrogen Electrolysers | Alkaline &amp; PEM | 1 GW+ Manufacturing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977639"/>
            <a:ext cx="4114800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2DC"/>
                </a:solidFill>
              </a:rPr>
              <a:t>NOK 1,614M Order Backlog | ~550 Employees | Oslo Bors Listed | Founded 1927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8096"/>
                </a:solidFill>
              </a:rPr>
              <a:t>Confidential | March 2026 | Manu Forti Intelligence</a:t>
            </a:r>
          </a:p>
        </p:txBody>
      </p:sp>
      <p:pic>
        <p:nvPicPr>
          <p:cNvPr id="10" name="Picture 9" descr="manu_for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Nel ASA - Risk &amp; Suitability Overview</a:t>
            </a:r>
          </a:p>
        </p:txBody>
      </p:sp>
      <p:pic>
        <p:nvPicPr>
          <p:cNvPr id="5" name="Picture 4" descr="01_risk_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583680" cy="2834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960120"/>
            <a:ext cx="4937760" cy="51206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1155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SUPPLIER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49961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Supplier: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49961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Nel ASA (OSE: NEL)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77393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Type: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7393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Public Company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4825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Sector: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04825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Hydrogen Electrolysers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32257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HQ: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32257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Oslo, Norway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59689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Founded: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59689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1927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87121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Employees: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87121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~550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14553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Revenue: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14553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1.6B (2024)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41985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Order Backlog: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41985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1.6B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69417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Cash: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69417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1.9B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96849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Manufacturing: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96849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1.5 GW Capacity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4773168"/>
            <a:ext cx="6583680" cy="1307592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737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Key Findings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66360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Leading Nordic hydrogen electrolyser manufacturer with 1+ GW capacity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13248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Dual technology: Alkaline (Heroya, Norway) and PEM (Wallingford, US)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660136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Negative EBITDA but strong cash position (NOK 1.9B) and order backlog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07024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ESG leader: Enabling green hydrogen economy; strong environmental profile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35" name="Picture 34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Decision Summary &amp; Commercial Conditions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74552" cy="12344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⚠ RECOMMENDATION: CONDITIONAL APPROVAL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Nel is a technically capable, established electrolyser manufacturer with strong ESG credentials and manufacturing scale. However, negative EBITDA and order backlog decline require enhanced due diligence and milestone-based engagement.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Commercial Conditions</a:t>
            </a:r>
          </a:p>
          <a:p>
            <a:r>
              <a:rPr sz="1100">
                <a:solidFill>
                  <a:srgbClr val="1A202C"/>
                </a:solidFill>
              </a:rPr>
              <a:t>• Payment: Milestone-based (no advance payment)</a:t>
            </a:r>
          </a:p>
          <a:p>
            <a:r>
              <a:rPr sz="1100">
                <a:solidFill>
                  <a:srgbClr val="1A202C"/>
                </a:solidFill>
              </a:rPr>
              <a:t>• Performance bonds: 10-15% of contract value</a:t>
            </a:r>
          </a:p>
          <a:p>
            <a:r>
              <a:rPr sz="1100">
                <a:solidFill>
                  <a:srgbClr val="1A202C"/>
                </a:solidFill>
              </a:rPr>
              <a:t>• Liquidated damages: For delivery delays</a:t>
            </a:r>
          </a:p>
          <a:p>
            <a:r>
              <a:rPr sz="1100">
                <a:solidFill>
                  <a:srgbClr val="1A202C"/>
                </a:solidFill>
              </a:rPr>
              <a:t>• Parent guarantee: Not applicable (public company)</a:t>
            </a:r>
          </a:p>
          <a:p>
            <a:r>
              <a:rPr sz="1100">
                <a:solidFill>
                  <a:srgbClr val="1A202C"/>
                </a:solidFill>
              </a:rPr>
              <a:t>• Local entity: Norwegian contract preferred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423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Enhanced Due Diligence (Mandatory)</a:t>
            </a:r>
          </a:p>
          <a:p>
            <a:r>
              <a:rPr sz="1100">
                <a:solidFill>
                  <a:srgbClr val="1A202C"/>
                </a:solidFill>
              </a:rPr>
              <a:t>• Review latest quarterly financials (Q4 2024)</a:t>
            </a:r>
          </a:p>
          <a:p>
            <a:r>
              <a:rPr sz="1100">
                <a:solidFill>
                  <a:srgbClr val="1A202C"/>
                </a:solidFill>
              </a:rPr>
              <a:t>• Verify order backlog quality and customer creditworthiness</a:t>
            </a:r>
          </a:p>
          <a:p>
            <a:r>
              <a:rPr sz="1100">
                <a:solidFill>
                  <a:srgbClr val="1A202C"/>
                </a:solidFill>
              </a:rPr>
              <a:t>• Site visit: Heroya manufacturing facility</a:t>
            </a:r>
          </a:p>
          <a:p>
            <a:r>
              <a:rPr sz="1100">
                <a:solidFill>
                  <a:srgbClr val="1A202C"/>
                </a:solidFill>
              </a:rPr>
              <a:t>• Technology validation: Independent electrolyser efficiency test</a:t>
            </a:r>
          </a:p>
          <a:p>
            <a:r>
              <a:rPr sz="1100">
                <a:solidFill>
                  <a:srgbClr val="1A202C"/>
                </a:solidFill>
              </a:rPr>
              <a:t>• Reference checks: Existing utility customers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892040"/>
            <a:ext cx="11274552" cy="13716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Overall Risk Summary - MEDIUM (48/100)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147"/>
                </a:solidFill>
              </a:rPr>
              <a:t>Financial: 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Negative EBITDA; strong cash 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147"/>
                </a:solidFill>
              </a:rPr>
              <a:t>Operational: 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Proven manufacturing; 1+ GW capacity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147"/>
                </a:solidFill>
              </a:rPr>
              <a:t>Geopolitical: 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Norwegian-based; stable jurisdiction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147"/>
                </a:solidFill>
              </a:rPr>
              <a:t>ESG: 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Green hydrogen enabler; strong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21" name="Picture 20" descr="manu_for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SUPPLIER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Corporate Structure &amp; Global Footprint</a:t>
            </a:r>
          </a:p>
        </p:txBody>
      </p:sp>
      <p:pic>
        <p:nvPicPr>
          <p:cNvPr id="5" name="Picture 4" descr="02_or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498079" cy="4096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96012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Company Overview</a:t>
            </a:r>
          </a:p>
          <a:p>
            <a:r>
              <a:rPr sz="1100">
                <a:solidFill>
                  <a:srgbClr val="1A202C"/>
                </a:solidFill>
              </a:rPr>
              <a:t>• Nel ASA is a leading global hydrogen</a:t>
            </a:r>
          </a:p>
          <a:p>
            <a:r>
              <a:rPr sz="1100">
                <a:solidFill>
                  <a:srgbClr val="1A202C"/>
                </a:solidFill>
              </a:rPr>
              <a:t>• company specializing in electrolyser</a:t>
            </a:r>
          </a:p>
          <a:p>
            <a:r>
              <a:rPr sz="1100">
                <a:solidFill>
                  <a:srgbClr val="1A202C"/>
                </a:solidFill>
              </a:rPr>
              <a:t>• technology for production of green</a:t>
            </a:r>
          </a:p>
          <a:p>
            <a:r>
              <a:rPr sz="1100">
                <a:solidFill>
                  <a:srgbClr val="1A202C"/>
                </a:solidFill>
              </a:rPr>
              <a:t>• hydrogen from renewable energy.</a:t>
            </a:r>
          </a:p>
          <a:p>
            <a:r>
              <a:rPr sz="1100">
                <a:solidFill>
                  <a:srgbClr val="1A202C"/>
                </a:solidFill>
              </a:rPr>
              <a:t>• </a:t>
            </a:r>
          </a:p>
          <a:p>
            <a:r>
              <a:rPr sz="1100">
                <a:solidFill>
                  <a:srgbClr val="1A202C"/>
                </a:solidFill>
              </a:rPr>
              <a:t>• Founded 1927; spun out as dedicated</a:t>
            </a:r>
          </a:p>
          <a:p>
            <a:r>
              <a:rPr sz="1100">
                <a:solidFill>
                  <a:srgbClr val="1A202C"/>
                </a:solidFill>
              </a:rPr>
              <a:t>• hydrogen company in 2015. Listed on</a:t>
            </a:r>
          </a:p>
          <a:p>
            <a:r>
              <a:rPr sz="1100">
                <a:solidFill>
                  <a:srgbClr val="1A202C"/>
                </a:solidFill>
              </a:rPr>
              <a:t>• Oslo Bors (OSE: NEL).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411480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Leadership &amp; Operations</a:t>
            </a:r>
          </a:p>
          <a:p>
            <a:r>
              <a:rPr sz="1100">
                <a:solidFill>
                  <a:srgbClr val="1A202C"/>
                </a:solidFill>
              </a:rPr>
              <a:t>• CEO: Håkon Volldal</a:t>
            </a:r>
          </a:p>
          <a:p>
            <a:r>
              <a:rPr sz="1100">
                <a:solidFill>
                  <a:srgbClr val="1A202C"/>
                </a:solidFill>
              </a:rPr>
              <a:t>•   (appointed July 2022)</a:t>
            </a:r>
          </a:p>
          <a:p>
            <a:r>
              <a:rPr sz="1100">
                <a:solidFill>
                  <a:srgbClr val="1A202C"/>
                </a:solidFill>
              </a:rPr>
              <a:t>• </a:t>
            </a:r>
          </a:p>
          <a:p>
            <a:r>
              <a:rPr sz="1100">
                <a:solidFill>
                  <a:srgbClr val="1A202C"/>
                </a:solidFill>
              </a:rPr>
              <a:t>• HQ: Oslo, Norway</a:t>
            </a:r>
          </a:p>
          <a:p>
            <a:r>
              <a:rPr sz="1100">
                <a:solidFill>
                  <a:srgbClr val="1A202C"/>
                </a:solidFill>
              </a:rPr>
              <a:t>• Manufacturing: Heroya (NO),</a:t>
            </a:r>
          </a:p>
          <a:p>
            <a:r>
              <a:rPr sz="1100">
                <a:solidFill>
                  <a:srgbClr val="1A202C"/>
                </a:solidFill>
              </a:rPr>
              <a:t>•   Wallingford (US)</a:t>
            </a:r>
          </a:p>
          <a:p>
            <a:r>
              <a:rPr sz="1100">
                <a:solidFill>
                  <a:srgbClr val="1A202C"/>
                </a:solidFill>
              </a:rPr>
              <a:t>• </a:t>
            </a:r>
          </a:p>
          <a:p>
            <a:r>
              <a:rPr sz="1100">
                <a:solidFill>
                  <a:srgbClr val="1A202C"/>
                </a:solidFill>
              </a:rPr>
              <a:t>• R&amp;D: GM partnership (PEM)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9" name="Picture 8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FINANCIAL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Revenue &amp; EBITDA Trajectory 2021-2024 | Listed on Oslo Bors</a:t>
            </a:r>
          </a:p>
        </p:txBody>
      </p:sp>
      <p:pic>
        <p:nvPicPr>
          <p:cNvPr id="5" name="Picture 4" descr="03_finan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85800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0058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Financial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42646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2024 Revenue: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142646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1,600M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70078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2023 Revenue: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170078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1,253M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97510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Revenue Growth: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197510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+28% YoY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24942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EBITDA 2024: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24942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9E2E"/>
                </a:solidFill>
              </a:rPr>
              <a:t>NOK -275M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52374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EBITDA Margin: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252374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9E2E"/>
                </a:solidFill>
              </a:rPr>
              <a:t>-17.2%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79806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Order Backlog: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279806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1,614M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07238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Cash Balance: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307238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1,876M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34670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Total Debt: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334670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8BB78"/>
                </a:solidFill>
              </a:rPr>
              <a:t>NOK 0M (Debt-free)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3703320"/>
            <a:ext cx="4389120" cy="402336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37673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Financial Risk: MEDIUM 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206240"/>
            <a:ext cx="4389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147"/>
                </a:solidFill>
              </a:rPr>
              <a:t>Exposure Guidance</a:t>
            </a:r>
          </a:p>
          <a:p>
            <a:r>
              <a:rPr sz="1000">
                <a:solidFill>
                  <a:srgbClr val="1A202C"/>
                </a:solidFill>
              </a:rPr>
              <a:t>• Negative EBITDA but strong cash buffer</a:t>
            </a:r>
          </a:p>
          <a:p>
            <a:r>
              <a:rPr sz="1000">
                <a:solidFill>
                  <a:srgbClr val="1A202C"/>
                </a:solidFill>
              </a:rPr>
              <a:t>• Public company - full financial disclosure</a:t>
            </a:r>
          </a:p>
          <a:p>
            <a:r>
              <a:rPr sz="1000">
                <a:solidFill>
                  <a:srgbClr val="1A202C"/>
                </a:solidFill>
              </a:rPr>
              <a:t>• Milestone-based payments recommended</a:t>
            </a:r>
          </a:p>
          <a:p>
            <a:r>
              <a:rPr sz="1000">
                <a:solidFill>
                  <a:srgbClr val="1A202C"/>
                </a:solidFill>
              </a:rPr>
              <a:t>• Monitor quarterly results for improvement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27" name="Picture 26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MARKET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Hydrogen Electrolyser Market Position - Global Players</a:t>
            </a:r>
          </a:p>
        </p:txBody>
      </p:sp>
      <p:pic>
        <p:nvPicPr>
          <p:cNvPr id="5" name="Picture 4" descr="04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315200" cy="40782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00584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Competitive Landscape</a:t>
            </a:r>
          </a:p>
          <a:p>
            <a:r>
              <a:rPr sz="1100">
                <a:solidFill>
                  <a:srgbClr val="1A202C"/>
                </a:solidFill>
              </a:rPr>
              <a:t>• Nel is a top-4 global electrolyser</a:t>
            </a:r>
          </a:p>
          <a:p>
            <a:r>
              <a:rPr sz="1100">
                <a:solidFill>
                  <a:srgbClr val="1A202C"/>
                </a:solidFill>
              </a:rPr>
              <a:t>• manufacturer with established</a:t>
            </a:r>
          </a:p>
          <a:p>
            <a:r>
              <a:rPr sz="1100">
                <a:solidFill>
                  <a:srgbClr val="1A202C"/>
                </a:solidFill>
              </a:rPr>
              <a:t>• technology and manufacturing scale.</a:t>
            </a:r>
          </a:p>
          <a:p>
            <a:r>
              <a:rPr sz="1100">
                <a:solidFill>
                  <a:srgbClr val="1A202C"/>
                </a:solidFill>
              </a:rPr>
              <a:t>• Competes with German industrial</a:t>
            </a:r>
          </a:p>
          <a:p>
            <a:r>
              <a:rPr sz="1100">
                <a:solidFill>
                  <a:srgbClr val="1A202C"/>
                </a:solidFill>
              </a:rPr>
              <a:t>• giants and emerging players.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926080"/>
            <a:ext cx="4114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Nel Competitive Advantages</a:t>
            </a:r>
          </a:p>
          <a:p>
            <a:r>
              <a:rPr sz="1100">
                <a:solidFill>
                  <a:srgbClr val="1A202C"/>
                </a:solidFill>
              </a:rPr>
              <a:t>• 1+ GW manufacturing capacity</a:t>
            </a:r>
          </a:p>
          <a:p>
            <a:r>
              <a:rPr sz="1100">
                <a:solidFill>
                  <a:srgbClr val="1A202C"/>
                </a:solidFill>
              </a:rPr>
              <a:t>• Dual technology (Alkaline + PEM)</a:t>
            </a:r>
          </a:p>
          <a:p>
            <a:r>
              <a:rPr sz="1100">
                <a:solidFill>
                  <a:srgbClr val="1A202C"/>
                </a:solidFill>
              </a:rPr>
              <a:t>• Norwegian/Nordic green energy access</a:t>
            </a:r>
          </a:p>
          <a:p>
            <a:r>
              <a:rPr sz="1100">
                <a:solidFill>
                  <a:srgbClr val="1A202C"/>
                </a:solidFill>
              </a:rPr>
              <a:t>• US expansion (4 GW Gigafactory planned)</a:t>
            </a:r>
          </a:p>
          <a:p>
            <a:r>
              <a:rPr sz="1100">
                <a:solidFill>
                  <a:srgbClr val="1A202C"/>
                </a:solidFill>
              </a:rPr>
              <a:t>• GM partnership for PEM technology</a:t>
            </a:r>
          </a:p>
          <a:p>
            <a:r>
              <a:rPr sz="1100">
                <a:solidFill>
                  <a:srgbClr val="1A202C"/>
                </a:solidFill>
              </a:rPr>
              <a:t>• Public company transparency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Key Competitors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40096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Thyssenkrupp Nucera - Germany - 3 GW capacity - Industrial giant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05272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Siemens Energy - Germany - 2.5 GW - Energy infrastructure leader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70448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John Cockerill - Belgium - 2 GW - Industrial equipment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35624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ITM Power - UK - 800 MW - PEM specialist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Plug Power - USA - 600 MW - Integrated hydrogen solutions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15" name="Picture 14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OPERATIONAL CAPABILITY &amp; RISK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Milestones &amp; Strategic Investment | Risk Matrix | Capability Summary</a:t>
            </a:r>
          </a:p>
        </p:txBody>
      </p:sp>
      <p:pic>
        <p:nvPicPr>
          <p:cNvPr id="5" name="Picture 4" descr="05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400800" cy="2670048"/>
          </a:xfrm>
          <a:prstGeom prst="rect">
            <a:avLst/>
          </a:prstGeom>
        </p:spPr>
      </p:pic>
      <p:pic>
        <p:nvPicPr>
          <p:cNvPr id="6" name="Picture 5" descr="06_risk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960120"/>
            <a:ext cx="5029200" cy="40782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10235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Risk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3858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Financial: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53858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MEDIUM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53858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Negative EBITDA; strong cash 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6144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Operational: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56144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6144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Proven manufacturing; 1+ GW capacity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8430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Technology: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58430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8430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Mature alkaline + GM PEM partnership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0716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Competition: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60716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60716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Strong German/Chinese competition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3002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Market Timing: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63002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63002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Green hydrogen adoption slower than expected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5102352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147"/>
                </a:solidFill>
              </a:rPr>
              <a:t>Key Capabilities</a:t>
            </a:r>
          </a:p>
          <a:p>
            <a:r>
              <a:rPr sz="1000">
                <a:solidFill>
                  <a:srgbClr val="1A202C"/>
                </a:solidFill>
              </a:rPr>
              <a:t>• Alkaline electrolyser manufacturing (1 GW)</a:t>
            </a:r>
          </a:p>
          <a:p>
            <a:r>
              <a:rPr sz="1000">
                <a:solidFill>
                  <a:srgbClr val="1A202C"/>
                </a:solidFill>
              </a:rPr>
              <a:t>• PEM electrolyser technology (GM partnership)</a:t>
            </a:r>
          </a:p>
          <a:p>
            <a:r>
              <a:rPr sz="1000">
                <a:solidFill>
                  <a:srgbClr val="1A202C"/>
                </a:solidFill>
              </a:rPr>
              <a:t>• Modular, scalable system design</a:t>
            </a:r>
          </a:p>
          <a:p>
            <a:r>
              <a:rPr sz="1000">
                <a:solidFill>
                  <a:srgbClr val="1A202C"/>
                </a:solidFill>
              </a:rPr>
              <a:t>• Global service and support 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25" name="Picture 24" descr="manu_for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COMMERCIAL INTELLIGENCE &amp; PEER RISK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Benchmarking Radar | Peer Risk Profile | Commercial Terms</a:t>
            </a:r>
          </a:p>
        </p:txBody>
      </p:sp>
      <p:pic>
        <p:nvPicPr>
          <p:cNvPr id="5" name="Picture 4" descr="07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303520" cy="4334256"/>
          </a:xfrm>
          <a:prstGeom prst="rect">
            <a:avLst/>
          </a:prstGeom>
        </p:spPr>
      </p:pic>
      <p:pic>
        <p:nvPicPr>
          <p:cNvPr id="6" name="Picture 5" descr="08_peer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914400"/>
            <a:ext cx="6309360" cy="3520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5303520"/>
            <a:ext cx="11612880" cy="13716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349240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147"/>
                </a:solidFill>
              </a:rPr>
              <a:t>Commercial Terms &amp; Negotiation</a:t>
            </a:r>
          </a:p>
          <a:p>
            <a:r>
              <a:rPr sz="1000">
                <a:solidFill>
                  <a:srgbClr val="1A202C"/>
                </a:solidFill>
              </a:rPr>
              <a:t>• Pricing: Competitive vs Siemens/Thyssenkrupp</a:t>
            </a:r>
          </a:p>
          <a:p>
            <a:r>
              <a:rPr sz="1000">
                <a:solidFill>
                  <a:srgbClr val="1A202C"/>
                </a:solidFill>
              </a:rPr>
              <a:t>• Lead time: 12-18 months for large-scale projects</a:t>
            </a:r>
          </a:p>
          <a:p>
            <a:r>
              <a:rPr sz="1000">
                <a:solidFill>
                  <a:srgbClr val="1A202C"/>
                </a:solidFill>
              </a:rPr>
              <a:t>• Payment: Milestone-based recommended</a:t>
            </a:r>
          </a:p>
          <a:p>
            <a:r>
              <a:rPr sz="1000">
                <a:solidFill>
                  <a:srgbClr val="1A202C"/>
                </a:solidFill>
              </a:rPr>
              <a:t>• Warranty: Standard 2-year equipment warranty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3492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147"/>
                </a:solidFill>
              </a:rPr>
              <a:t>Key Watch Points</a:t>
            </a:r>
          </a:p>
          <a:p>
            <a:r>
              <a:rPr sz="1000">
                <a:solidFill>
                  <a:srgbClr val="1A202C"/>
                </a:solidFill>
              </a:rPr>
              <a:t>• ⚠ Monitor quarterly financial results for EBITDA improvement</a:t>
            </a:r>
          </a:p>
          <a:p>
            <a:r>
              <a:rPr sz="1000">
                <a:solidFill>
                  <a:srgbClr val="1A202C"/>
                </a:solidFill>
              </a:rPr>
              <a:t>• ⚠ Track order backlog trend (declined from NOK 2.4B to 1.6B)</a:t>
            </a:r>
          </a:p>
          <a:p>
            <a:r>
              <a:rPr sz="1000">
                <a:solidFill>
                  <a:srgbClr val="1A202C"/>
                </a:solidFill>
              </a:rPr>
              <a:t>• ⚠ Verify US Gigafactory construction timeline</a:t>
            </a:r>
          </a:p>
          <a:p>
            <a:r>
              <a:rPr sz="1000">
                <a:solidFill>
                  <a:srgbClr val="1A202C"/>
                </a:solidFill>
              </a:rPr>
              <a:t>• ⚠ Assess competition from Chinese electrolyser manufacturers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11" name="Picture 10" descr="manu_for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ESG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Environmental, Social &amp; Governance Screening | Overall Rating: LOW</a:t>
            </a:r>
          </a:p>
        </p:txBody>
      </p:sp>
      <p:pic>
        <p:nvPicPr>
          <p:cNvPr id="5" name="Picture 4" descr="09_es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960120"/>
            <a:ext cx="9144000" cy="54223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7" name="Picture 6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