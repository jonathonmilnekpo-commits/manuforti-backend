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SUPPLIER EVALUATION REPORT</a:t>
            </a:r>
          </a:p>
          <a:p>
            <a:r>
              <a:t>ControlPartner AS</a:t>
            </a:r>
          </a:p>
        </p:txBody>
      </p:sp>
      <p:sp>
        <p:nvSpPr>
          <p:cNvPr id="3" name="Subtitle 2"/>
          <p:cNvSpPr>
            <a:spLocks noGrp="1"/>
          </p:cNvSpPr>
          <p:nvPr>
            <p:ph type="subTitle" idx="1"/>
          </p:nvPr>
        </p:nvSpPr>
        <p:spPr/>
        <p:txBody>
          <a:bodyPr/>
          <a:lstStyle/>
          <a:p>
            <a:r>
              <a:t>Industrial Automation &amp; Control Systems</a:t>
            </a:r>
          </a:p>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ControlPartner AS — Risk &amp; Suitability Overview</a:t>
            </a:r>
          </a:p>
          <a:p/>
          <a:p>
            <a:r>
              <a:t>OVERALL RISK: MEDIUM</a:t>
            </a:r>
          </a:p>
          <a:p>
            <a:r>
              <a:t>Risk Score: 48/100</a:t>
            </a:r>
          </a:p>
          <a:p/>
          <a:p>
            <a:r>
              <a:t>Key Insight:</a:t>
            </a:r>
          </a:p>
          <a:p>
            <a:r>
              <a:t>ControlPartner is a well-established Norwegian automation specialist with solid financial health and strong technical capabilities in water infrastructure and maritime sectors. Recent acquisition by Uniwater (Oct 2025) provides strategic backing but introduces integration risks. Limited scale and geographic concentration remain key constraints.</a:t>
            </a:r>
          </a:p>
          <a:p/>
          <a:p>
            <a:r>
              <a:t>Risk Factors:</a:t>
            </a:r>
          </a:p>
          <a:p/>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a:t>
            </a:r>
          </a:p>
        </p:txBody>
      </p:sp>
      <p:sp>
        <p:nvSpPr>
          <p:cNvPr id="3" name="Content Placeholder 2"/>
          <p:cNvSpPr>
            <a:spLocks noGrp="1"/>
          </p:cNvSpPr>
          <p:nvPr>
            <p:ph idx="1"/>
          </p:nvPr>
        </p:nvSpPr>
        <p:spPr/>
        <p:txBody>
          <a:bodyPr/>
          <a:lstStyle/>
          <a:p>
            <a:r>
              <a:t>RECOMMENDATION: APPROVE with CONDITIONS</a:t>
            </a:r>
          </a:p>
          <a:p/>
          <a:p>
            <a:r>
              <a:t>ControlPartner AS is recommended for Industrial Automation &amp; Control Systems.</a:t>
            </a:r>
          </a:p>
          <a:p/>
          <a:p>
            <a:r>
              <a:t>Commercial Conditions:</a:t>
            </a:r>
          </a:p>
          <a:p>
            <a:r>
              <a:t>• Confirm Uniwater acquisition completion and integration plan</a:t>
            </a:r>
          </a:p>
          <a:p>
            <a:r>
              <a:t>• Obtain parent company guarantee for contracts &gt;NOK 10M</a:t>
            </a:r>
          </a:p>
          <a:p>
            <a:r>
              <a:t>• Require key person retention clauses for critical project personnel</a:t>
            </a:r>
          </a:p>
          <a:p>
            <a:r>
              <a:t>• Establish clear escalation path to Uniwater management for dispute resolution</a:t>
            </a:r>
          </a:p>
          <a:p>
            <a:r>
              <a:t>• Conduct site audit of Porsgrunn facilities before contract award</a:t>
            </a:r>
          </a:p>
          <a:p/>
          <a:p>
            <a:r>
              <a:t>Risk Summary:</a:t>
            </a:r>
          </a:p>
          <a:p>
            <a:r>
              <a:t>• Financial: LOW</a:t>
            </a:r>
          </a:p>
          <a:p>
            <a:r>
              <a:t>• Operational: MEDIUM</a:t>
            </a:r>
          </a:p>
          <a:p>
            <a:r>
              <a:t>• Geopolitical: LOW</a:t>
            </a:r>
          </a:p>
          <a:p>
            <a:r>
              <a:t>• ESG: LOW</a:t>
            </a:r>
          </a:p>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SUPPLIER PROFILE</a:t>
            </a:r>
          </a:p>
        </p:txBody>
      </p:sp>
      <p:sp>
        <p:nvSpPr>
          <p:cNvPr id="3" name="Content Placeholder 2"/>
          <p:cNvSpPr>
            <a:spLocks noGrp="1"/>
          </p:cNvSpPr>
          <p:nvPr>
            <p:ph idx="1"/>
          </p:nvPr>
        </p:nvSpPr>
        <p:spPr/>
        <p:txBody>
          <a:bodyPr/>
          <a:lstStyle/>
          <a:p>
            <a:r>
              <a:t>Corporate Structure &amp; Global Footprint</a:t>
            </a:r>
          </a:p>
          <a:p/>
          <a:p>
            <a:r>
              <a:t>Company Overview:</a:t>
            </a:r>
          </a:p>
          <a:p>
            <a:r>
              <a:t>ControlPartner AS is a Norwegian specialist in operational control and automation systems, serving municipal water/wastewater and maritime sectors. Founded in 2015 (predecessor from 1996), the company provides complete automation systems with SCADA, operational control facilities, and electrical systems integration. Acquired by Swedish water infrastructure group Uniwater in October 2025.</a:t>
            </a:r>
          </a:p>
          <a:p/>
          <a:p>
            <a:r>
              <a:t>Leadership:</a:t>
            </a:r>
          </a:p>
          <a:p>
            <a:r>
              <a:t>Torbjørn Tønnesen — Managing Director</a:t>
            </a:r>
          </a:p>
          <a:p>
            <a:r>
              <a:t>  5+ years</a:t>
            </a:r>
          </a:p>
          <a:p>
            <a:r>
              <a:t>Uniwater Executive Team — Parent Company Oversight</a:t>
            </a:r>
          </a:p>
          <a:p>
            <a:r>
              <a:t>  Since Oct 2025</a:t>
            </a:r>
          </a:p>
          <a:p/>
          <a:p>
            <a:r>
              <a:t>Headquarters: Porsgrunn, Norway (Offices in Bergen, Oslo)</a:t>
            </a:r>
          </a:p>
          <a:p>
            <a:r>
              <a:t>Employees: 40-46</a:t>
            </a:r>
          </a:p>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FINANCIAL HEALTH</a:t>
            </a:r>
          </a:p>
        </p:txBody>
      </p:sp>
      <p:sp>
        <p:nvSpPr>
          <p:cNvPr id="3" name="Content Placeholder 2"/>
          <p:cNvSpPr>
            <a:spLocks noGrp="1"/>
          </p:cNvSpPr>
          <p:nvPr>
            <p:ph idx="1"/>
          </p:nvPr>
        </p:nvSpPr>
        <p:spPr/>
        <p:txBody>
          <a:bodyPr/>
          <a:lstStyle/>
          <a:p>
            <a:r>
              <a:t>Revenue &amp; EBITDA Trajectory</a:t>
            </a:r>
          </a:p>
          <a:p/>
          <a:p>
            <a:r>
              <a:t>Financial Highlights:</a:t>
            </a:r>
          </a:p>
          <a:p>
            <a:r>
              <a:t>• Revenue 2024: NOK 57.3M (+8.5%)</a:t>
            </a:r>
          </a:p>
          <a:p>
            <a:r>
              <a:t>• EBITDA: NOK 5.2M (9.1% margin)</a:t>
            </a:r>
          </a:p>
          <a:p>
            <a:r>
              <a:t>• Net Profit: NOK 3.8M</a:t>
            </a:r>
          </a:p>
          <a:p>
            <a:r>
              <a:t>• 3-Year CAGR: 12.3%</a:t>
            </a:r>
          </a:p>
          <a:p>
            <a:r>
              <a:t>• Order Book: NOK 45M (est.)</a:t>
            </a:r>
          </a:p>
          <a:p>
            <a:r>
              <a:t>• Gross Debt: NOK 8.5M</a:t>
            </a:r>
          </a:p>
          <a:p>
            <a:r>
              <a:t>• Net Cash: NOK 6.9M</a:t>
            </a:r>
          </a:p>
          <a:p>
            <a:r>
              <a:t>• Debt/EBITDA: 1.6x</a:t>
            </a:r>
          </a:p>
          <a:p/>
          <a:p>
            <a:r>
              <a:t>Trend: Stable</a:t>
            </a:r>
          </a:p>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 POSITION</a:t>
            </a:r>
          </a:p>
        </p:txBody>
      </p:sp>
      <p:sp>
        <p:nvSpPr>
          <p:cNvPr id="3" name="Content Placeholder 2"/>
          <p:cNvSpPr>
            <a:spLocks noGrp="1"/>
          </p:cNvSpPr>
          <p:nvPr>
            <p:ph idx="1"/>
          </p:nvPr>
        </p:nvSpPr>
        <p:spPr/>
        <p:txBody>
          <a:bodyPr/>
          <a:lstStyle/>
          <a:p>
            <a:r>
              <a:t>Marine Contractor Revenue Comparison — 2024</a:t>
            </a:r>
          </a:p>
          <a:p/>
          <a:p>
            <a:r>
              <a:t>Competitive Landscape:</a:t>
            </a:r>
          </a:p>
          <a:p>
            <a:r>
              <a:t>ControlPartner AS ranks #3 globally.</a:t>
            </a:r>
          </a:p>
          <a:p/>
          <a:p>
            <a:r>
              <a:t>Key Competitors:</a:t>
            </a:r>
          </a:p>
          <a:p>
            <a:r>
              <a:t>• Siemens Norway: NOK 2.1B</a:t>
            </a:r>
          </a:p>
          <a:p>
            <a:r>
              <a:t>• ABB Norway: NOK 1.8B</a:t>
            </a:r>
          </a:p>
          <a:p>
            <a:r>
              <a:t>• Emerson Norway: NOK 450M</a:t>
            </a:r>
          </a:p>
          <a:p>
            <a:r>
              <a:t>• Tratec Norcon: NOK 180M</a:t>
            </a:r>
          </a:p>
          <a:p/>
          <a:p>
            <a:r>
              <a:t>Competitive Advantages:</a:t>
            </a:r>
          </a:p>
          <a:p>
            <a:r>
              <a:t>• Deep expertise in Norwegian water infrastructure standards</a:t>
            </a:r>
          </a:p>
          <a:p>
            <a:r>
              <a:t>• Strong local service presence in Porsgrunn, Bergen, Oslo</a:t>
            </a:r>
          </a:p>
          <a:p>
            <a:r>
              <a:t>• Long-term client relationships in municipal sector</a:t>
            </a:r>
          </a:p>
          <a:p>
            <a:r>
              <a:t>• Specialized SCADA and automation competence</a:t>
            </a:r>
          </a:p>
          <a:p>
            <a:r>
              <a:t>• Now part of larger Uniwater group with access to capital</a:t>
            </a:r>
          </a:p>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OPERATIONAL CAPABILITY &amp; RISK ASSESSMENT</a:t>
            </a:r>
          </a:p>
        </p:txBody>
      </p:sp>
      <p:sp>
        <p:nvSpPr>
          <p:cNvPr id="3" name="Content Placeholder 2"/>
          <p:cNvSpPr>
            <a:spLocks noGrp="1"/>
          </p:cNvSpPr>
          <p:nvPr>
            <p:ph idx="1"/>
          </p:nvPr>
        </p:nvSpPr>
        <p:spPr/>
        <p:txBody>
          <a:bodyPr/>
          <a:lstStyle/>
          <a:p>
            <a:r>
              <a:t>Milestones &amp; Strategic Investment | Risk Matrix</a:t>
            </a:r>
          </a:p>
          <a:p/>
          <a:p>
            <a:r>
              <a:t>Risk Summary:</a:t>
            </a:r>
          </a:p>
          <a:p>
            <a:r>
              <a:t>• Financial: LOW</a:t>
            </a:r>
          </a:p>
          <a:p>
            <a:r>
              <a:t>• Operational: MEDIUM</a:t>
            </a:r>
          </a:p>
          <a:p>
            <a:r>
              <a:t>• Geopolitical: LOW</a:t>
            </a:r>
          </a:p>
          <a:p>
            <a:r>
              <a:t>• ESG: LOW</a:t>
            </a:r>
          </a:p>
          <a:p/>
          <a:p>
            <a:r>
              <a:t>Key Risks:</a:t>
            </a:r>
          </a:p>
          <a:p>
            <a:r>
              <a:t>• Operational: Recent acquisition by Uniwater creates integration uncertain... (Impact: Medium)</a:t>
            </a:r>
          </a:p>
          <a:p>
            <a:r>
              <a:t>• Financial: Small scale limits ability to absorb large project losses or... (Impact: Medium)</a:t>
            </a:r>
          </a:p>
          <a:p>
            <a:r>
              <a:t>• Operational: Geographic concentration in Norway limits diversification an... (Impact: Low)</a:t>
            </a:r>
          </a:p>
          <a:p>
            <a:r>
              <a:t>• Strategic: Dependence on municipal sector budget cycles creates revenue... (Impact: Medium)</a:t>
            </a:r>
          </a:p>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COMMERCIAL INTELLIGENCE &amp; PEER RISK COMPARISON</a:t>
            </a:r>
          </a:p>
        </p:txBody>
      </p:sp>
      <p:sp>
        <p:nvSpPr>
          <p:cNvPr id="3" name="Content Placeholder 2"/>
          <p:cNvSpPr>
            <a:spLocks noGrp="1"/>
          </p:cNvSpPr>
          <p:nvPr>
            <p:ph idx="1"/>
          </p:nvPr>
        </p:nvSpPr>
        <p:spPr/>
        <p:txBody>
          <a:bodyPr/>
          <a:lstStyle/>
          <a:p>
            <a:r>
              <a:t>Benchmarking Radar | Peer Risk Profile</a:t>
            </a:r>
          </a:p>
          <a:p/>
          <a:p>
            <a:r>
              <a:t>Commercial Terms:</a:t>
            </a:r>
          </a:p>
          <a:p>
            <a:r>
              <a:t>• Standard payment terms: Net-30 to Net-60 days</a:t>
            </a:r>
          </a:p>
          <a:p>
            <a:r>
              <a:t>• Milestone/progress payments standard</a:t>
            </a:r>
          </a:p>
          <a:p>
            <a:r>
              <a:t>• Performance bonds typically required</a:t>
            </a:r>
          </a:p>
          <a:p/>
          <a:p>
            <a:r>
              <a:t>Key Watch Points:</a:t>
            </a:r>
          </a:p>
          <a:p>
            <a:r>
              <a:t>⚠ Monitor project-country risk individually</a:t>
            </a:r>
          </a:p>
          <a:p>
            <a:r>
              <a:t>⚠ Review order book concentration</a:t>
            </a:r>
          </a:p>
          <a:p>
            <a:r>
              <a:t>⚠ Track working capital requirements</a:t>
            </a:r>
          </a:p>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ESG ASSESSMENT</a:t>
            </a:r>
          </a:p>
        </p:txBody>
      </p:sp>
      <p:sp>
        <p:nvSpPr>
          <p:cNvPr id="3" name="Content Placeholder 2"/>
          <p:cNvSpPr>
            <a:spLocks noGrp="1"/>
          </p:cNvSpPr>
          <p:nvPr>
            <p:ph idx="1"/>
          </p:nvPr>
        </p:nvSpPr>
        <p:spPr/>
        <p:txBody>
          <a:bodyPr/>
          <a:lstStyle/>
          <a:p>
            <a:r>
              <a:t>Environmental, Social &amp; Governance Screening</a:t>
            </a:r>
          </a:p>
          <a:p/>
          <a:p>
            <a:r>
              <a:t>Overall Rating: LOW</a:t>
            </a:r>
          </a:p>
          <a:p/>
          <a:p>
            <a:r>
              <a:t>Pillar Ratings:</a:t>
            </a:r>
          </a:p>
          <a:p>
            <a:r>
              <a:t>• Environmental: LOW</a:t>
            </a:r>
          </a:p>
          <a:p>
            <a:r>
              <a:t>• Social: LOW</a:t>
            </a:r>
          </a:p>
          <a:p>
            <a:r>
              <a:t>• Governance: MEDIUM</a:t>
            </a:r>
          </a:p>
          <a:p/>
          <a:p>
            <a:r>
              <a:t>Controversies:</a:t>
            </a:r>
          </a:p>
          <a:p>
            <a:r>
              <a:t>None identified</a:t>
            </a:r>
          </a:p>
          <a:p/>
          <a:p>
            <a:r>
              <a:t>Source: Manu Forti Intelligence | Confidential | March 2026</a:t>
            </a:r>
          </a:p>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