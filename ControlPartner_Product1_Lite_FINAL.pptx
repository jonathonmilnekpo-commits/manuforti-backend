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02147"/>
                </a:solidFill>
              </a:defRPr>
            </a:pPr>
            <a:r>
              <a:t>ControlPartner 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2B6CB0"/>
                </a:solidFill>
              </a:defRPr>
            </a:pPr>
            <a:r>
              <a:t>Supplier Evaluation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718096"/>
                </a:solidFill>
              </a:defRPr>
            </a:pPr>
            <a:r>
              <a:t>Product 1 Lite — Limited Data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18096"/>
                </a:solidFill>
              </a:defRPr>
            </a:pPr>
            <a:r>
              <a:t>Industrial Automation &amp; Control Systems | Norway</a:t>
            </a:r>
          </a:p>
          <a:p>
            <a:pPr>
              <a:defRPr sz="1400">
                <a:solidFill>
                  <a:srgbClr val="718096"/>
                </a:solidFill>
              </a:defRPr>
            </a:pPr>
            <a:r>
              <a:t>40-46 Employees | NOK 57.3M Revenue (2023)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18096"/>
                </a:solidFill>
              </a:defRPr>
            </a:pPr>
            <a:r>
              <a:t>Source: Manu Forti Intelligence | Confidential | March 2026 | Product 1 Lite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2147"/>
                </a:solidFill>
              </a:defRPr>
            </a:pPr>
            <a:r>
              <a:t>⚡ Manu Forti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85248" y="54864"/>
            <a:ext cx="2066543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137160"/>
            <a:ext cx="1920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2147"/>
                </a:solidFill>
              </a:defRPr>
            </a:pPr>
            <a:r>
              <a:t>ControlPartner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147"/>
                </a:solidFill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4572000" cy="2926080"/>
          </a:xfrm>
          <a:prstGeom prst="rect">
            <a:avLst/>
          </a:prstGeom>
          <a:solidFill>
            <a:srgbClr val="EBF4FF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400" b="1">
                <a:solidFill>
                  <a:srgbClr val="002147"/>
                </a:solidFill>
              </a:defRPr>
            </a:pPr>
            <a:r>
              <a:t>OVERALL RISK</a:t>
            </a:r>
          </a:p>
          <a:p>
            <a:pPr>
              <a:defRPr sz="1200">
                <a:solidFill>
                  <a:srgbClr val="718096"/>
                </a:solidFill>
              </a:defRPr>
            </a:pPr>
          </a:p>
          <a:p>
            <a:pPr>
              <a:defRPr sz="3600" b="1">
                <a:solidFill>
                  <a:srgbClr val="D69E2E"/>
                </a:solidFill>
              </a:defRPr>
            </a:pPr>
            <a:r>
              <a:t>MEDIUM</a:t>
            </a:r>
          </a:p>
          <a:p>
            <a:pPr>
              <a:defRPr sz="1200">
                <a:solidFill>
                  <a:srgbClr val="718096"/>
                </a:solidFill>
              </a:defRPr>
            </a:pPr>
            <a:r>
              <a:t>52/100</a:t>
            </a:r>
          </a:p>
          <a:p>
            <a:pPr>
              <a:defRPr sz="1200">
                <a:solidFill>
                  <a:srgbClr val="718096"/>
                </a:solidFill>
              </a:defRPr>
            </a:pPr>
          </a:p>
          <a:p>
            <a:pPr>
              <a:defRPr sz="1200">
                <a:solidFill>
                  <a:srgbClr val="718096"/>
                </a:solidFill>
              </a:defRPr>
            </a:pPr>
            <a:r>
              <a:t>Data Confidence:</a:t>
            </a:r>
          </a:p>
          <a:p>
            <a:pPr>
              <a:defRPr sz="1200">
                <a:solidFill>
                  <a:srgbClr val="718096"/>
                </a:solidFill>
              </a:defRPr>
            </a:pPr>
            <a:r>
              <a:t>MEDIUM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1097280"/>
            <a:ext cx="5943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147"/>
                </a:solidFill>
              </a:defRPr>
            </a:pPr>
            <a:r>
              <a:t>Key Insight</a:t>
            </a:r>
          </a:p>
          <a:p>
            <a:pPr>
              <a:defRPr sz="1200">
                <a:solidFill>
                  <a:srgbClr val="718096"/>
                </a:solidFill>
              </a:defRPr>
            </a:pPr>
          </a:p>
          <a:p>
            <a:pPr>
              <a:defRPr sz="1200">
                <a:solidFill>
                  <a:srgbClr val="718096"/>
                </a:solidFill>
              </a:defRPr>
            </a:pPr>
            <a:r>
              <a:t>ControlPartner is a small but established Norwegian automation specialist with solid 2023 financials. Recent Uniwater acquisition provides strategic backing but introduces integration uncertainty.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0624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2147"/>
                </a:solidFill>
              </a:defRPr>
            </a:pPr>
            <a:r>
              <a:t>Risk Factors: Financial LOW-MEDIUM | Operational MEDIUM | Geopolitical LOW | ESG LOW-MEDIUM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18096"/>
                </a:solidFill>
              </a:defRPr>
            </a:pPr>
            <a:r>
              <a:t>Source: Manu Forti Intelligence | Confidential | March 2026 | Product 1 Lite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2147"/>
                </a:solidFill>
              </a:defRPr>
            </a:pPr>
            <a:r>
              <a:t>⚡ Manu Forti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85248" y="54864"/>
            <a:ext cx="2066543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137160"/>
            <a:ext cx="1920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2147"/>
                </a:solidFill>
              </a:defRPr>
            </a:pPr>
            <a:r>
              <a:t>ControlPartner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147"/>
                </a:solidFill>
              </a:defRPr>
            </a:pPr>
            <a:r>
              <a:t>RECOMMENDATION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solidFill>
            <a:srgbClr val="D69E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APPROVE with CONDITIONS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2147"/>
                </a:solidFill>
              </a:defRPr>
            </a:pPr>
            <a:r>
              <a:t>Conditions:</a:t>
            </a:r>
          </a:p>
          <a:p>
            <a:pPr>
              <a:defRPr sz="1300">
                <a:solidFill>
                  <a:srgbClr val="718096"/>
                </a:solidFill>
              </a:defRPr>
            </a:pPr>
            <a:r>
              <a:t>1. Confirm Uniwater acquisition completion</a:t>
            </a:r>
          </a:p>
          <a:p>
            <a:pPr>
              <a:defRPr sz="1300">
                <a:solidFill>
                  <a:srgbClr val="718096"/>
                </a:solidFill>
              </a:defRPr>
            </a:pPr>
            <a:r>
              <a:t>2. Obtain parent company guarantee for contracts &gt;NOK 10M</a:t>
            </a:r>
          </a:p>
          <a:p>
            <a:pPr>
              <a:defRPr sz="1300">
                <a:solidFill>
                  <a:srgbClr val="718096"/>
                </a:solidFill>
              </a:defRPr>
            </a:pPr>
            <a:r>
              <a:t>3. Require key person retention clauses</a:t>
            </a:r>
          </a:p>
          <a:p>
            <a:pPr>
              <a:defRPr sz="1300">
                <a:solidFill>
                  <a:srgbClr val="718096"/>
                </a:solidFill>
              </a:defRPr>
            </a:pPr>
            <a:r>
              <a:t>4. Request 2024 financials when available</a:t>
            </a:r>
          </a:p>
          <a:p>
            <a:pPr>
              <a:defRPr sz="1300">
                <a:solidFill>
                  <a:srgbClr val="718096"/>
                </a:solidFill>
              </a:defRPr>
            </a:pPr>
            <a:r>
              <a:t>5. Conduct site audit before contract award</a:t>
            </a:r>
          </a:p>
          <a:p>
            <a:pPr>
              <a:defRPr sz="1300">
                <a:solidFill>
                  <a:srgbClr val="718096"/>
                </a:solidFill>
              </a:defRPr>
            </a:pPr>
            <a:r>
              <a:t>6. Establish escalation path to Uniwater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18096"/>
                </a:solidFill>
              </a:defRPr>
            </a:pPr>
            <a:r>
              <a:t>Source: Manu Forti Intelligence | Confidential | March 2026 | Product 1 Lite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2147"/>
                </a:solidFill>
              </a:defRPr>
            </a:pPr>
            <a:r>
              <a:t>⚡ Manu Forti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85248" y="54864"/>
            <a:ext cx="2066543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137160"/>
            <a:ext cx="1920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2147"/>
                </a:solidFill>
              </a:defRPr>
            </a:pPr>
            <a:r>
              <a:t>ControlPartner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