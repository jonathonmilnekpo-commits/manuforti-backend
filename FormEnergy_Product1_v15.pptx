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02147"/>
                </a:solidFill>
              </a:defRPr>
            </a:pPr>
            <a:r>
              <a:t>Form Energy Inc.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2B6CB0"/>
                </a:solidFill>
              </a:defRPr>
            </a:pPr>
            <a:r>
              <a:t>Supplier Evaluation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718096"/>
                </a:solidFill>
              </a:defRPr>
            </a:pPr>
            <a:r>
              <a:t>Long-Duration Energy Storage / Iron-Air Battery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18096"/>
                </a:solidFill>
              </a:defRPr>
            </a:pPr>
            <a:r>
              <a:t>$1.52B Funding Raised | 100+ Hour Storage | Pre-Revenue | ~400 Employees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</a:defRPr>
            </a:pPr>
            <a:r>
              <a:t>Source: Manu Forti Intelligence | Confidential |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2147"/>
                </a:solidFill>
              </a:defRPr>
            </a:pPr>
            <a:r>
              <a:t>⚡ Manu Forti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85248" y="54864"/>
            <a:ext cx="2066543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13716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2147"/>
                </a:solidFill>
              </a:defRPr>
            </a:pPr>
            <a:r>
              <a:t>Form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147"/>
                </a:solidFill>
              </a:defRPr>
            </a:pPr>
            <a:r>
              <a:t>EXECUTIVE SUMMARY</a:t>
            </a:r>
          </a:p>
        </p:txBody>
      </p:sp>
      <p:pic>
        <p:nvPicPr>
          <p:cNvPr id="3" name="Picture 2" descr="01_risk_gau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6583680" cy="325485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0" y="914400"/>
            <a:ext cx="4937760" cy="3200400"/>
          </a:xfrm>
          <a:prstGeom prst="rect">
            <a:avLst/>
          </a:prstGeom>
          <a:solidFill>
            <a:srgbClr val="EBF4FF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1">
                <a:solidFill>
                  <a:srgbClr val="002147"/>
                </a:solidFill>
              </a:defRPr>
            </a:pPr>
            <a:r>
              <a:t>Key Insight</a:t>
            </a:r>
          </a:p>
          <a:p>
            <a:pPr>
              <a:defRPr sz="1100">
                <a:solidFill>
                  <a:srgbClr val="718096"/>
                </a:solidFill>
              </a:defRPr>
            </a:pP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Form Energy is the leading iron-air battery developer with breakthrough 100-hour storage technology. Strong investor backing ($1.52B) and major utility contracts position it well, but pre-revenue status and manufacturing scale-up risks are significant. First-mover advantage in multi-day storage is substantial.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2147"/>
                </a:solidFill>
              </a:defRPr>
            </a:pPr>
            <a:r>
              <a:t>Risk Summary: Financial MEDIUM-HIGH | Operational MEDIUM | Geopolitical LOW | ESG 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</a:defRPr>
            </a:pPr>
            <a:r>
              <a:t>Source: Manu Forti Intelligence | Confidential |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2147"/>
                </a:solidFill>
              </a:defRPr>
            </a:pPr>
            <a:r>
              <a:t>⚡ Manu Forti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85248" y="54864"/>
            <a:ext cx="2066543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13716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2147"/>
                </a:solidFill>
              </a:defRPr>
            </a:pPr>
            <a:r>
              <a:t>Form Energy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147"/>
                </a:solidFill>
              </a:defRPr>
            </a:pPr>
            <a:r>
              <a:t>RECOMMENDATION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solidFill>
            <a:srgbClr val="D69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APPROVE with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147"/>
                </a:solidFill>
              </a:defRPr>
            </a:pPr>
            <a:r>
              <a:t>Conditions for Approval:</a:t>
            </a:r>
          </a:p>
          <a:p>
            <a:pPr>
              <a:defRPr sz="1200">
                <a:solidFill>
                  <a:srgbClr val="718096"/>
                </a:solidFill>
              </a:defRPr>
            </a:pP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1. Verify manufacturing facility construction timeline (Weirton, WV)</a:t>
            </a: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2. Confirm Google contract execution milestones (2025-2027)</a:t>
            </a: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3. Require performance guarantees on first commercial deployments</a:t>
            </a: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4. Obtain financial covenant for contracts &gt;$50M</a:t>
            </a: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5. Establish technical escrow for IP continuity</a:t>
            </a: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6. Monitor Series D funding progress (if required for scale-up)</a:t>
            </a:r>
          </a:p>
          <a:p>
            <a:pPr>
              <a:defRPr sz="1200">
                <a:solidFill>
                  <a:srgbClr val="718096"/>
                </a:solidFill>
              </a:defRPr>
            </a:pP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Risk Summary: Financial MEDIUM-HIGH | Operational MEDIUM | Geopolitical LOW | ESG 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</a:defRPr>
            </a:pPr>
            <a:r>
              <a:t>Source: Manu Forti Intelligence | Confidential |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2147"/>
                </a:solidFill>
              </a:defRPr>
            </a:pPr>
            <a:r>
              <a:t>⚡ Manu Forti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85248" y="54864"/>
            <a:ext cx="2066543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13716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2147"/>
                </a:solidFill>
              </a:defRPr>
            </a:pPr>
            <a:r>
              <a:t>Form Energy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147"/>
                </a:solidFill>
              </a:defRPr>
            </a:pPr>
            <a:r>
              <a:t>FINANCIAL HEALTH</a:t>
            </a:r>
          </a:p>
        </p:txBody>
      </p:sp>
      <p:pic>
        <p:nvPicPr>
          <p:cNvPr id="3" name="Picture 2" descr="05_funding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6858000" cy="33873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498079" y="914400"/>
            <a:ext cx="4389120" cy="5029200"/>
          </a:xfrm>
          <a:prstGeom prst="rect">
            <a:avLst/>
          </a:prstGeom>
          <a:solidFill>
            <a:srgbClr val="EBF4FF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002147"/>
                </a:solidFill>
              </a:defRPr>
            </a:pPr>
            <a:r>
              <a:t>Key Financial Metrics</a:t>
            </a:r>
          </a:p>
          <a:p>
            <a:pPr>
              <a:defRPr sz="1100">
                <a:solidFill>
                  <a:srgbClr val="718096"/>
                </a:solidFill>
              </a:defRPr>
            </a:pP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Status: Pre-revenue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Funding Raised: $1.52B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Latest Valuation: $2.5B+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Investors: 35+ institutions</a:t>
            </a:r>
          </a:p>
          <a:p>
            <a:pPr>
              <a:defRPr sz="1100">
                <a:solidFill>
                  <a:srgbClr val="718096"/>
                </a:solidFill>
              </a:defRPr>
            </a:pP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Order Book: $2.5B+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(Google: 300MW/30GWh)</a:t>
            </a:r>
          </a:p>
          <a:p>
            <a:pPr>
              <a:defRPr sz="1100">
                <a:solidFill>
                  <a:srgbClr val="718096"/>
                </a:solidFill>
              </a:defRPr>
            </a:pP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Cash Position: Strong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($1.5B+ estimated)</a:t>
            </a:r>
          </a:p>
          <a:p>
            <a:pPr>
              <a:defRPr sz="1100">
                <a:solidFill>
                  <a:srgbClr val="718096"/>
                </a:solidFill>
              </a:defRPr>
            </a:pP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Debt: Minimal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(Well-funded)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</a:defRPr>
            </a:pPr>
            <a:r>
              <a:t>Source: Manu Forti Intelligence | Confidential |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2147"/>
                </a:solidFill>
              </a:defRPr>
            </a:pPr>
            <a:r>
              <a:t>⚡ Manu Forti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85248" y="54864"/>
            <a:ext cx="2066543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13716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2147"/>
                </a:solidFill>
              </a:defRPr>
            </a:pPr>
            <a:r>
              <a:t>Form Energy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147"/>
                </a:solidFill>
              </a:defRPr>
            </a:pPr>
            <a:r>
              <a:t>MARKET POSITION</a:t>
            </a:r>
          </a:p>
        </p:txBody>
      </p:sp>
      <p:pic>
        <p:nvPicPr>
          <p:cNvPr id="3" name="Picture 2" descr="06_market_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6858000" cy="33712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914400"/>
            <a:ext cx="43891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147"/>
                </a:solidFill>
              </a:defRPr>
            </a:pPr>
            <a:r>
              <a:t>Competitive Position</a:t>
            </a:r>
          </a:p>
          <a:p>
            <a:pPr>
              <a:defRPr sz="1100">
                <a:solidFill>
                  <a:srgbClr val="718096"/>
                </a:solidFill>
              </a:defRPr>
            </a:pP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Market: Long-Duration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Energy Storage (LDES)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Market Size: $30B+ by 2030</a:t>
            </a:r>
          </a:p>
          <a:p>
            <a:pPr>
              <a:defRPr sz="1100">
                <a:solidFill>
                  <a:srgbClr val="718096"/>
                </a:solidFill>
              </a:defRPr>
            </a:pP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Form Energy Rank: #1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in iron-air technology</a:t>
            </a:r>
          </a:p>
          <a:p>
            <a:pPr>
              <a:defRPr sz="1100">
                <a:solidFill>
                  <a:srgbClr val="718096"/>
                </a:solidFill>
              </a:defRPr>
            </a:pP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Key Differentiators: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Only 100+ hour battery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Lowest cost ($20/kWh)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Safest chemistry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US manufacturing</a:t>
            </a:r>
          </a:p>
          <a:p>
            <a:pPr>
              <a:defRPr sz="1100">
                <a:solidFill>
                  <a:srgbClr val="718096"/>
                </a:solidFill>
              </a:defRPr>
            </a:pP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Major Competitors: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ESS Inc. (iron flow)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Energy Vault (gravity)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Highview Power (LAES)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Hydrostor (compressed air)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</a:defRPr>
            </a:pPr>
            <a:r>
              <a:t>Source: Manu Forti Intelligence | Confidential |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2147"/>
                </a:solidFill>
              </a:defRPr>
            </a:pPr>
            <a:r>
              <a:t>⚡ Manu Forti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85248" y="54864"/>
            <a:ext cx="2066543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13716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2147"/>
                </a:solidFill>
              </a:defRPr>
            </a:pPr>
            <a:r>
              <a:t>Form Energy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147"/>
                </a:solidFill>
              </a:defRPr>
            </a:pPr>
            <a:r>
              <a:t>OPERATIONAL CAPABILITY &amp; RISK</a:t>
            </a:r>
          </a:p>
        </p:txBody>
      </p:sp>
      <p:pic>
        <p:nvPicPr>
          <p:cNvPr id="3" name="Picture 2" descr="07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6400800" cy="20953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914400"/>
            <a:ext cx="45720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147"/>
                </a:solidFill>
              </a:defRPr>
            </a:pPr>
            <a:r>
              <a:t>Risk Assessment</a:t>
            </a:r>
          </a:p>
          <a:p>
            <a:pPr>
              <a:defRPr sz="1100">
                <a:solidFill>
                  <a:srgbClr val="718096"/>
                </a:solidFill>
              </a:defRPr>
            </a:pP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HIGH IMPACT: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Manufacturing scale-up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Technology performance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Funding requirements</a:t>
            </a:r>
          </a:p>
          <a:p>
            <a:pPr>
              <a:defRPr sz="1100">
                <a:solidFill>
                  <a:srgbClr val="718096"/>
                </a:solidFill>
              </a:defRPr>
            </a:pP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MEDIUM IMPACT: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Competition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Sales cycle length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Customer concentration</a:t>
            </a:r>
          </a:p>
          <a:p>
            <a:pPr>
              <a:defRPr sz="1100">
                <a:solidFill>
                  <a:srgbClr val="718096"/>
                </a:solidFill>
              </a:defRPr>
            </a:pP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MITIGATION: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Strong investor backing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Phased manufacturing ramp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Diversified customer base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IP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</a:defRPr>
            </a:pPr>
            <a:r>
              <a:t>Source: Manu Forti Intelligence | Confidential |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2147"/>
                </a:solidFill>
              </a:defRPr>
            </a:pPr>
            <a:r>
              <a:t>⚡ Manu Forti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85248" y="54864"/>
            <a:ext cx="2066543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13716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2147"/>
                </a:solidFill>
              </a:defRPr>
            </a:pPr>
            <a:r>
              <a:t>Form Energy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147"/>
                </a:solidFill>
              </a:defRPr>
            </a:pPr>
            <a:r>
              <a:t>COMMERCIAL INTELLIGENCE</a:t>
            </a:r>
          </a:p>
        </p:txBody>
      </p:sp>
      <p:pic>
        <p:nvPicPr>
          <p:cNvPr id="3" name="Picture 2" descr="08_rad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486400" cy="51276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914400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147"/>
                </a:solidFill>
              </a:defRPr>
            </a:pPr>
            <a:r>
              <a:t>Commercial Terms</a:t>
            </a:r>
          </a:p>
          <a:p>
            <a:pPr>
              <a:defRPr sz="1100">
                <a:solidFill>
                  <a:srgbClr val="718096"/>
                </a:solidFill>
              </a:defRPr>
            </a:pP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Pricing Model: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Capital sale + 20-year service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Target: $20/kWh at scale</a:t>
            </a:r>
          </a:p>
          <a:p>
            <a:pPr>
              <a:defRPr sz="1100">
                <a:solidFill>
                  <a:srgbClr val="718096"/>
                </a:solidFill>
              </a:defRPr>
            </a:pP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Contract Structure: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Long-term service agreements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Performance guarantees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Modular deployment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Turnkey or equipment-only</a:t>
            </a:r>
          </a:p>
          <a:p>
            <a:pPr>
              <a:defRPr sz="1100">
                <a:solidFill>
                  <a:srgbClr val="718096"/>
                </a:solidFill>
              </a:defRPr>
            </a:pP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Key Customers: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Google (300MW/30GWh)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Xcel Energy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Great River Energy</a:t>
            </a:r>
          </a:p>
          <a:p>
            <a:pPr>
              <a:defRPr sz="1100">
                <a:solidFill>
                  <a:srgbClr val="718096"/>
                </a:solidFill>
              </a:defRPr>
            </a:pP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Negotiation Notes: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Early customer pricing available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IRA tax credits (30%+ effective discount)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Performance guarantees critical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Strategic partnerships secure supply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</a:defRPr>
            </a:pPr>
            <a:r>
              <a:t>Source: Manu Forti Intelligence | Confidential |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2147"/>
                </a:solidFill>
              </a:defRPr>
            </a:pPr>
            <a:r>
              <a:t>⚡ Manu Forti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85248" y="54864"/>
            <a:ext cx="2066543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13716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2147"/>
                </a:solidFill>
              </a:defRPr>
            </a:pPr>
            <a:r>
              <a:t>Form Energy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147"/>
                </a:solidFill>
              </a:defRPr>
            </a:pPr>
            <a:r>
              <a:t>ESG ASSESSMENT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3657600" cy="5029200"/>
          </a:xfrm>
          <a:prstGeom prst="rect">
            <a:avLst/>
          </a:prstGeom>
          <a:solidFill>
            <a:srgbClr val="F0FFF0"/>
          </a:solidFill>
          <a:ln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b="1">
                <a:solidFill>
                  <a:srgbClr val="002147"/>
                </a:solidFill>
              </a:defRPr>
            </a:pPr>
            <a:r>
              <a:t>ENVIRONMENTAL</a:t>
            </a:r>
          </a:p>
          <a:p>
            <a:pPr>
              <a:defRPr sz="1300" b="1">
                <a:solidFill>
                  <a:srgbClr val="48BB78"/>
                </a:solidFill>
              </a:defRPr>
            </a:pPr>
            <a:r>
              <a:t>LOW RISK</a:t>
            </a:r>
          </a:p>
          <a:p>
            <a:pPr>
              <a:defRPr sz="1100" b="0">
                <a:solidFill>
                  <a:srgbClr val="002147"/>
                </a:solidFill>
              </a:defRPr>
            </a:pPr>
          </a:p>
          <a:p>
            <a:pPr>
              <a:defRPr sz="1100" b="0">
                <a:solidFill>
                  <a:srgbClr val="002147"/>
                </a:solidFill>
              </a:defRPr>
            </a:pPr>
            <a:r>
              <a:t>✓ 100% renewable grid enablement</a:t>
            </a:r>
          </a:p>
          <a:p>
            <a:pPr>
              <a:defRPr sz="1100" b="0">
                <a:solidFill>
                  <a:srgbClr val="002147"/>
                </a:solidFill>
              </a:defRPr>
            </a:pPr>
            <a:r>
              <a:t>✓ Abundant iron (no conflict)</a:t>
            </a:r>
          </a:p>
          <a:p>
            <a:pPr>
              <a:defRPr sz="1100" b="0">
                <a:solidFill>
                  <a:srgbClr val="002147"/>
                </a:solidFill>
              </a:defRPr>
            </a:pPr>
            <a:r>
              <a:t>✓ Non-toxic, recyclable</a:t>
            </a:r>
          </a:p>
          <a:p>
            <a:pPr>
              <a:defRPr sz="1100" b="0">
                <a:solidFill>
                  <a:srgbClr val="002147"/>
                </a:solidFill>
              </a:defRPr>
            </a:pPr>
            <a:r>
              <a:t>✓ US manufacturing</a:t>
            </a:r>
          </a:p>
          <a:p>
            <a:pPr>
              <a:defRPr sz="1100" b="0">
                <a:solidFill>
                  <a:srgbClr val="002147"/>
                </a:solidFill>
              </a:defRPr>
            </a:pPr>
            <a:r>
              <a:t>✓ IRA clean energy beneficiary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0" y="914400"/>
            <a:ext cx="3657600" cy="5029200"/>
          </a:xfrm>
          <a:prstGeom prst="rect">
            <a:avLst/>
          </a:prstGeom>
          <a:solidFill>
            <a:srgbClr val="F0FFF0"/>
          </a:solidFill>
          <a:ln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b="1">
                <a:solidFill>
                  <a:srgbClr val="002147"/>
                </a:solidFill>
              </a:defRPr>
            </a:pPr>
            <a:r>
              <a:t>SOCIAL</a:t>
            </a:r>
          </a:p>
          <a:p>
            <a:pPr>
              <a:defRPr sz="1300" b="1">
                <a:solidFill>
                  <a:srgbClr val="48BB78"/>
                </a:solidFill>
              </a:defRPr>
            </a:pPr>
            <a:r>
              <a:t>LOW RISK</a:t>
            </a:r>
          </a:p>
          <a:p>
            <a:pPr>
              <a:defRPr sz="1100" b="0">
                <a:solidFill>
                  <a:srgbClr val="002147"/>
                </a:solidFill>
              </a:defRPr>
            </a:pPr>
          </a:p>
          <a:p>
            <a:pPr>
              <a:defRPr sz="1100" b="0">
                <a:solidFill>
                  <a:srgbClr val="002147"/>
                </a:solidFill>
              </a:defRPr>
            </a:pPr>
            <a:r>
              <a:t>✓ 400+ employees, growing</a:t>
            </a:r>
          </a:p>
          <a:p>
            <a:pPr>
              <a:defRPr sz="1100" b="0">
                <a:solidFill>
                  <a:srgbClr val="002147"/>
                </a:solidFill>
              </a:defRPr>
            </a:pPr>
            <a:r>
              <a:t>✓ 750+ jobs in Weirton, WV</a:t>
            </a:r>
          </a:p>
          <a:p>
            <a:pPr>
              <a:defRPr sz="1100" b="0">
                <a:solidFill>
                  <a:srgbClr val="002147"/>
                </a:solidFill>
              </a:defRPr>
            </a:pPr>
            <a:r>
              <a:t>✓ STEM education partnerships</a:t>
            </a:r>
          </a:p>
          <a:p>
            <a:pPr>
              <a:defRPr sz="1100" b="0">
                <a:solidFill>
                  <a:srgbClr val="002147"/>
                </a:solidFill>
              </a:defRPr>
            </a:pPr>
            <a:r>
              <a:t>✓ Diversity initiatives</a:t>
            </a:r>
          </a:p>
          <a:p>
            <a:pPr>
              <a:defRPr sz="1100" b="0">
                <a:solidFill>
                  <a:srgbClr val="002147"/>
                </a:solidFill>
              </a:defRPr>
            </a:pPr>
            <a:r>
              <a:t>✓ Former steel town revitalization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138160" y="914400"/>
            <a:ext cx="3657600" cy="5029200"/>
          </a:xfrm>
          <a:prstGeom prst="rect">
            <a:avLst/>
          </a:prstGeom>
          <a:solidFill>
            <a:srgbClr val="FFFBEB"/>
          </a:solidFill>
          <a:ln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b="1">
                <a:solidFill>
                  <a:srgbClr val="002147"/>
                </a:solidFill>
              </a:defRPr>
            </a:pPr>
            <a:r>
              <a:t>GOVERNANCE</a:t>
            </a:r>
          </a:p>
          <a:p>
            <a:pPr>
              <a:defRPr sz="1300" b="1">
                <a:solidFill>
                  <a:srgbClr val="D69E2E"/>
                </a:solidFill>
              </a:defRPr>
            </a:pPr>
            <a:r>
              <a:t>MEDIUM RISK</a:t>
            </a:r>
          </a:p>
          <a:p>
            <a:pPr>
              <a:defRPr sz="1100" b="0">
                <a:solidFill>
                  <a:srgbClr val="002147"/>
                </a:solidFill>
              </a:defRPr>
            </a:pPr>
          </a:p>
          <a:p>
            <a:pPr>
              <a:defRPr sz="1100" b="0">
                <a:solidFill>
                  <a:srgbClr val="002147"/>
                </a:solidFill>
              </a:defRPr>
            </a:pPr>
            <a:r>
              <a:t>✓ Strong board (energy experts)</a:t>
            </a:r>
          </a:p>
          <a:p>
            <a:pPr>
              <a:defRPr sz="1100" b="0">
                <a:solidFill>
                  <a:srgbClr val="002147"/>
                </a:solidFill>
              </a:defRPr>
            </a:pPr>
            <a:r>
              <a:t>✓ Transparent technology</a:t>
            </a:r>
          </a:p>
          <a:p>
            <a:pPr>
              <a:defRPr sz="1100" b="0">
                <a:solidFill>
                  <a:srgbClr val="002147"/>
                </a:solidFill>
              </a:defRPr>
            </a:pPr>
            <a:r>
              <a:t>✓ Regular safety certifications</a:t>
            </a:r>
          </a:p>
          <a:p>
            <a:pPr>
              <a:defRPr sz="1100" b="0">
                <a:solidFill>
                  <a:srgbClr val="002147"/>
                </a:solidFill>
              </a:defRPr>
            </a:pPr>
            <a:r>
              <a:t>⚠ Private company disclosure</a:t>
            </a:r>
          </a:p>
          <a:p>
            <a:pPr>
              <a:defRPr sz="1100" b="0">
                <a:solidFill>
                  <a:srgbClr val="002147"/>
                </a:solidFill>
              </a:defRPr>
            </a:pPr>
            <a:r>
              <a:t>⚠ Rapid growth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</a:defRPr>
            </a:pPr>
            <a:r>
              <a:t>Source: Manu Forti Intelligence | Confidential |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2147"/>
                </a:solidFill>
              </a:defRPr>
            </a:pPr>
            <a:r>
              <a:t>⚡ Manu Forti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85248" y="54864"/>
            <a:ext cx="2066543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13716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2147"/>
                </a:solidFill>
              </a:defRPr>
            </a:pPr>
            <a:r>
              <a:t>Form Energy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