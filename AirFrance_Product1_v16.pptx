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Air France-KLM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Aviation / Airlines | 97.96M Passengers | Euronext: AF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0292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€31.5B Revenue | 574 Aircraft | 87.8% Load Factor | Founded 2004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Air France-KLM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Air France-KLM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Aviation / Airlines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Paris / Amsterdam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2004 (merger)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75,000+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€31.5B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Passengers: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97.96M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Fleet: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574 aircraft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Exchange: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Euronext: AF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Global #4 airline group with strong European hub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Post-COVID recovery: 9.7% revenue CAGR, improving profitability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Risk: Labor disputes and fuel price 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ESG leader in Sustainable Aviation Fuel (SAF) adoption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RECOMMENDATION: APPROVE WITH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Air France-KLM is recovering from COVID-19 with improving financials but faces labor and fuel price risks. Recommended with monitoring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Commercial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Payment: Standard airline terms (7-14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Performance: On-time performance clauses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Force Majeure: Include strike/labor dispute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Price Adjustment: Fuel surcharge pass-through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Capacity: Seasonal flexibility provisions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Due Diligence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Monitor quarterly financial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Track labor negotiation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Review fuel hedge positions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Assess route network stability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Validate SAF procurement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14800"/>
            <a:ext cx="4754880" cy="22860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245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Overall Risk Summary - MEDIUM (52/100)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Financial: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5720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572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Post-COVID recovery ongoing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Operational: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46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Labor disputes, fleet 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Geopolitical: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1206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120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Fuel prices, route 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949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ESG: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9495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LOW-MED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39495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SAF leader, labor concerns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26480" y="2423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38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Company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Air France-KLM is a leading European airline group formed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01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  by the 2004 merger of Air France and KLM.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795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Operates dual hubs: Paris CDG (Air France) 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990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  Amsterdam AMS (KLM).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1850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Serves 195+ destinations in 90+ countries.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38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Leadership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40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CEO: Ben Smith (appointed September 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601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  Former COO at Air Canada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8795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Chairman: Anne-Marie Couderc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0990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HQ: Paris (Air France) / Amsterdam (KLM)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31850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Stock: Euronext: AF | Market Cap: ~€3B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2022-2024 | Euronext: AF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960120"/>
            <a:ext cx="4572000" cy="3200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Financial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(2024):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€31.5B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556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YoY: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556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48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(2024):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482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€4.2B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40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Margin: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408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33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Profit: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633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€489M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3-Year CAGR: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26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Debt: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186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€7.3B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511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Debt/EBITDA: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511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1.7x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8039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Load Factor: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8039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87.8%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Passengers: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096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97.96M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297680"/>
            <a:ext cx="4572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4074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9E2E"/>
                </a:solidFill>
              </a:rPr>
              <a:t>Financial Risk: MEDIUM 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091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Exposure 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98348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Post-COVID recovery ongoing but fragile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221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Net debt elevated at 1.7x EBITDA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458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Labor cost pressures from negotiations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6967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Monitor quarterly financial reports closely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6" name="Picture 35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06640" y="175564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17556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202C"/>
                </a:solidFill>
              </a:rPr>
              <a:t>€30.0B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Global Airline Revenue Comparison - Full-Service Carriers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960120"/>
            <a:ext cx="457200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COMPETITIVE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087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Air France-KLM ranks #4 among European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830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full-service carriers by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574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317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Key Strengths: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3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Dual hub strategy (CDG + AMS)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88035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Strong long-haul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1546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SkyTeam alliance membership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2899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Premium brand positioning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0331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Key Challenges: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5195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Labor costs vs low-cost competitors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262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State ownership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80059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Fleet renewal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2" name="Picture 21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+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Strategic Timeline &amp; Risk Matrix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60120"/>
            <a:ext cx="5029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297680"/>
            <a:ext cx="11612880" cy="21031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074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Fuel Price Volatility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709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Major cost driver, volatile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Labor Strikes &amp; Disputes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029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2024 strikes disrupted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Geopolitical Route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49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Middle East, Russia-Ukraine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Competition from Low-Cost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Commercial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Ryanair, EasyJet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Currency Fluctuation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Financial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USD/EUR exposure on fuel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Climate Regulations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ESG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SAF mandates, carbon taxes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4" name="Picture 33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+ PEER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&amp; Competitive Analysis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486400" cy="3657600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60120"/>
            <a:ext cx="59436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66928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Negotiation Leverage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Buyer power: MODERATE (consolidated industry)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Corporate contracts: Volume = 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Long-term agreements: Favorable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Fuel pass-through: Standard practice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54880"/>
            <a:ext cx="576072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Commercial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Pricing: Competitive vs Lufthansa/IAG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Payment: 7-14 days (industry 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Flexibility: Seasonal adjustments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Loyalty: Flying Blue program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0" name="Picture 19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Review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