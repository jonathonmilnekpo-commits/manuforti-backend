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0C8F0"/>
                </a:solidFill>
              </a:defRPr>
            </a:pPr>
            <a: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JiangSu HuaPeng Transformer Co.,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8C8C8"/>
                </a:solidFill>
              </a:defRPr>
            </a:pPr>
            <a:r>
              <a:t>Power Transformers  |  Medium Power Transformers  |  Global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C8C8"/>
                </a:solidFill>
              </a:defRPr>
            </a:pPr>
            <a:r>
              <a:t>US$1.0B Revenue  |  2,500 Employees  |  57 Years  |  200,000 MVA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9696"/>
                </a:solidFill>
              </a:defRPr>
            </a:pPr>
            <a:r>
              <a:t>Confidential  |  March 2026  |  Manu Forti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JiangSu HuaPeng Transformer Co., Ltd.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32623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JiangSu HuaPeng Transformer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Family-Owned (Private)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Power Transformer 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Liyang, Jiangsu, China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1967 (57 years)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Revenue: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US$1.0B (2022)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Employees: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2,500 globally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Capacity: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200,000 MVA, up to 850kV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Key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World's largest Medium Power Transformer producer — market leader 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57-year track record with zero catastrophic failures — exceptional quality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Only Chinese company in top 10 North American transformer brands — unique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07023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100% China-based manufacturing creates geopolitical exposure — conditions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7295" cy="12344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  RECOMMENDATION: APPROVE WITH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JSHP is recommended for Medium Power Transformer supply and select High Power projects. World's largest MPT capacity and zero failure record support approval. Conditions apply due to 100% China manufacturing and geopolitical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Commercial Conditions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Fixed pricing or hedging for multi-year contracts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Parent company guarantee for orders &gt;US$5M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Performance bonds: 10% for large projects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Payment terms: Letter of Credit for initial orders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Confirm US sales office support for NA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D8936"/>
                </a:solidFill>
              </a:defRPr>
            </a:pPr>
            <a:r>
              <a:t>Approval Conditions (Mandatory)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Quality inspection rights at Liyang facility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Quarterly production capacity confirmation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Geopolitical risk monitoring and mitigation plan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Alternative sourcing plan for critical projects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Currency hedging for CNY/USD/EUR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7295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Overall Risk Summary — MEDIUM (48/100)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Financial: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18096"/>
                </a:solidFill>
              </a:defRPr>
            </a:pPr>
            <a:r>
              <a:t>US$1.0B revenue, debt-free family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Operational: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18096"/>
                </a:solidFill>
              </a:defRPr>
            </a:pPr>
            <a:r>
              <a:t>200k MVA capacity, zero failure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53E3E"/>
                </a:solidFill>
              </a:defRPr>
            </a:pPr>
            <a:r>
              <a:t>Geopolitical: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18096"/>
                </a:solidFill>
              </a:defRPr>
            </a:pPr>
            <a:r>
              <a:t>100% China manufacturing, trade policy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D8936"/>
                </a:solidFill>
              </a:defRPr>
            </a:pPr>
            <a:r>
              <a:t>ESG: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18096"/>
                </a:solidFill>
              </a:defRPr>
            </a:pPr>
            <a:r>
              <a:t>Family governance, limited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Corporate Structure &amp; Global Footprint</a:t>
            </a:r>
          </a:p>
        </p:txBody>
      </p:sp>
      <p:pic>
        <p:nvPicPr>
          <p:cNvPr id="5" name="Picture 4" descr="02_org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447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Company Overview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JiangSu HuaPeng Transformer Co., Ltd. (JSHP)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is a leading Chinese manufacturer of power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transformers, specializing in Medium Power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Transformers where it holds the position of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world's largest producer.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Founded in 1967, the family-owned company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has built a 57-year track record with zero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catastrophic failures across thousands of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installed units globally.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Manufacturing Excellence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Annual capacity: 200,000 MVA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Voltage range: Up to 850kV, 1000MVA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50-day avg fabrication (110kV-500kV)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2022 production: 628 units (110-500kV)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8,764 units (69kV and below)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ISO 9001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Revenue Trajectory 2019–2022  |  Family-Owned: Limited Public Financial Data</a:t>
            </a:r>
          </a:p>
        </p:txBody>
      </p:sp>
      <p:pic>
        <p:nvPicPr>
          <p:cNvPr id="5" name="Picture 4" descr="03_financi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42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2022 Revenue: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59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US$1.0B  (est.)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Revenue Growth: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+33% (2019–2022)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Ownership: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59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Family-owned,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Debt Status: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48BB78"/>
                </a:solidFill>
              </a:defRPr>
            </a:pPr>
            <a:r>
              <a:t>Minimal / Debt-free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Delivered 2022: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59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111,500 MVA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Liquidity: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59" y="279806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Strong (private reserves)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Transparency: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307238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Limited (private co.)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Credit Risk: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334670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48BB78"/>
                </a:solidFill>
              </a:defRPr>
            </a:pPr>
            <a:r>
              <a:t>LOW — stable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Financial Risk:  LOW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Exposure Guidance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Debt-free family ownership — low credit risk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Parent guarantee recommended for large orders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Limited financial transparency — private company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Payment: LC recommended for initial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Transformer Manufacturing — Revenue Comparison</a:t>
            </a:r>
          </a:p>
        </p:txBody>
      </p:sp>
      <p:pic>
        <p:nvPicPr>
          <p:cNvPr id="5" name="Picture 4" descr="04_marke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427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Competitive Landscape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JSHP occupies a unique position as the only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Chinese manufacturer in the top 10 North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American transformer brands. While smaller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than global giants like Siemens and ABB,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JSHP dominates the Medium Power Transformer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segment with unmatched specialization.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JSHP Competitive Advantages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World's largest MPT producer by volume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Only Chinese company in top 10 NA brands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Zero catastrophic failure record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50-day fabrication time (competitive)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Strong value proposition vs. European peers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200,000 MVA manufacturing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Siemens Energy — Germany — €30B+ — Global leader, premium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ABB — Switzerland — €30B+ — Broad portfolio, strong service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Hitachi Energy — Japan — €10B+ — Technology leader, high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TBEA — China — €5B+ — Domestic China leader, expanding globally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OPERATIONAL CAPABILITY  &amp; 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Milestones &amp; Strategic Investment  |  Risk Matrix  |  Capability Summary</a:t>
            </a:r>
          </a:p>
        </p:txBody>
      </p:sp>
      <p:pic>
        <p:nvPicPr>
          <p:cNvPr id="5" name="Picture 4" descr="05_investm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3614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Geopolitical: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3E3E"/>
                </a:solidFill>
              </a:defRPr>
            </a:pPr>
            <a:r>
              <a:t>🔴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18096"/>
                </a:solidFill>
              </a:defRPr>
            </a:pPr>
            <a:r>
              <a:t>100% China manufacturing — tariff/trade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Trade Policy: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D8936"/>
                </a:solidFill>
              </a:defRPr>
            </a:pPr>
            <a:r>
              <a:t>🟡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18096"/>
                </a:solidFill>
              </a:defRPr>
            </a:pPr>
            <a:r>
              <a:t>US/EU tariffs on Chinese electrical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Supply Chain: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53E3E"/>
                </a:solidFill>
              </a:defRPr>
            </a:pPr>
            <a:r>
              <a:t>🔴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18096"/>
                </a:solidFill>
              </a:defRPr>
            </a:pPr>
            <a:r>
              <a:t>Concentrated China supply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Operational: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8BB78"/>
                </a:solidFill>
              </a:defRPr>
            </a:pPr>
            <a:r>
              <a:t>🟢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18096"/>
                </a:solidFill>
              </a:defRPr>
            </a:pPr>
            <a:r>
              <a:t>Zero failures, ISO 9001 certified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Financial: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8BB78"/>
                </a:solidFill>
              </a:defRPr>
            </a:pPr>
            <a:r>
              <a:t>🟢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18096"/>
                </a:solidFill>
              </a:defRPr>
            </a:pPr>
            <a:r>
              <a:t>Debt-free family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ISO 9001 certified quality management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57 years continuous operation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50+ countries served globally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US sales office for NA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COMMERCIAL INTELLIGENCE  &amp; 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Benchmarking Radar  |  Peer Risk Profile  |  Commercial Terms</a:t>
            </a:r>
          </a:p>
        </p:txBody>
      </p:sp>
      <p:pic>
        <p:nvPicPr>
          <p:cNvPr id="5" name="Picture 4" descr="07_benchmarking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78362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8186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Commercial Terms &amp; Negotiation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Pricing: 20-30% below European competitors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Lead time: 50 days average (110kV-500kV)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MOQ: Flexible for established relationships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Warranty: Standard 2-year, extended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D8936"/>
                </a:solidFill>
              </a:defRPr>
            </a:pPr>
            <a:r>
              <a:t>Key Watch Points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Geopolitical: Monitor US-China trade policy developments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Supply chain: Confirm raw material sourcing stability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Currency: Hedge CNY/USD exposure on long-term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Environmental, Social &amp; Governance Screening  |  Overall Rating: MEDIUM</a:t>
            </a:r>
          </a:p>
        </p:txBody>
      </p:sp>
      <p:pic>
        <p:nvPicPr>
          <p:cNvPr id="5" name="Picture 4" descr="09_esg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4215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60175" y="6046927"/>
            <a:ext cx="548640" cy="673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