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SUPPLIER EVALUATION REPORT</a:t>
            </a:r>
          </a:p>
          <a:p>
            <a:r>
              <a:t>SANY Heavy Industry Co., Ltd.</a:t>
            </a:r>
          </a:p>
        </p:txBody>
      </p:sp>
      <p:sp>
        <p:nvSpPr>
          <p:cNvPr id="3" name="Subtitle 2"/>
          <p:cNvSpPr>
            <a:spLocks noGrp="1"/>
          </p:cNvSpPr>
          <p:nvPr>
            <p:ph type="subTitle" idx="1"/>
          </p:nvPr>
        </p:nvSpPr>
        <p:spPr/>
        <p:txBody>
          <a:bodyPr/>
          <a:lstStyle/>
          <a:p>
            <a:r>
              <a:t>Construction &amp; Mining Equipment Manufacturing</a:t>
            </a:r>
          </a:p>
          <a:p>
            <a:r>
              <a:t>SSE: 600031 | Founded: 1986 | HQ: Changsha, China | ~90,000 Employees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SANY Heavy Industry Co., Ltd. — Risk &amp; Suitability Overview</a:t>
            </a:r>
          </a:p>
          <a:p/>
          <a:p>
            <a:r>
              <a:t>OVERALL RISK: MEDIUM-HIGH</a:t>
            </a:r>
          </a:p>
          <a:p>
            <a:r>
              <a:t>Risk Score: 58/100</a:t>
            </a:r>
          </a:p>
          <a:p/>
          <a:p>
            <a:r>
              <a:t>Key Insight:</a:t>
            </a:r>
          </a:p>
          <a:p>
            <a:r>
              <a:t>SANY is the world's #4 construction equipment manufacturer with strong financial recovery (net profit up 32% YoY) and expanding international presence (64% of revenue from overseas). However, significant geopolitical exposure as a China-based manufacturer amid escalating US-China trade tensions creates elevated supply chain and operational risks.</a:t>
            </a:r>
          </a:p>
          <a:p/>
          <a:p>
            <a:r>
              <a:t>Risk Factors:</a:t>
            </a:r>
          </a:p>
          <a:p>
            <a:r>
              <a:t>• China-based manufacturing exposes SANY to US/EU tariff escalation (up to 30-145% duties)</a:t>
            </a:r>
          </a:p>
          <a:p>
            <a:r>
              <a:t>• Strong financial performance with $10.88B revenue and improving margins</a:t>
            </a:r>
          </a:p>
          <a:p>
            <a:r>
              <a:t>• Global #1 in concrete machinery, #1 in excavators by volume</a:t>
            </a:r>
          </a:p>
          <a:p>
            <a:r>
              <a:t>• Leadership transition: Founder Liang Wengen stepped down in 2022; rotating chair system now in place</a:t>
            </a:r>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r>
              <a:t>RECOMMENDATION: APPROVE WITH GEOPOLITICAL CONDITIONS</a:t>
            </a:r>
          </a:p>
          <a:p/>
          <a:p>
            <a:r>
              <a:t>SANY Heavy Industry Co., Ltd. is recommended for Construction &amp; Mining Equipment Manufacturing.</a:t>
            </a:r>
          </a:p>
          <a:p/>
          <a:p>
            <a:r>
              <a:t>Commercial Conditions:</a:t>
            </a:r>
          </a:p>
          <a:p>
            <a:r>
              <a:t>• Maintain diversified supplier base - SANY should not exceed 30% of equipment procurement</a:t>
            </a:r>
          </a:p>
          <a:p>
            <a:r>
              <a:t>• Contractually secure alternative supply routes through non-China manufacturing (India, Brazil, Indonesia)</a:t>
            </a:r>
          </a:p>
          <a:p>
            <a:r>
              <a:t>• Include force majeure clauses for trade restriction escalations</a:t>
            </a:r>
          </a:p>
          <a:p>
            <a:r>
              <a:t>• Require quarterly financial health reporting and 60-day payment terms</a:t>
            </a:r>
          </a:p>
          <a:p>
            <a:r>
              <a:t>• Establish local spare parts inventory to mitigate supply chain disruption risks</a:t>
            </a:r>
          </a:p>
          <a:p/>
          <a:p>
            <a:r>
              <a:t>Risk Summary:</a:t>
            </a:r>
          </a:p>
          <a:p>
            <a:r>
              <a:t>• Financial: LOW</a:t>
            </a:r>
          </a:p>
          <a:p>
            <a:r>
              <a:t>• Operational: MEDIUM</a:t>
            </a:r>
          </a:p>
          <a:p>
            <a:r>
              <a:t>• Geopolitical: HIGH</a:t>
            </a:r>
          </a:p>
          <a:p>
            <a:r>
              <a:t>• ESG: MEDIUM</a:t>
            </a:r>
          </a:p>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SUPPLIER PROFILE</a:t>
            </a:r>
          </a:p>
        </p:txBody>
      </p:sp>
      <p:sp>
        <p:nvSpPr>
          <p:cNvPr id="3" name="Content Placeholder 2"/>
          <p:cNvSpPr>
            <a:spLocks noGrp="1"/>
          </p:cNvSpPr>
          <p:nvPr>
            <p:ph idx="1"/>
          </p:nvPr>
        </p:nvSpPr>
        <p:spPr/>
        <p:txBody>
          <a:bodyPr/>
          <a:lstStyle/>
          <a:p>
            <a:r>
              <a:t>Corporate Structure &amp; Global Footprint</a:t>
            </a:r>
          </a:p>
          <a:p/>
          <a:p>
            <a:r>
              <a:t>Company Overview:</a:t>
            </a:r>
          </a:p>
          <a:p>
            <a:r>
              <a:t>SANY Heavy Industry is one of the world's largest construction equipment manufacturers, founded in 1986 in Changsha, China. The company produces excavators, concrete machinery, cranes, road machinery, and mining equipment. SANY operates 25+ industrial bases globally including manufacturing facilities in China, USA, Germany, India, Brazil, Indonesia, and Russia. The company is particularly dominant in concrete machinery (#1 globally) and excavators (#1 by volume). SANY has been aggressively expanding internationally, with overseas revenue now representing 64% of total sales.</a:t>
            </a:r>
          </a:p>
          <a:p/>
          <a:p>
            <a:r>
              <a:t>Leadership:</a:t>
            </a:r>
          </a:p>
          <a:p>
            <a:r>
              <a:t>Xiang Wenbo — Chairman (Rotating)</a:t>
            </a:r>
          </a:p>
          <a:p>
            <a:r>
              <a:t>  Since 2022</a:t>
            </a:r>
          </a:p>
          <a:p>
            <a:r>
              <a:t>Yu Hongfu — Vice Chairman &amp; CEO</a:t>
            </a:r>
          </a:p>
          <a:p>
            <a:r>
              <a:t>  Since 2022</a:t>
            </a:r>
          </a:p>
          <a:p>
            <a:r>
              <a:t>Liang Wengen — Founder &amp; Former Chairman</a:t>
            </a:r>
          </a:p>
          <a:p>
            <a:r>
              <a:t>  1986-2022</a:t>
            </a:r>
          </a:p>
          <a:p/>
          <a:p>
            <a:r>
              <a:t>Headquarters: Changsha, Hunan Province, China</a:t>
            </a:r>
          </a:p>
          <a:p>
            <a:r>
              <a:t>Employees: ~90,000</a:t>
            </a:r>
          </a:p>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HEALTH</a:t>
            </a:r>
          </a:p>
        </p:txBody>
      </p:sp>
      <p:sp>
        <p:nvSpPr>
          <p:cNvPr id="3" name="Content Placeholder 2"/>
          <p:cNvSpPr>
            <a:spLocks noGrp="1"/>
          </p:cNvSpPr>
          <p:nvPr>
            <p:ph idx="1"/>
          </p:nvPr>
        </p:nvSpPr>
        <p:spPr/>
        <p:txBody>
          <a:bodyPr/>
          <a:lstStyle/>
          <a:p>
            <a:r>
              <a:t>Revenue &amp; EBITDA Trajectory</a:t>
            </a:r>
          </a:p>
          <a:p/>
          <a:p>
            <a:r>
              <a:t>Financial Highlights:</a:t>
            </a:r>
          </a:p>
          <a:p>
            <a:r>
              <a:t>• Revenue 2024: $10.88B (+6.22%)</a:t>
            </a:r>
          </a:p>
          <a:p>
            <a:r>
              <a:t>• EBITDA: $1.2B (est.) (~11% margin)</a:t>
            </a:r>
          </a:p>
          <a:p>
            <a:r>
              <a:t>• Net Profit: $840M</a:t>
            </a:r>
          </a:p>
          <a:p>
            <a:r>
              <a:t>• 3-Year CAGR: +2.1%</a:t>
            </a:r>
          </a:p>
          <a:p>
            <a:r>
              <a:t>• Order Book: $6.5B (est.)</a:t>
            </a:r>
          </a:p>
          <a:p>
            <a:r>
              <a:t>• Gross Debt: $3.5B (est.)</a:t>
            </a:r>
          </a:p>
          <a:p>
            <a:r>
              <a:t>• Net Cash: +$2.1B</a:t>
            </a:r>
          </a:p>
          <a:p>
            <a:r>
              <a:t>• Debt/EBITDA: 2.9x</a:t>
            </a:r>
          </a:p>
          <a:p/>
          <a:p>
            <a:r>
              <a:t>Trend: Stable</a:t>
            </a:r>
          </a:p>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POSITION</a:t>
            </a:r>
          </a:p>
        </p:txBody>
      </p:sp>
      <p:sp>
        <p:nvSpPr>
          <p:cNvPr id="3" name="Content Placeholder 2"/>
          <p:cNvSpPr>
            <a:spLocks noGrp="1"/>
          </p:cNvSpPr>
          <p:nvPr>
            <p:ph idx="1"/>
          </p:nvPr>
        </p:nvSpPr>
        <p:spPr/>
        <p:txBody>
          <a:bodyPr/>
          <a:lstStyle/>
          <a:p>
            <a:r>
              <a:t>Marine Contractor Revenue Comparison — 2024</a:t>
            </a:r>
          </a:p>
          <a:p/>
          <a:p>
            <a:r>
              <a:t>Competitive Landscape:</a:t>
            </a:r>
          </a:p>
          <a:p>
            <a:r>
              <a:t>SANY Heavy Industry Co., Ltd. ranks #4 globally.</a:t>
            </a:r>
          </a:p>
          <a:p/>
          <a:p>
            <a:r>
              <a:t>Key Competitors:</a:t>
            </a:r>
          </a:p>
          <a:p>
            <a:r>
              <a:t>• Caterpillar (CAT): $64.0B</a:t>
            </a:r>
          </a:p>
          <a:p>
            <a:r>
              <a:t>• Komatsu: $25.0B</a:t>
            </a:r>
          </a:p>
          <a:p>
            <a:r>
              <a:t>• XCMG: $13.0B</a:t>
            </a:r>
          </a:p>
          <a:p>
            <a:r>
              <a:t>• John Deere: $12.9B</a:t>
            </a:r>
          </a:p>
          <a:p>
            <a:r>
              <a:t>• SANY: $10.88B</a:t>
            </a:r>
          </a:p>
          <a:p/>
          <a:p>
            <a:r>
              <a:t>Competitive Advantages:</a:t>
            </a:r>
          </a:p>
          <a:p>
            <a:r>
              <a:t>• Global #1 market share in concrete machinery</a:t>
            </a:r>
          </a:p>
          <a:p>
            <a:r>
              <a:t>• Global #1 in excavator sales by unit volume (100,000+ units in 2021)</a:t>
            </a:r>
          </a:p>
          <a:p>
            <a:r>
              <a:t>• Cost-competitive pricing vs Western manufacturers</a:t>
            </a:r>
          </a:p>
          <a:p>
            <a:r>
              <a:t>• Strong R&amp;D with 20+ R&amp;D centers worldwide</a:t>
            </a:r>
          </a:p>
          <a:p>
            <a:r>
              <a:t>• Comprehensive product portfolio from mini-excavators to mining trucks</a:t>
            </a:r>
          </a:p>
          <a:p>
            <a:r>
              <a:t>• Expanding international manufacturing footprint reduces China concentration</a:t>
            </a:r>
          </a:p>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CAPABILITY &amp; RISK ASSESSMENT</a:t>
            </a:r>
          </a:p>
        </p:txBody>
      </p:sp>
      <p:sp>
        <p:nvSpPr>
          <p:cNvPr id="3" name="Content Placeholder 2"/>
          <p:cNvSpPr>
            <a:spLocks noGrp="1"/>
          </p:cNvSpPr>
          <p:nvPr>
            <p:ph idx="1"/>
          </p:nvPr>
        </p:nvSpPr>
        <p:spPr/>
        <p:txBody>
          <a:bodyPr/>
          <a:lstStyle/>
          <a:p>
            <a:r>
              <a:t>Milestones &amp; Strategic Investment | Risk Matrix</a:t>
            </a:r>
          </a:p>
          <a:p/>
          <a:p>
            <a:r>
              <a:t>Risk Summary:</a:t>
            </a:r>
          </a:p>
          <a:p>
            <a:r>
              <a:t>• Financial: LOW</a:t>
            </a:r>
          </a:p>
          <a:p>
            <a:r>
              <a:t>• Operational: MEDIUM</a:t>
            </a:r>
          </a:p>
          <a:p>
            <a:r>
              <a:t>• Geopolitical: HIGH</a:t>
            </a:r>
          </a:p>
          <a:p>
            <a:r>
              <a:t>• ESG: MEDIUM</a:t>
            </a:r>
          </a:p>
          <a:p/>
          <a:p>
            <a:r>
              <a:t>Key Risks:</a:t>
            </a:r>
          </a:p>
          <a:p>
            <a:r>
              <a:t>• Geopolitical: US-China trade tensions have resulted in tariffs of 10-145% ... (Impact: High)</a:t>
            </a:r>
          </a:p>
          <a:p>
            <a:r>
              <a:t>• Operational: While SANY has 16+ overseas manufacturing plants, core R&amp;D a... (Impact: Medium)</a:t>
            </a:r>
          </a:p>
          <a:p>
            <a:r>
              <a:t>• Financial: Debt/EBITDA of ~2.9x is manageable but higher than Western p... (Impact: Low)</a:t>
            </a:r>
          </a:p>
          <a:p>
            <a:r>
              <a:t>• ESG: Chinese manufacturing sector faces elevated ESG scrutiny. Li... (Impact: Medium)</a:t>
            </a:r>
          </a:p>
          <a:p>
            <a:r>
              <a:t>• Governance: Recent leadership transition with founder stepping down and ... (Impact: Low)</a:t>
            </a:r>
          </a:p>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INTELLIGENCE &amp; PEER RISK COMPARISON</a:t>
            </a:r>
          </a:p>
        </p:txBody>
      </p:sp>
      <p:sp>
        <p:nvSpPr>
          <p:cNvPr id="3" name="Content Placeholder 2"/>
          <p:cNvSpPr>
            <a:spLocks noGrp="1"/>
          </p:cNvSpPr>
          <p:nvPr>
            <p:ph idx="1"/>
          </p:nvPr>
        </p:nvSpPr>
        <p:spPr/>
        <p:txBody>
          <a:bodyPr/>
          <a:lstStyle/>
          <a:p>
            <a:r>
              <a:t>Benchmarking Radar | Peer Risk Profile</a:t>
            </a:r>
          </a:p>
          <a:p/>
          <a:p>
            <a:r>
              <a:t>Commercial Terms:</a:t>
            </a:r>
          </a:p>
          <a:p>
            <a:r>
              <a:t>• Standard payment terms: Net-30 to Net-60 days</a:t>
            </a:r>
          </a:p>
          <a:p>
            <a:r>
              <a:t>• Milestone/progress payments standard</a:t>
            </a:r>
          </a:p>
          <a:p>
            <a:r>
              <a:t>• Performance bonds typically required</a:t>
            </a:r>
          </a:p>
          <a:p/>
          <a:p>
            <a:r>
              <a:t>Key Watch Points:</a:t>
            </a:r>
          </a:p>
          <a:p>
            <a:r>
              <a:t>⚠ Monitor project-country risk individually</a:t>
            </a:r>
          </a:p>
          <a:p>
            <a:r>
              <a:t>⚠ Review order book concentration</a:t>
            </a:r>
          </a:p>
          <a:p>
            <a:r>
              <a:t>⚠ Track working capital requirements</a:t>
            </a:r>
          </a:p>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ESG ASSESSMENT</a:t>
            </a:r>
          </a:p>
        </p:txBody>
      </p:sp>
      <p:sp>
        <p:nvSpPr>
          <p:cNvPr id="3" name="Content Placeholder 2"/>
          <p:cNvSpPr>
            <a:spLocks noGrp="1"/>
          </p:cNvSpPr>
          <p:nvPr>
            <p:ph idx="1"/>
          </p:nvPr>
        </p:nvSpPr>
        <p:spPr/>
        <p:txBody>
          <a:bodyPr/>
          <a:lstStyle/>
          <a:p>
            <a:r>
              <a:t>Environmental, Social &amp; Governance Screening</a:t>
            </a:r>
          </a:p>
          <a:p/>
          <a:p>
            <a:r>
              <a:t>Overall Rating: MEDIUM</a:t>
            </a:r>
          </a:p>
          <a:p/>
          <a:p>
            <a:r>
              <a:t>Pillar Ratings:</a:t>
            </a:r>
          </a:p>
          <a:p>
            <a:r>
              <a:t>• Environmental: MEDIUM</a:t>
            </a:r>
          </a:p>
          <a:p>
            <a:r>
              <a:t>• Social: MEDIUM</a:t>
            </a:r>
          </a:p>
          <a:p>
            <a:r>
              <a:t>• Governance: MEDIUM</a:t>
            </a:r>
          </a:p>
          <a:p/>
          <a:p>
            <a:r>
              <a:t>Controversies:</a:t>
            </a:r>
          </a:p>
          <a:p>
            <a:r>
              <a:t>⚠ Limited independent ESG rating coverage (Sustainalytics, MSCI)</a:t>
            </a:r>
          </a:p>
          <a:p>
            <a:r>
              <a:t>⚠ Chinese manufacturing sector carbon intensity higher than Western peers</a:t>
            </a:r>
          </a:p>
          <a:p>
            <a:r>
              <a:t>⚠ Supply chain transparency concerns typical of Chinese industrial sector</a:t>
            </a:r>
          </a:p>
          <a:p/>
          <a:p>
            <a:r>
              <a:t>Source: Manu Forti Intelligence | Confidential | March 2026</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