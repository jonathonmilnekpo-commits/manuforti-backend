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BN Engenharia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Construction / Engineering | São Paulo, Brazil | Founded 1975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50292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R$750M Revenue | 152+ Projects | 201-500 Employees | Top 25 Brazil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| March 2026 |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BN Engenharia —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BN Engenharia S.A.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Private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Construction /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São Paulo, Brazil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March 1975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201-500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R$750M (2024)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Parent: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Bueno Netto Group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Projects: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152+ delivered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Ranking: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Top 25 Brazil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50-year track record in Brazilian construction market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Strong diversification: corporate, healthcare, renewable energy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Revenue growth: 9% CAGR (2022-2024) reaching R$750M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Entering infrastructure sector (sanitation, transmission lines)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✓ RECOMMENDATION: 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BN Engenharia demonstrates solid financial performance, 50-year track record, and strong technical capabilities. Medium-low risk profile supports approval.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Commercial Conditions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7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Payment: Milestone-based with retention (5-10%)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Performance: Liquidated damages for delays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246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Insurance: Contractor all-risk policy required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520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Warranty: 5-year structural guarantee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Local Content: Brazilian labor and materials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Enhanced Due Diligence (Mandatory)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6974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Verify current project portfolio and capacity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97180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Review financial statements (private company)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24612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Validate AQUA-HQE certifications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52044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Assess infrastructure project experience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79476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Confirm key personnel availability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0" y="4114800"/>
            <a:ext cx="4754880" cy="22860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0" y="422452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Overall Risk Summary - MEDIUM-LOW (45/100)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</a:rPr>
              <a:t>Financial: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457200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457200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Private company, limited disclosure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48463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</a:rPr>
              <a:t>Operational: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48463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0" y="484632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50-year track record, 152+ projects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5120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</a:rPr>
              <a:t>Geopolitical: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512064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1206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Brazil economic volatility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539495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A5568"/>
                </a:solidFill>
              </a:rPr>
              <a:t>ESG: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5394959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LOW-MED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5394959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</a:rPr>
              <a:t>Strong environmental 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5029200"/>
            <a:ext cx="548640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5138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Company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4406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BN Engenharia is a leading Brazilian construction 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013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  founded in 1975 under the Bueno Netto Group.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87959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Specializes in corporate buildings, hospitals, renewable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9904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  energy, logistics centers, and infrastructure.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18504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Ranks among top 25 construction companies in Brazil.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5029200"/>
            <a:ext cx="5486400" cy="14630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51389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Leadership &amp;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40680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CEO: João Antonio Mattei (General Director)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660136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Structure: Family-managed with partner-led decisions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879592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HQ: Avenida Doutor Cardoso De Melo, São Paulo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6099048"/>
            <a:ext cx="5120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Employees: 201-500 | Projects: 152+ delivered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0" name="Picture 19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Revenue Trajectory 2022-2024 | Private Company</a:t>
            </a:r>
          </a:p>
        </p:txBody>
      </p:sp>
      <p:pic>
        <p:nvPicPr>
          <p:cNvPr id="5" name="Picture 4" descr="03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960120"/>
            <a:ext cx="4572000" cy="32004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0789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Financial Highlights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2024 Revenue: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4630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R$750M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75564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2023 Revenue: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75564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R$700M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0482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Growth: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482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+7.1% YoY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34086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3-Year CAGR: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34086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+9.0%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6334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2022 Revenue: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6334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R$630M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9260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Order Book: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2608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Strong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2186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Ownership: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2186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Bueno Netto Group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51129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Company Type: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51129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Private (S.A.)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80390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8039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201-500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096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Projects: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0965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152+ delivered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23760" y="4297680"/>
            <a:ext cx="4572000" cy="18288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0" y="440740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69E2E"/>
                </a:solidFill>
              </a:rPr>
              <a:t>Financial Risk: MEDIUM 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709160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147"/>
                </a:solidFill>
              </a:rPr>
              <a:t>Exposure Guidance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983480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Private company with limited financial disclosure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522122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Strong revenue growth trajectory (9% CAGR)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545896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Part of established Bueno Netto Group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69671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Request financial statements for major contracts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6" name="Picture 35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Brazilian Construction Sector Comparison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0" y="960120"/>
            <a:ext cx="457200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79" y="10789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COMPETITIVE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150876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BN Engenharia is a mid-tier player in the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78308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Brazilian construction market with R$750M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5740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revenue, significantly smaller than major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331720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publicly traded competitors.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60603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288035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Key Strengths: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315467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Specialized expertise (healthcare, solar)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79" y="342899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Agility from family-managed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70331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50-year reputation and relationships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397763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Diversified across multiple segments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425195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79" y="452627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2147"/>
                </a:solidFill>
              </a:rPr>
              <a:t>Key Challenges: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80059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Scale vs major competitors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79" y="507491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Limited financial 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5349239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Geographic concentration (Brazil)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4" name="Picture 23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+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Strategic Timeline &amp; Risk Matrix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3200400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60120"/>
            <a:ext cx="5029200" cy="411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297680"/>
            <a:ext cx="11612880" cy="21031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4074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Risk Summary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Brazil Economic Volatility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Geopolitical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7091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53E3E"/>
                </a:solidFill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Interest rates, inflation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Construction Cost Inflation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Operational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0292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E53E3E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Material and labor cost increases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Project Execution Delays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Operational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34924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Weather, permitting, subcontractor issues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Client Payment Delays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Financial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66928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Cash flow impact from late payments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Labor Shortage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Social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9893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Skilled construction worker availability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309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Regulatory Changes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6309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Geopolitical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63093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48BB78"/>
                </a:solidFill>
              </a:rPr>
              <a:t>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309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Building codes, environmental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4" name="Picture 33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+ PEER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&amp; Competitive Analysis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486400" cy="3657600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60120"/>
            <a:ext cx="59436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5669280" cy="173736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Negotiation Leverage Assessment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Buyer power: MODERATE (specialized expertise)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22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Volume leverage: Limited at R$750M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784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Alternative suppliers: Available (Cyrela, MRV)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344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Long-term agreements: Favorable terms possible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754880"/>
            <a:ext cx="5760720" cy="173736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4864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Commercial Terms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166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Pricing: Competitive vs larger players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422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Payment: Milestone-based standard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6784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Flexibility: Good for specialized projects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9344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Quality: AQUA-HQE certified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0" name="Picture 19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Review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