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8096"/>
                </a:solidFill>
              </a:rP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Nel 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DC"/>
                </a:solidFill>
              </a:rPr>
              <a:t>Hydrogen Electrolysers | Alkaline &amp; PEM | 1 GW+ Manufacturing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41148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NOK 1.6B Order Backlog | ~550 Employees | Oslo Bors Listed | Founded 1927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Confidential | March 2026 | Manu Forti Intelligence</a:t>
            </a:r>
          </a:p>
        </p:txBody>
      </p:sp>
      <p:pic>
        <p:nvPicPr>
          <p:cNvPr id="10" name="Picture 9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Nel ASA -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Nel ASA (OSE: NEL)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Public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Hydrogen Electrolysers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Oslo, Norway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1927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~550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1.3B (2023)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Order Backlog: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1.6B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941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Cash: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941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1.9B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684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Manufacturing: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684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1.5 GW 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Leading Nordic hydrogen electrolyser manufacturer with 1+ GW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Dual technology: Alkaline (Heroya, Norway) and PEM (Wallingford, 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Negative EBITDA but strong cash position (NOK 1.9B) and order backlog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ESG leader: Enabling green hydrogen economy; strong environmental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2344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⚠ RECOMMENDATION: CONDITIONAL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Nel is a technically capable, established electrolyser manufacturer with strong ESG credentials and manufacturing scale. However, negative EBITDA and order backlog decline require enhanced due diligence and milestone-based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Commercial Conditions</a:t>
            </a:r>
          </a:p>
          <a:p>
            <a:r>
              <a:rPr sz="1100">
                <a:solidFill>
                  <a:srgbClr val="1A202C"/>
                </a:solidFill>
              </a:rPr>
              <a:t>• Payment: Milestone-based (no advance payment)</a:t>
            </a:r>
          </a:p>
          <a:p>
            <a:r>
              <a:rPr sz="1100">
                <a:solidFill>
                  <a:srgbClr val="1A202C"/>
                </a:solidFill>
              </a:rPr>
              <a:t>• Performance bonds: 10-15% of contract value</a:t>
            </a:r>
          </a:p>
          <a:p>
            <a:r>
              <a:rPr sz="1100">
                <a:solidFill>
                  <a:srgbClr val="1A202C"/>
                </a:solidFill>
              </a:rPr>
              <a:t>• Liquidated damages: For delivery delays</a:t>
            </a:r>
          </a:p>
          <a:p>
            <a:r>
              <a:rPr sz="1100">
                <a:solidFill>
                  <a:srgbClr val="1A202C"/>
                </a:solidFill>
              </a:rPr>
              <a:t>• Parent guarantee: Not applicable (public company)</a:t>
            </a:r>
          </a:p>
          <a:p>
            <a:r>
              <a:rPr sz="1100">
                <a:solidFill>
                  <a:srgbClr val="1A202C"/>
                </a:solidFill>
              </a:rPr>
              <a:t>• Local entity: Norwegian contract preferred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Enhanced Due Diligence (Mandatory)</a:t>
            </a:r>
          </a:p>
          <a:p>
            <a:r>
              <a:rPr sz="1100">
                <a:solidFill>
                  <a:srgbClr val="1A202C"/>
                </a:solidFill>
              </a:rPr>
              <a:t>• Review latest quarterly financials (Q4 2024)</a:t>
            </a:r>
          </a:p>
          <a:p>
            <a:r>
              <a:rPr sz="1100">
                <a:solidFill>
                  <a:srgbClr val="1A202C"/>
                </a:solidFill>
              </a:rPr>
              <a:t>• Verify order backlog quality and customer creditworthiness</a:t>
            </a:r>
          </a:p>
          <a:p>
            <a:r>
              <a:rPr sz="1100">
                <a:solidFill>
                  <a:srgbClr val="1A202C"/>
                </a:solidFill>
              </a:rPr>
              <a:t>• Site visit: Heroya manufacturing facility</a:t>
            </a:r>
          </a:p>
          <a:p>
            <a:r>
              <a:rPr sz="1100">
                <a:solidFill>
                  <a:srgbClr val="1A202C"/>
                </a:solidFill>
              </a:rPr>
              <a:t>• Technology validation: Independent electrolyser efficiency test</a:t>
            </a:r>
          </a:p>
          <a:p>
            <a:r>
              <a:rPr sz="1100">
                <a:solidFill>
                  <a:srgbClr val="1A202C"/>
                </a:solidFill>
              </a:rPr>
              <a:t>• Reference checks: Existing utility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74552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Overall Risk Summary - MEDIUM (48/100)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Financial: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Negative EBITDA; strong cash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Operational: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Proven manufacturing; 1+ GW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Geopolitical: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Norwegian-based; stable jurisdiction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ESG: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Green hydrogen enabler; strong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1" name="Picture 20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Corporate Structure &amp; Global Footprint</a:t>
            </a:r>
          </a:p>
        </p:txBody>
      </p:sp>
      <p:pic>
        <p:nvPicPr>
          <p:cNvPr id="5" name="Picture 4" descr="02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9601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Company Overview</a:t>
            </a:r>
          </a:p>
          <a:p>
            <a:r>
              <a:rPr sz="1100">
                <a:solidFill>
                  <a:srgbClr val="1A202C"/>
                </a:solidFill>
              </a:rPr>
              <a:t>• Nel ASA is a leading global hydrogen</a:t>
            </a:r>
          </a:p>
          <a:p>
            <a:r>
              <a:rPr sz="1100">
                <a:solidFill>
                  <a:srgbClr val="1A202C"/>
                </a:solidFill>
              </a:rPr>
              <a:t>• company specializing in electrolyser</a:t>
            </a:r>
          </a:p>
          <a:p>
            <a:r>
              <a:rPr sz="1100">
                <a:solidFill>
                  <a:srgbClr val="1A202C"/>
                </a:solidFill>
              </a:rPr>
              <a:t>• technology for production of green</a:t>
            </a:r>
          </a:p>
          <a:p>
            <a:r>
              <a:rPr sz="1100">
                <a:solidFill>
                  <a:srgbClr val="1A202C"/>
                </a:solidFill>
              </a:rPr>
              <a:t>• hydrogen from renewable energy.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Founded 1927; spun out as dedicated</a:t>
            </a:r>
          </a:p>
          <a:p>
            <a:r>
              <a:rPr sz="1100">
                <a:solidFill>
                  <a:srgbClr val="1A202C"/>
                </a:solidFill>
              </a:rPr>
              <a:t>• hydrogen company in 2015. Listed on</a:t>
            </a:r>
          </a:p>
          <a:p>
            <a:r>
              <a:rPr sz="1100">
                <a:solidFill>
                  <a:srgbClr val="1A202C"/>
                </a:solidFill>
              </a:rPr>
              <a:t>• Oslo Bors (OSE: NEL).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Leadership &amp; Operations</a:t>
            </a:r>
          </a:p>
          <a:p>
            <a:r>
              <a:rPr sz="1100">
                <a:solidFill>
                  <a:srgbClr val="1A202C"/>
                </a:solidFill>
              </a:rPr>
              <a:t>• CEO: Hakon Volldal</a:t>
            </a:r>
          </a:p>
          <a:p>
            <a:r>
              <a:rPr sz="1100">
                <a:solidFill>
                  <a:srgbClr val="1A202C"/>
                </a:solidFill>
              </a:rPr>
              <a:t>•   (appointed 2020)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HQ: Oslo, Norway</a:t>
            </a:r>
          </a:p>
          <a:p>
            <a:r>
              <a:rPr sz="1100">
                <a:solidFill>
                  <a:srgbClr val="1A202C"/>
                </a:solidFill>
              </a:rPr>
              <a:t>• Manufacturing: Heroya (NO),</a:t>
            </a:r>
          </a:p>
          <a:p>
            <a:r>
              <a:rPr sz="1100">
                <a:solidFill>
                  <a:srgbClr val="1A202C"/>
                </a:solidFill>
              </a:rPr>
              <a:t>•   Wallingford (US)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R&amp;D: GM partnership (PEM)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9" name="Picture 8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Revenue &amp; EBITDA Trajectory 2021-2024E | Listed on Oslo Bors</a:t>
            </a:r>
          </a:p>
        </p:txBody>
      </p:sp>
      <p:pic>
        <p:nvPicPr>
          <p:cNvPr id="5" name="Picture 4" descr="03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05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Financial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264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2023 Revenue: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4264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1,253M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7007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2024E Revenue: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7007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~1,400M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751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Growth: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9751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+21% YoY (Q3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942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4942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9E2E"/>
                </a:solidFill>
              </a:rPr>
              <a:t>NOK -90M (Q3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2374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Order Backlog: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52374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1,614M (Q4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7980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Cash Balance: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7980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1,876M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723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0723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~550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3467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Market Cap: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3467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~15B (varies)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703320"/>
            <a:ext cx="4389120" cy="402336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767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Financial Risk: MEDIUM 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062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Exposure Guidance</a:t>
            </a:r>
          </a:p>
          <a:p>
            <a:r>
              <a:rPr sz="1000">
                <a:solidFill>
                  <a:srgbClr val="1A202C"/>
                </a:solidFill>
              </a:rPr>
              <a:t>• Negative EBITDA but strong cash buffer</a:t>
            </a:r>
          </a:p>
          <a:p>
            <a:r>
              <a:rPr sz="1000">
                <a:solidFill>
                  <a:srgbClr val="1A202C"/>
                </a:solidFill>
              </a:rPr>
              <a:t>• Public company - full financial disclosure</a:t>
            </a:r>
          </a:p>
          <a:p>
            <a:r>
              <a:rPr sz="1000">
                <a:solidFill>
                  <a:srgbClr val="1A202C"/>
                </a:solidFill>
              </a:rPr>
              <a:t>• Milestone-based payments recommended</a:t>
            </a:r>
          </a:p>
          <a:p>
            <a:r>
              <a:rPr sz="1000">
                <a:solidFill>
                  <a:srgbClr val="1A202C"/>
                </a:solidFill>
              </a:rPr>
              <a:t>• Monitor quarterly results for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7" name="Picture 2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Hydrogen Electrolyser Market Position - Global Players</a:t>
            </a:r>
          </a:p>
        </p:txBody>
      </p:sp>
      <p:pic>
        <p:nvPicPr>
          <p:cNvPr id="5" name="Picture 4" descr="0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315200" cy="4078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05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Competitive Landscape</a:t>
            </a:r>
          </a:p>
          <a:p>
            <a:r>
              <a:rPr sz="1100">
                <a:solidFill>
                  <a:srgbClr val="1A202C"/>
                </a:solidFill>
              </a:rPr>
              <a:t>• Nel is a top-4 global electrolyser</a:t>
            </a:r>
          </a:p>
          <a:p>
            <a:r>
              <a:rPr sz="1100">
                <a:solidFill>
                  <a:srgbClr val="1A202C"/>
                </a:solidFill>
              </a:rPr>
              <a:t>• manufacturer with established</a:t>
            </a:r>
          </a:p>
          <a:p>
            <a:r>
              <a:rPr sz="1100">
                <a:solidFill>
                  <a:srgbClr val="1A202C"/>
                </a:solidFill>
              </a:rPr>
              <a:t>• technology and manufacturing scale.</a:t>
            </a:r>
          </a:p>
          <a:p>
            <a:r>
              <a:rPr sz="1100">
                <a:solidFill>
                  <a:srgbClr val="1A202C"/>
                </a:solidFill>
              </a:rPr>
              <a:t>• Competes with German industrial</a:t>
            </a:r>
          </a:p>
          <a:p>
            <a:r>
              <a:rPr sz="1100">
                <a:solidFill>
                  <a:srgbClr val="1A202C"/>
                </a:solidFill>
              </a:rPr>
              <a:t>• giants and emerging players.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Nel Competitive Advantages</a:t>
            </a:r>
          </a:p>
          <a:p>
            <a:r>
              <a:rPr sz="1100">
                <a:solidFill>
                  <a:srgbClr val="1A202C"/>
                </a:solidFill>
              </a:rPr>
              <a:t>• 1+ GW manufacturing capacity</a:t>
            </a:r>
          </a:p>
          <a:p>
            <a:r>
              <a:rPr sz="1100">
                <a:solidFill>
                  <a:srgbClr val="1A202C"/>
                </a:solidFill>
              </a:rPr>
              <a:t>• Dual technology (Alkaline + PEM)</a:t>
            </a:r>
          </a:p>
          <a:p>
            <a:r>
              <a:rPr sz="1100">
                <a:solidFill>
                  <a:srgbClr val="1A202C"/>
                </a:solidFill>
              </a:rPr>
              <a:t>• Norwegian/Nordic green energy access</a:t>
            </a:r>
          </a:p>
          <a:p>
            <a:r>
              <a:rPr sz="1100">
                <a:solidFill>
                  <a:srgbClr val="1A202C"/>
                </a:solidFill>
              </a:rPr>
              <a:t>• US expansion (4 GW Gigafactory planned)</a:t>
            </a:r>
          </a:p>
          <a:p>
            <a:r>
              <a:rPr sz="1100">
                <a:solidFill>
                  <a:srgbClr val="1A202C"/>
                </a:solidFill>
              </a:rPr>
              <a:t>• GM partnership for PEM technology</a:t>
            </a:r>
          </a:p>
          <a:p>
            <a:r>
              <a:rPr sz="1100">
                <a:solidFill>
                  <a:srgbClr val="1A202C"/>
                </a:solidFill>
              </a:rPr>
              <a:t>• Public company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Competitors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009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Thyssenkrupp Nucera - Germany - 3 GW capacity - Industrial giant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Siemens Energy - Germany - 2.5 GW - Energy infrastructure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70448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John Cockerill - Belgium - 2 GW - Industrial equipment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35624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ITM Power - UK - 800 MW - PEM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Plug Power - USA - 600 MW - Integrated hydrogen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5" name="Picture 1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OPERATIONAL CAPABILITY &amp;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Milestones &amp; Strategic Investment | Risk Matrix | Capability Summary</a:t>
            </a:r>
          </a:p>
        </p:txBody>
      </p:sp>
      <p:pic>
        <p:nvPicPr>
          <p:cNvPr id="5" name="Picture 4" descr="0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2670048"/>
          </a:xfrm>
          <a:prstGeom prst="rect">
            <a:avLst/>
          </a:prstGeom>
        </p:spPr>
      </p:pic>
      <p:pic>
        <p:nvPicPr>
          <p:cNvPr id="6" name="Picture 5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960120"/>
            <a:ext cx="5029200" cy="4078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023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Risk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858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Financial: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5385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3858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Negative EBITDA; strong cash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6144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Operational: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6144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🟢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6144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Proven manufacturing; 1+ GW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843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Technology: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430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🟢 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8430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Mature alkaline + GM PEM partnership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0716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Competition: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0716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60716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Strong German/Chinese 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002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Market Timing: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6300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63002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Green hydrogen adoption slower than expected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102352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Capabilities</a:t>
            </a:r>
          </a:p>
          <a:p>
            <a:r>
              <a:rPr sz="1000">
                <a:solidFill>
                  <a:srgbClr val="1A202C"/>
                </a:solidFill>
              </a:rPr>
              <a:t>• Alkaline electrolyser manufacturing (1 GW)</a:t>
            </a:r>
          </a:p>
          <a:p>
            <a:r>
              <a:rPr sz="1000">
                <a:solidFill>
                  <a:srgbClr val="1A202C"/>
                </a:solidFill>
              </a:rPr>
              <a:t>• PEM electrolyser technology (GM partnership)</a:t>
            </a:r>
          </a:p>
          <a:p>
            <a:r>
              <a:rPr sz="1000">
                <a:solidFill>
                  <a:srgbClr val="1A202C"/>
                </a:solidFill>
              </a:rPr>
              <a:t>• Modular, scalable system design</a:t>
            </a:r>
          </a:p>
          <a:p>
            <a:r>
              <a:rPr sz="1000">
                <a:solidFill>
                  <a:srgbClr val="1A202C"/>
                </a:solidFill>
              </a:rPr>
              <a:t>• Global service and support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5" name="Picture 24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COMMERCIAL INTELLIGENCE &amp; PEER RISK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Benchmarking Radar | Peer Risk Profile | Commercial Terms</a:t>
            </a:r>
          </a:p>
        </p:txBody>
      </p:sp>
      <p:pic>
        <p:nvPicPr>
          <p:cNvPr id="5" name="Picture 4" descr="07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303520" cy="4334256"/>
          </a:xfrm>
          <a:prstGeom prst="rect">
            <a:avLst/>
          </a:prstGeom>
        </p:spPr>
      </p:pic>
      <p:pic>
        <p:nvPicPr>
          <p:cNvPr id="6" name="Picture 5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630936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5303520"/>
            <a:ext cx="11612880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Commercial Terms &amp; Negotiation</a:t>
            </a:r>
          </a:p>
          <a:p>
            <a:r>
              <a:rPr sz="1000">
                <a:solidFill>
                  <a:srgbClr val="1A202C"/>
                </a:solidFill>
              </a:rPr>
              <a:t>• Pricing: Competitive vs Siemens/Thyssenkrupp</a:t>
            </a:r>
          </a:p>
          <a:p>
            <a:r>
              <a:rPr sz="1000">
                <a:solidFill>
                  <a:srgbClr val="1A202C"/>
                </a:solidFill>
              </a:rPr>
              <a:t>• Lead time: 12-18 months for large-scale projects</a:t>
            </a:r>
          </a:p>
          <a:p>
            <a:r>
              <a:rPr sz="1000">
                <a:solidFill>
                  <a:srgbClr val="1A202C"/>
                </a:solidFill>
              </a:rPr>
              <a:t>• Payment: Milestone-based recommended</a:t>
            </a:r>
          </a:p>
          <a:p>
            <a:r>
              <a:rPr sz="1000">
                <a:solidFill>
                  <a:srgbClr val="1A202C"/>
                </a:solidFill>
              </a:rPr>
              <a:t>• Warranty: Standard 2-year equipment warranty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492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Watch Points</a:t>
            </a:r>
          </a:p>
          <a:p>
            <a:r>
              <a:rPr sz="1000">
                <a:solidFill>
                  <a:srgbClr val="1A202C"/>
                </a:solidFill>
              </a:rPr>
              <a:t>• ⚠ Monitor quarterly financial results for EBITDA improvement</a:t>
            </a:r>
          </a:p>
          <a:p>
            <a:r>
              <a:rPr sz="1000">
                <a:solidFill>
                  <a:srgbClr val="1A202C"/>
                </a:solidFill>
              </a:rPr>
              <a:t>• ⚠ Track order backlog trend (declined from NOK 2.4B to 1.6B)</a:t>
            </a:r>
          </a:p>
          <a:p>
            <a:r>
              <a:rPr sz="1000">
                <a:solidFill>
                  <a:srgbClr val="1A202C"/>
                </a:solidFill>
              </a:rPr>
              <a:t>• ⚠ Verify US Gigafactory construction timeline</a:t>
            </a:r>
          </a:p>
          <a:p>
            <a:r>
              <a:rPr sz="1000">
                <a:solidFill>
                  <a:srgbClr val="1A202C"/>
                </a:solidFill>
              </a:rPr>
              <a:t>• ⚠ Assess competition from Chinese electrolyser manufacturers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1" name="Picture 10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Environmental, Social &amp; Governance Screening | Overall Rating: LOW</a:t>
            </a:r>
          </a:p>
        </p:txBody>
      </p:sp>
      <p:pic>
        <p:nvPicPr>
          <p:cNvPr id="5" name="Picture 4" descr="09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960120"/>
            <a:ext cx="9144000" cy="5422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