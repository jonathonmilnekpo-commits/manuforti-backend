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BE20"/>
                </a:solidFill>
                <a:latin typeface="Calibri"/>
              </a:rPr>
              <a:t>Jonathon Milne  |  SVP Procurement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Procurement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8BE20"/>
                </a:solidFill>
                <a:latin typeface="Calibri"/>
              </a:rPr>
              <a:t>Statkraft  ·  All Spend &amp;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10515600" cy="27432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FFCC"/>
                </a:solidFill>
                <a:latin typeface="Calibri"/>
              </a:rPr>
              <a:t>Cost-Conscious  ·  Strategically Structured  ·  Built to 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88"/>
                </a:solidFill>
                <a:latin typeface="Calibri"/>
              </a:rPr>
              <a:t>Confidential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Cost-Conscious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BE20"/>
                </a:solidFill>
                <a:latin typeface="Calibri"/>
              </a:rPr>
              <a:t>Measuring what matters across every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566160" cy="109728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B2D"/>
                </a:solidFill>
                <a:latin typeface="Calibri"/>
              </a:rPr>
              <a:t>⚙ 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32918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3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B2D"/>
                </a:solidFill>
                <a:latin typeface="Calibri"/>
              </a:rPr>
              <a:t>$/MWh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79"/>
            <a:ext cx="32918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19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B2D"/>
                </a:solidFill>
                <a:latin typeface="Calibri"/>
              </a:rPr>
              <a:t>OEE /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Drive day-to-day efficiency in operational spend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3566160" cy="109728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B2D"/>
                </a:solidFill>
                <a:latin typeface="Calibri"/>
              </a:rPr>
              <a:t>🏗  Projects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103120"/>
            <a:ext cx="32918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14883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B2D"/>
                </a:solidFill>
                <a:latin typeface="Calibri"/>
              </a:rPr>
              <a:t>$/MW Installed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697479"/>
            <a:ext cx="32918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74319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B2D"/>
                </a:solidFill>
                <a:latin typeface="Calibri"/>
              </a:rPr>
              <a:t>IRR / NPV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Maximise value on capital projects and investments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566160" cy="109728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B2D"/>
                </a:solidFill>
                <a:latin typeface="Calibri"/>
              </a:rPr>
              <a:t>🏢  Corporate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103120"/>
            <a:ext cx="32918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14883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B2D"/>
                </a:solidFill>
                <a:latin typeface="Calibri"/>
              </a:rPr>
              <a:t>IT $/FTE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2697479"/>
            <a:ext cx="3291840" cy="45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74319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B2D"/>
                </a:solidFill>
                <a:latin typeface="Calibri"/>
              </a:rPr>
              <a:t>$/MWh Benchmark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Benchmark overheads against best-in-class peers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Statkraft  ·  Procurement Vision  ·  Jonathon Milne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Strategic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BE20"/>
                </a:solidFill>
                <a:latin typeface="Calibri"/>
              </a:rPr>
              <a:t>A structured path to procurement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772400" cy="1417319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822960" cy="1417319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4416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B2D"/>
                </a:solidFill>
                <a:latin typeface="Calibri"/>
              </a:rPr>
              <a:t>Strategic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64792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Elevate procurement from a cost function to a strategic enabler — embedded in business decisions from day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7772400" cy="1417319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822960" cy="1417319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5292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B2D"/>
                </a:solidFill>
                <a:latin typeface="Calibri"/>
              </a:rPr>
              <a:t>Staircase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73552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Build capability in structured steps: establish the baseline, identify gaps, set targets, and execute with discipline.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51960"/>
            <a:ext cx="7772400" cy="1417319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822960" cy="1417319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6168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B2D"/>
                </a:solidFill>
                <a:latin typeface="Calibri"/>
              </a:rPr>
              <a:t>Controls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82312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Strengthen governance frameworks, improve transparency, and ensure procurement operates to the highest standards.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234440"/>
            <a:ext cx="3474720" cy="4434840"/>
          </a:xfrm>
          <a:prstGeom prst="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1234440"/>
            <a:ext cx="3474720" cy="73152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5-Year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BE20"/>
                </a:solidFill>
                <a:latin typeface="Calibri"/>
              </a:rPr>
              <a:t>Learning Organisation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423160"/>
            <a:ext cx="3200400" cy="457200"/>
          </a:xfrm>
          <a:prstGeom prst="rect">
            <a:avLst/>
          </a:prstGeom>
          <a:solidFill>
            <a:srgbClr val="00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4871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Y1  ·  Baseline &amp; Quick Wins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2990088"/>
            <a:ext cx="3200400" cy="457200"/>
          </a:xfrm>
          <a:prstGeom prst="rect">
            <a:avLst/>
          </a:prstGeom>
          <a:solidFill>
            <a:srgbClr val="00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30540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Y2  ·  Capability Building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557016"/>
            <a:ext cx="3200400" cy="457200"/>
          </a:xfrm>
          <a:prstGeom prst="rect">
            <a:avLst/>
          </a:prstGeom>
          <a:solidFill>
            <a:srgbClr val="00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362102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Y3  ·  Strategic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4123944"/>
            <a:ext cx="3200400" cy="457200"/>
          </a:xfrm>
          <a:prstGeom prst="rect">
            <a:avLst/>
          </a:prstGeom>
          <a:solidFill>
            <a:srgbClr val="00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41879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Y4  ·  Performance Culture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4690872"/>
            <a:ext cx="3200400" cy="457200"/>
          </a:xfrm>
          <a:prstGeom prst="rect">
            <a:avLst/>
          </a:prstGeom>
          <a:solidFill>
            <a:srgbClr val="00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47548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Y5  ·  Best-in-Class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Statkraft  ·  Procurement Vision  ·  Jonathon Milne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