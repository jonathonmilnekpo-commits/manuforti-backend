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SUPPLIER EVALUATION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JSHP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Power Transformers  |  Medium Power Specialist  |  Global Market Leader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US$1.0B Revenue (2022)  |  2,500 Employees  |  57 Years Experience  |  200,000 MVA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pic>
        <p:nvPicPr>
          <p:cNvPr id="8" name="Picture 7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6927"/>
            <a:ext cx="548640" cy="6737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2B6CB0"/>
                </a:solidFill>
              </a:defRPr>
            </a:pPr>
            <a:r>
              <a:t>JiangSu HuaPeng Transformer Co., Ltd. — Risk &amp; Suitability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6583680" cy="2834640"/>
          </a:xfrm>
          <a:prstGeom prst="rect">
            <a:avLst/>
          </a:prstGeom>
          <a:solidFill>
            <a:srgbClr val="F0F0F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Overall Risk: MEDIUM</a:t>
            </a:r>
            <a:br/>
            <a:r>
              <a:t>Score: 48/100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960120"/>
            <a:ext cx="493776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SUPPLIER SNAPSHOT</a:t>
            </a:r>
          </a:p>
          <a:p>
            <a:pPr>
              <a:spcAft>
                <a:spcPts val="400"/>
              </a:spcAft>
              <a:defRPr sz="1000"/>
            </a:pPr>
            <a:r>
              <a:t>Supplier: JSHP Transformer</a:t>
            </a:r>
          </a:p>
          <a:p>
            <a:pPr>
              <a:spcAft>
                <a:spcPts val="400"/>
              </a:spcAft>
              <a:defRPr sz="1000"/>
            </a:pPr>
            <a:r>
              <a:t>Type: Family-Owned (Private)</a:t>
            </a:r>
          </a:p>
          <a:p>
            <a:pPr>
              <a:spcAft>
                <a:spcPts val="400"/>
              </a:spcAft>
              <a:defRPr sz="1000"/>
            </a:pPr>
            <a:r>
              <a:t>Sector: Power Transformer Manufacturing</a:t>
            </a:r>
          </a:p>
          <a:p>
            <a:pPr>
              <a:spcAft>
                <a:spcPts val="400"/>
              </a:spcAft>
              <a:defRPr sz="1000"/>
            </a:pPr>
            <a:r>
              <a:t>HQ: Liyang, Jiangsu, China</a:t>
            </a:r>
          </a:p>
          <a:p>
            <a:pPr>
              <a:spcAft>
                <a:spcPts val="400"/>
              </a:spcAft>
              <a:defRPr sz="1000"/>
            </a:pPr>
            <a:r>
              <a:t>Founded: 1967 (57 years)</a:t>
            </a:r>
          </a:p>
          <a:p>
            <a:pPr>
              <a:spcAft>
                <a:spcPts val="400"/>
              </a:spcAft>
              <a:defRPr sz="1000"/>
            </a:pPr>
            <a:r>
              <a:t>Revenue: US$1.0B (2022)</a:t>
            </a:r>
          </a:p>
          <a:p>
            <a:pPr>
              <a:spcAft>
                <a:spcPts val="400"/>
              </a:spcAft>
              <a:defRPr sz="1000"/>
            </a:pPr>
            <a:r>
              <a:t>Employees: 2,500 globally</a:t>
            </a:r>
          </a:p>
          <a:p>
            <a:pPr>
              <a:spcAft>
                <a:spcPts val="400"/>
              </a:spcAft>
              <a:defRPr sz="1000"/>
            </a:pPr>
            <a:r>
              <a:t>Capacity: 200,000 MVA, up to 850kV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931920"/>
            <a:ext cx="6583680" cy="2286000"/>
          </a:xfrm>
          <a:prstGeom prst="rect">
            <a:avLst/>
          </a:prstGeom>
          <a:solidFill>
            <a:srgbClr val="EBF8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2147"/>
                </a:solidFill>
              </a:defRPr>
            </a:pPr>
            <a:r>
              <a:t>Key Findings</a:t>
            </a:r>
          </a:p>
          <a:p>
            <a:pPr>
              <a:spcAft>
                <a:spcPts val="200"/>
              </a:spcAft>
              <a:defRPr sz="900"/>
            </a:pPr>
            <a:r>
              <a:t>• World's largest Medium Power Transformer producer</a:t>
            </a:r>
          </a:p>
          <a:p>
            <a:pPr>
              <a:spcAft>
                <a:spcPts val="200"/>
              </a:spcAft>
              <a:defRPr sz="900"/>
            </a:pPr>
            <a:r>
              <a:t>• 57-year track record with zero catastrophic failures</a:t>
            </a:r>
          </a:p>
          <a:p>
            <a:pPr>
              <a:spcAft>
                <a:spcPts val="200"/>
              </a:spcAft>
              <a:defRPr sz="900"/>
            </a:pPr>
            <a:r>
              <a:t>• Only Chinese company in top 10 North American brands</a:t>
            </a:r>
          </a:p>
          <a:p>
            <a:pPr>
              <a:spcAft>
                <a:spcPts val="200"/>
              </a:spcAft>
              <a:defRPr sz="900"/>
            </a:pPr>
            <a:r>
              <a:t>• Strong manufacturing capacity (200,000 MVA)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pic>
        <p:nvPicPr>
          <p:cNvPr id="9" name="Picture 8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6927"/>
            <a:ext cx="548640" cy="673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123444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✓ APPROVE with Conditions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JSHP Transformer is approved for power transformer projects. MEDIUM risk profile with strong 57-year track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2147"/>
                </a:solidFill>
              </a:defRPr>
            </a:pPr>
            <a:r>
              <a:t>Commercial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2147"/>
                </a:solidFill>
              </a:defRPr>
            </a:pPr>
            <a:r>
              <a:t>Approval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92040"/>
            <a:ext cx="11274552" cy="1371600"/>
          </a:xfrm>
          <a:prstGeom prst="rect">
            <a:avLst/>
          </a:prstGeom>
          <a:solidFill>
            <a:srgbClr val="F0F0F0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Overall Risk Summary — MEDIUM (48/100)</a:t>
            </a:r>
          </a:p>
          <a:p>
            <a:pPr>
              <a:defRPr sz="1000"/>
            </a:pPr>
            <a:r>
              <a:t>Financial: LOW</a:t>
            </a:r>
          </a:p>
          <a:p>
            <a:pPr>
              <a:defRPr sz="1000"/>
            </a:pPr>
            <a:r>
              <a:t>Operational: LOW</a:t>
            </a:r>
          </a:p>
          <a:p>
            <a:pPr>
              <a:defRPr sz="1000"/>
            </a:pPr>
            <a:r>
              <a:t>Geopolitical: HIGH</a:t>
            </a:r>
          </a:p>
          <a:p>
            <a:pPr>
              <a:defRPr sz="1000"/>
            </a:pPr>
            <a:r>
              <a:t>ESG: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pic>
        <p:nvPicPr>
          <p:cNvPr id="9" name="Picture 8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6927"/>
            <a:ext cx="548640" cy="673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pic>
        <p:nvPicPr>
          <p:cNvPr id="5" name="Picture 4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6927"/>
            <a:ext cx="548640" cy="673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pic>
        <p:nvPicPr>
          <p:cNvPr id="5" name="Picture 4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6927"/>
            <a:ext cx="548640" cy="673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pic>
        <p:nvPicPr>
          <p:cNvPr id="5" name="Picture 4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6927"/>
            <a:ext cx="548640" cy="673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OPERATIONAL CAPABILITY &amp;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pic>
        <p:nvPicPr>
          <p:cNvPr id="5" name="Picture 4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6927"/>
            <a:ext cx="548640" cy="673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COMMERCIAL INTELLIGENCE &amp; PEER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pic>
        <p:nvPicPr>
          <p:cNvPr id="5" name="Picture 4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6927"/>
            <a:ext cx="548640" cy="673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pic>
        <p:nvPicPr>
          <p:cNvPr id="5" name="Picture 4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6927"/>
            <a:ext cx="548640" cy="673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