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Relationship Id="rId3" Type="http://schemas.openxmlformats.org/officeDocument/2006/relationships/image" Target="../media/image1.png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Relationship Id="rId3" Type="http://schemas.openxmlformats.org/officeDocument/2006/relationships/image" Target="../media/image1.pn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.png"/><Relationship Id="rId3" Type="http://schemas.openxmlformats.org/officeDocument/2006/relationships/image" Target="../media/image1.png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5.png"/><Relationship Id="rId3" Type="http://schemas.openxmlformats.org/officeDocument/2006/relationships/image" Target="../media/image1.png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6.png"/><Relationship Id="rId3" Type="http://schemas.openxmlformats.org/officeDocument/2006/relationships/image" Target="../media/image1.png"/><Relationship Id="rId4" Type="http://schemas.openxmlformats.org/officeDocument/2006/relationships/image" Target="../media/image9.png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7.png"/><Relationship Id="rId3" Type="http://schemas.openxmlformats.org/officeDocument/2006/relationships/image" Target="../media/image1.png"/><Relationship Id="rId4" Type="http://schemas.openxmlformats.org/officeDocument/2006/relationships/image" Target="../media/image10.png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8.png"/><Relationship Id="rId3" Type="http://schemas.openxmlformats.org/officeDocument/2006/relationships/image" Target="../media/image1.png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00214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5074920"/>
            <a:ext cx="12188952" cy="73152"/>
          </a:xfrm>
          <a:prstGeom prst="rect">
            <a:avLst/>
          </a:prstGeom>
          <a:solidFill>
            <a:srgbClr val="2B6CB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40080" y="1280160"/>
            <a:ext cx="10972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0">
                <a:solidFill>
                  <a:srgbClr val="718096"/>
                </a:solidFill>
              </a:rPr>
              <a:t>SUPPLIER EVALUATION REPORT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1874519"/>
            <a:ext cx="109728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4400" b="1">
                <a:solidFill>
                  <a:srgbClr val="FFFFFF"/>
                </a:solidFill>
              </a:rPr>
              <a:t>WEG S.A.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3200400"/>
            <a:ext cx="109728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0">
                <a:solidFill>
                  <a:srgbClr val="C8D2DC"/>
                </a:solidFill>
              </a:rPr>
              <a:t>Electric Motors, Transformers &amp; Industrial Automation | Bovespa: WEGE3</a:t>
            </a:r>
          </a:p>
        </p:txBody>
      </p:sp>
      <p:sp>
        <p:nvSpPr>
          <p:cNvPr id="7" name="Rectangle 6"/>
          <p:cNvSpPr/>
          <p:nvPr/>
        </p:nvSpPr>
        <p:spPr>
          <a:xfrm>
            <a:off x="640080" y="3977639"/>
            <a:ext cx="5029200" cy="45720"/>
          </a:xfrm>
          <a:prstGeom prst="rect">
            <a:avLst/>
          </a:prstGeom>
          <a:solidFill>
            <a:srgbClr val="2B6CB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40080" y="4160520"/>
            <a:ext cx="10972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>
                <a:solidFill>
                  <a:srgbClr val="C8D2DC"/>
                </a:solidFill>
              </a:rPr>
              <a:t>R$ 38.0B Revenue | 40,000 Employees | Founded 1961 | Jaraguá do Sul, Brazil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40080" y="5669280"/>
            <a:ext cx="10972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718096"/>
                </a:solidFill>
              </a:rPr>
              <a:t>Confidential | March 2026 | Manu Forti Intelligence</a:t>
            </a:r>
          </a:p>
        </p:txBody>
      </p:sp>
      <p:pic>
        <p:nvPicPr>
          <p:cNvPr id="10" name="Picture 9" descr="manu_forti_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460175" y="6047110"/>
            <a:ext cx="548640" cy="673729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914400"/>
          </a:xfrm>
          <a:prstGeom prst="rect">
            <a:avLst/>
          </a:prstGeom>
          <a:solidFill>
            <a:srgbClr val="00214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09728"/>
            <a:ext cx="9144000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800" b="1">
                <a:solidFill>
                  <a:srgbClr val="FFFFFF"/>
                </a:solidFill>
              </a:rPr>
              <a:t>EXECUTIVE SUMMARY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566928"/>
            <a:ext cx="114300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200">
                <a:solidFill>
                  <a:srgbClr val="C8D2DC"/>
                </a:solidFill>
              </a:rPr>
              <a:t>WEG S.A. — Risk &amp; Suitability Overview</a:t>
            </a:r>
          </a:p>
        </p:txBody>
      </p:sp>
      <p:pic>
        <p:nvPicPr>
          <p:cNvPr id="5" name="Picture 4" descr="01_risk_gau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74320" y="960120"/>
            <a:ext cx="6583680" cy="2834640"/>
          </a:xfrm>
          <a:prstGeom prst="rect">
            <a:avLst/>
          </a:prstGeom>
        </p:spPr>
      </p:pic>
      <p:sp>
        <p:nvSpPr>
          <p:cNvPr id="6" name="Rounded Rectangle 5"/>
          <p:cNvSpPr/>
          <p:nvPr/>
        </p:nvSpPr>
        <p:spPr>
          <a:xfrm>
            <a:off x="6949440" y="960120"/>
            <a:ext cx="4937760" cy="5120640"/>
          </a:xfrm>
          <a:prstGeom prst="roundRect">
            <a:avLst/>
          </a:prstGeom>
          <a:solidFill>
            <a:srgbClr val="F0F5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132320" y="1115568"/>
            <a:ext cx="475488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>
                <a:solidFill>
                  <a:srgbClr val="002147"/>
                </a:solidFill>
              </a:rPr>
              <a:t>SUPPLIER SNAPSHOT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132320" y="1499616"/>
            <a:ext cx="2103120" cy="2468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>
                <a:solidFill>
                  <a:srgbClr val="4A5568"/>
                </a:solidFill>
              </a:rPr>
              <a:t>Supplier: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235440" y="1499616"/>
            <a:ext cx="2468880" cy="2468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1A202C"/>
                </a:solidFill>
              </a:rPr>
              <a:t>WEG S.A.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132320" y="1773936"/>
            <a:ext cx="2103120" cy="2468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>
                <a:solidFill>
                  <a:srgbClr val="4A5568"/>
                </a:solidFill>
              </a:rPr>
              <a:t>Type: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9235440" y="1773936"/>
            <a:ext cx="2468880" cy="2468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1A202C"/>
                </a:solidFill>
              </a:rPr>
              <a:t>Public Company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132320" y="2048255"/>
            <a:ext cx="2103120" cy="2468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>
                <a:solidFill>
                  <a:srgbClr val="4A5568"/>
                </a:solidFill>
              </a:rPr>
              <a:t>Sector: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9235440" y="2048255"/>
            <a:ext cx="2468880" cy="2468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1A202C"/>
                </a:solidFill>
              </a:rPr>
              <a:t>Electric Motors &amp; Automation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7132320" y="2322576"/>
            <a:ext cx="2103120" cy="2468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>
                <a:solidFill>
                  <a:srgbClr val="4A5568"/>
                </a:solidFill>
              </a:rPr>
              <a:t>HQ: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9235440" y="2322576"/>
            <a:ext cx="2468880" cy="2468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1A202C"/>
                </a:solidFill>
              </a:rPr>
              <a:t>Jaraguá do Sul, Brazil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7132320" y="2596896"/>
            <a:ext cx="2103120" cy="2468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>
                <a:solidFill>
                  <a:srgbClr val="4A5568"/>
                </a:solidFill>
              </a:rPr>
              <a:t>Founded: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9235440" y="2596896"/>
            <a:ext cx="2468880" cy="2468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1A202C"/>
                </a:solidFill>
              </a:rPr>
              <a:t>1961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7132320" y="2871215"/>
            <a:ext cx="2103120" cy="2468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>
                <a:solidFill>
                  <a:srgbClr val="4A5568"/>
                </a:solidFill>
              </a:rPr>
              <a:t>Employees: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9235440" y="2871215"/>
            <a:ext cx="2468880" cy="2468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1A202C"/>
                </a:solidFill>
              </a:rPr>
              <a:t>40,000+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7132320" y="3145535"/>
            <a:ext cx="2103120" cy="2468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>
                <a:solidFill>
                  <a:srgbClr val="4A5568"/>
                </a:solidFill>
              </a:rPr>
              <a:t>Revenue: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9235440" y="3145535"/>
            <a:ext cx="2468880" cy="2468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1A202C"/>
                </a:solidFill>
              </a:rPr>
              <a:t>R$ 38.0B (2024)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7132320" y="3419856"/>
            <a:ext cx="2103120" cy="2468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>
                <a:solidFill>
                  <a:srgbClr val="4A5568"/>
                </a:solidFill>
              </a:rPr>
              <a:t>EBITDA Margin: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9235440" y="3419856"/>
            <a:ext cx="2468880" cy="2468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1A202C"/>
                </a:solidFill>
              </a:rPr>
              <a:t>22.4%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7132320" y="3694176"/>
            <a:ext cx="2103120" cy="2468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>
                <a:solidFill>
                  <a:srgbClr val="4A5568"/>
                </a:solidFill>
              </a:rPr>
              <a:t>Debt/EBITDA: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9235440" y="3694176"/>
            <a:ext cx="2468880" cy="2468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1A202C"/>
                </a:solidFill>
              </a:rPr>
              <a:t>0.6x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7132320" y="3968496"/>
            <a:ext cx="2103120" cy="2468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>
                <a:solidFill>
                  <a:srgbClr val="4A5568"/>
                </a:solidFill>
              </a:rPr>
              <a:t>Exchange: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9235440" y="3968496"/>
            <a:ext cx="2468880" cy="2468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1A202C"/>
                </a:solidFill>
              </a:rPr>
              <a:t>Bovespa: WEGE3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274320" y="4773168"/>
            <a:ext cx="6583680" cy="1307592"/>
          </a:xfrm>
          <a:prstGeom prst="roundRect">
            <a:avLst/>
          </a:prstGeom>
          <a:solidFill>
            <a:srgbClr val="F0F5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457200" y="4873752"/>
            <a:ext cx="64008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>
                <a:solidFill>
                  <a:srgbClr val="002147"/>
                </a:solidFill>
              </a:rPr>
              <a:t>Key Findings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457200" y="5166360"/>
            <a:ext cx="6400800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1A202C"/>
                </a:solidFill>
              </a:rPr>
              <a:t>• Global #4 in electric motors with 12% market share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457200" y="5413248"/>
            <a:ext cx="6400800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1A202C"/>
                </a:solidFill>
              </a:rPr>
              <a:t>• Strong financials: 16.9% revenue CAGR, conservative 0.6x Debt/EBITDA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457200" y="5660136"/>
            <a:ext cx="6400800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1A202C"/>
                </a:solidFill>
              </a:rPr>
              <a:t>• 73% revenue from sustainable products — strong ESG profile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457200" y="5907024"/>
            <a:ext cx="6400800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1A202C"/>
                </a:solidFill>
              </a:rPr>
              <a:t>• Risk: BRL currency volatility requires hedge for international buyers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274320" y="6537960"/>
            <a:ext cx="1170432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800">
                <a:solidFill>
                  <a:srgbClr val="718096"/>
                </a:solidFill>
              </a:rPr>
              <a:t>Source: Manu Forti Intelligence  |  Confidential  |  March 2026</a:t>
            </a:r>
          </a:p>
        </p:txBody>
      </p:sp>
      <p:pic>
        <p:nvPicPr>
          <p:cNvPr id="35" name="Picture 34" descr="manu_forti_logo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1460175" y="6047110"/>
            <a:ext cx="548640" cy="673729"/>
          </a:xfrm>
          <a:prstGeom prst="rect">
            <a:avLst/>
          </a:prstGeom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914400"/>
          </a:xfrm>
          <a:prstGeom prst="rect">
            <a:avLst/>
          </a:prstGeom>
          <a:solidFill>
            <a:srgbClr val="00214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09728"/>
            <a:ext cx="9144000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800" b="1">
                <a:solidFill>
                  <a:srgbClr val="FFFFFF"/>
                </a:solidFill>
              </a:rPr>
              <a:t>RECOMMENDATION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566928"/>
            <a:ext cx="114300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200">
                <a:solidFill>
                  <a:srgbClr val="C8D2DC"/>
                </a:solidFill>
              </a:rPr>
              <a:t>Decision Summary &amp; Commercial Conditions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457200" y="1005840"/>
            <a:ext cx="11274552" cy="1234440"/>
          </a:xfrm>
          <a:prstGeom prst="roundRect">
            <a:avLst/>
          </a:prstGeom>
          <a:solidFill>
            <a:srgbClr val="48BB7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640080" y="1143000"/>
            <a:ext cx="109728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000" b="1">
                <a:solidFill>
                  <a:srgbClr val="FFFFFF"/>
                </a:solidFill>
              </a:rPr>
              <a:t>✓ RECOMMENDATION: APPROVE with CURRENCY HEDGE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1691640"/>
            <a:ext cx="10972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FFFFFF"/>
                </a:solidFill>
              </a:rPr>
              <a:t>WEG S.A. is a financially strong, globally diversified electric motor manufacturer with conservative leverage and proven execution. Primary risk is BRL currency exposure.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57200" y="2423160"/>
            <a:ext cx="5486400" cy="228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 b="1">
                <a:solidFill>
                  <a:srgbClr val="002147"/>
                </a:solidFill>
              </a:rPr>
              <a:t>Commercial Conditions</a:t>
            </a:r>
          </a:p>
          <a:p>
            <a:r>
              <a:rPr sz="1100">
                <a:solidFill>
                  <a:srgbClr val="1A202C"/>
                </a:solidFill>
              </a:rPr>
              <a:t>• Payment: Standard terms (30-60 days)</a:t>
            </a:r>
          </a:p>
          <a:p>
            <a:r>
              <a:rPr sz="1100">
                <a:solidFill>
                  <a:srgbClr val="1A202C"/>
                </a:solidFill>
              </a:rPr>
              <a:t>• Performance warranty: Standard manufacturer terms</a:t>
            </a:r>
          </a:p>
          <a:p>
            <a:r>
              <a:rPr sz="1100">
                <a:solidFill>
                  <a:srgbClr val="1A202C"/>
                </a:solidFill>
              </a:rPr>
              <a:t>• Supply agreement: Annual volume commitment</a:t>
            </a:r>
          </a:p>
          <a:p>
            <a:r>
              <a:rPr sz="1100">
                <a:solidFill>
                  <a:srgbClr val="1A202C"/>
                </a:solidFill>
              </a:rPr>
              <a:t>• Price protection: Quarterly adjustments</a:t>
            </a:r>
          </a:p>
          <a:p>
            <a:r>
              <a:rPr sz="1100">
                <a:solidFill>
                  <a:srgbClr val="1A202C"/>
                </a:solidFill>
              </a:rPr>
              <a:t>• Quality assurance: IEC certified products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126480" y="2423160"/>
            <a:ext cx="5486400" cy="228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 b="1">
                <a:solidFill>
                  <a:srgbClr val="002147"/>
                </a:solidFill>
              </a:rPr>
              <a:t>Due Diligence</a:t>
            </a:r>
          </a:p>
          <a:p>
            <a:r>
              <a:rPr sz="1100">
                <a:solidFill>
                  <a:srgbClr val="1A202C"/>
                </a:solidFill>
              </a:rPr>
              <a:t>• Verify currency hedge for contract duration</a:t>
            </a:r>
          </a:p>
          <a:p>
            <a:r>
              <a:rPr sz="1100">
                <a:solidFill>
                  <a:srgbClr val="1A202C"/>
                </a:solidFill>
              </a:rPr>
              <a:t>• Review recent Regal Rexnord integration</a:t>
            </a:r>
          </a:p>
          <a:p>
            <a:r>
              <a:rPr sz="1100">
                <a:solidFill>
                  <a:srgbClr val="1A202C"/>
                </a:solidFill>
              </a:rPr>
              <a:t>• Confirm capacity allocation for your volume</a:t>
            </a:r>
          </a:p>
          <a:p>
            <a:r>
              <a:rPr sz="1100">
                <a:solidFill>
                  <a:srgbClr val="1A202C"/>
                </a:solidFill>
              </a:rPr>
              <a:t>• Validate warranty terms for your application</a:t>
            </a:r>
          </a:p>
          <a:p>
            <a:r>
              <a:rPr sz="1100">
                <a:solidFill>
                  <a:srgbClr val="1A202C"/>
                </a:solidFill>
              </a:rPr>
              <a:t>• Check local service support availability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457200" y="4892040"/>
            <a:ext cx="11274552" cy="1371600"/>
          </a:xfrm>
          <a:prstGeom prst="roundRect">
            <a:avLst/>
          </a:prstGeom>
          <a:solidFill>
            <a:srgbClr val="F0F5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40080" y="5010912"/>
            <a:ext cx="109728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>
                <a:solidFill>
                  <a:srgbClr val="002147"/>
                </a:solidFill>
              </a:rPr>
              <a:t>Escalation Triggers - Change Recommendation If: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40080" y="5285232"/>
            <a:ext cx="10972800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1A202C"/>
                </a:solidFill>
              </a:rPr>
              <a:t>• BRL depreciation &gt;25% against contract currency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40080" y="5513832"/>
            <a:ext cx="10972800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1A202C"/>
                </a:solidFill>
              </a:rPr>
              <a:t>• Loss of investment-grade credit rating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40080" y="5742432"/>
            <a:ext cx="10972800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1A202C"/>
                </a:solidFill>
              </a:rPr>
              <a:t>• Major acquisition integration failure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40080" y="5971032"/>
            <a:ext cx="10972800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1A202C"/>
                </a:solidFill>
              </a:rPr>
              <a:t>• Significant market share loss to competitors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274320" y="6537960"/>
            <a:ext cx="1170432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800">
                <a:solidFill>
                  <a:srgbClr val="718096"/>
                </a:solidFill>
              </a:rPr>
              <a:t>Source: Manu Forti Intelligence  |  Confidential  |  March 2026</a:t>
            </a:r>
          </a:p>
        </p:txBody>
      </p:sp>
      <p:pic>
        <p:nvPicPr>
          <p:cNvPr id="17" name="Picture 16" descr="manu_forti_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460175" y="6047110"/>
            <a:ext cx="548640" cy="673729"/>
          </a:xfrm>
          <a:prstGeom prst="rect">
            <a:avLst/>
          </a:prstGeom>
        </p:spPr>
      </p:pic>
      <p:sp>
        <p:nvSpPr>
          <p:cNvPr id="18" name="Rounded Rectangle 17"/>
          <p:cNvSpPr/>
          <p:nvPr/>
        </p:nvSpPr>
        <p:spPr>
          <a:xfrm>
            <a:off x="7132320" y="4114800"/>
            <a:ext cx="4754880" cy="2286000"/>
          </a:xfrm>
          <a:prstGeom prst="roundRect">
            <a:avLst/>
          </a:prstGeom>
          <a:solidFill>
            <a:srgbClr val="F0F5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7315200" y="4224528"/>
            <a:ext cx="438912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300" b="1">
                <a:solidFill>
                  <a:srgbClr val="002147"/>
                </a:solidFill>
              </a:rPr>
              <a:t>Overall Risk Summary - MEDIUM (45/100)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7315200" y="4572000"/>
            <a:ext cx="137160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000" b="1">
                <a:solidFill>
                  <a:srgbClr val="4A5568"/>
                </a:solidFill>
              </a:rPr>
              <a:t>Financial: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8686800" y="4572000"/>
            <a:ext cx="91440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000" b="1">
                <a:solidFill>
                  <a:srgbClr val="48BB78"/>
                </a:solidFill>
              </a:rPr>
              <a:t>LOW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9601200" y="4572000"/>
            <a:ext cx="210312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900">
                <a:solidFill>
                  <a:srgbClr val="4A5568"/>
                </a:solidFill>
              </a:rPr>
              <a:t>Strong profitability, low leverage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7315200" y="4846320"/>
            <a:ext cx="137160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000" b="1">
                <a:solidFill>
                  <a:srgbClr val="4A5568"/>
                </a:solidFill>
              </a:rPr>
              <a:t>Operational: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8686800" y="4846320"/>
            <a:ext cx="91440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000" b="1">
                <a:solidFill>
                  <a:srgbClr val="48BB78"/>
                </a:solidFill>
              </a:rPr>
              <a:t>LOW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9601200" y="4846320"/>
            <a:ext cx="210312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900">
                <a:solidFill>
                  <a:srgbClr val="4A5568"/>
                </a:solidFill>
              </a:rPr>
              <a:t>Proven scale, global footprint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7315200" y="5120640"/>
            <a:ext cx="137160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000" b="1">
                <a:solidFill>
                  <a:srgbClr val="4A5568"/>
                </a:solidFill>
              </a:rPr>
              <a:t>Geopolitical: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8686800" y="5120640"/>
            <a:ext cx="91440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000" b="1">
                <a:solidFill>
                  <a:srgbClr val="D69E2E"/>
                </a:solidFill>
              </a:rPr>
              <a:t>MEDIUM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9601200" y="5120640"/>
            <a:ext cx="210312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900">
                <a:solidFill>
                  <a:srgbClr val="4A5568"/>
                </a:solidFill>
              </a:rPr>
              <a:t>BRL currency exposure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7315200" y="5394959"/>
            <a:ext cx="137160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000" b="1">
                <a:solidFill>
                  <a:srgbClr val="4A5568"/>
                </a:solidFill>
              </a:rPr>
              <a:t>ESG: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8686800" y="5394959"/>
            <a:ext cx="91440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000" b="1">
                <a:solidFill>
                  <a:srgbClr val="48BB78"/>
                </a:solidFill>
              </a:rPr>
              <a:t>LOW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9601200" y="5394959"/>
            <a:ext cx="210312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900">
                <a:solidFill>
                  <a:srgbClr val="4A5568"/>
                </a:solidFill>
              </a:rPr>
              <a:t>73% sustainable revenue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914400"/>
          </a:xfrm>
          <a:prstGeom prst="rect">
            <a:avLst/>
          </a:prstGeom>
          <a:solidFill>
            <a:srgbClr val="00214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09728"/>
            <a:ext cx="9144000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800" b="1">
                <a:solidFill>
                  <a:srgbClr val="FFFFFF"/>
                </a:solidFill>
              </a:rPr>
              <a:t>SUPPLIER PROFILE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566928"/>
            <a:ext cx="114300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200">
                <a:solidFill>
                  <a:srgbClr val="C8D2DC"/>
                </a:solidFill>
              </a:rPr>
              <a:t>Corporate Structure &amp; Global Footprint</a:t>
            </a:r>
          </a:p>
        </p:txBody>
      </p:sp>
      <p:pic>
        <p:nvPicPr>
          <p:cNvPr id="5" name="Picture 4" descr="02_org_chart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74320" y="960120"/>
            <a:ext cx="7498079" cy="4096512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274320" y="6537960"/>
            <a:ext cx="1170432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800">
                <a:solidFill>
                  <a:srgbClr val="718096"/>
                </a:solidFill>
              </a:rPr>
              <a:t>Source: Manu Forti Intelligence  |  Confidential  |  March 2026</a:t>
            </a:r>
          </a:p>
        </p:txBody>
      </p:sp>
      <p:pic>
        <p:nvPicPr>
          <p:cNvPr id="7" name="Picture 6" descr="manu_forti_logo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1460175" y="6047110"/>
            <a:ext cx="548640" cy="673729"/>
          </a:xfrm>
          <a:prstGeom prst="rect">
            <a:avLst/>
          </a:prstGeom>
        </p:spPr>
      </p:pic>
      <p:sp>
        <p:nvSpPr>
          <p:cNvPr id="8" name="Rounded Rectangle 7"/>
          <p:cNvSpPr/>
          <p:nvPr/>
        </p:nvSpPr>
        <p:spPr>
          <a:xfrm>
            <a:off x="457200" y="5029200"/>
            <a:ext cx="5486400" cy="1463040"/>
          </a:xfrm>
          <a:prstGeom prst="roundRect">
            <a:avLst/>
          </a:prstGeom>
          <a:solidFill>
            <a:srgbClr val="F0F5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40080" y="5138928"/>
            <a:ext cx="512064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300" b="1">
                <a:solidFill>
                  <a:srgbClr val="002147"/>
                </a:solidFill>
              </a:rPr>
              <a:t>Company Overview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40080" y="5440680"/>
            <a:ext cx="5120640" cy="2011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000">
                <a:solidFill>
                  <a:srgbClr val="1A202C"/>
                </a:solidFill>
              </a:rPr>
              <a:t>• WEG S.A. is a leading global manufacturer of electric motors,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40080" y="5660136"/>
            <a:ext cx="5120640" cy="2011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000">
                <a:solidFill>
                  <a:srgbClr val="1A202C"/>
                </a:solidFill>
              </a:rPr>
              <a:t>  transformers, and industrial automation equipment.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40080" y="5879592"/>
            <a:ext cx="5120640" cy="2011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000">
                <a:solidFill>
                  <a:srgbClr val="1A202C"/>
                </a:solidFill>
              </a:rPr>
              <a:t>• Founded in 1961 in Jaraguá do Sul, Brazil by Werner, Eggon,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40080" y="6099048"/>
            <a:ext cx="5120640" cy="2011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000">
                <a:solidFill>
                  <a:srgbClr val="1A202C"/>
                </a:solidFill>
              </a:rPr>
              <a:t>  and Geraldo (W-E-G).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40080" y="6318504"/>
            <a:ext cx="5120640" cy="2011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000">
                <a:solidFill>
                  <a:srgbClr val="1A202C"/>
                </a:solidFill>
              </a:rPr>
              <a:t>• Serves 135+ countries with 40,000+ employees worldwide.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6217920" y="5029200"/>
            <a:ext cx="5486400" cy="1463040"/>
          </a:xfrm>
          <a:prstGeom prst="roundRect">
            <a:avLst/>
          </a:prstGeom>
          <a:solidFill>
            <a:srgbClr val="F0F5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6400800" y="5138928"/>
            <a:ext cx="512064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300" b="1">
                <a:solidFill>
                  <a:srgbClr val="002147"/>
                </a:solidFill>
              </a:rPr>
              <a:t>Leadership &amp; Operations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400800" y="5440680"/>
            <a:ext cx="5120640" cy="2011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000">
                <a:solidFill>
                  <a:srgbClr val="1A202C"/>
                </a:solidFill>
              </a:rPr>
              <a:t>• CEO: Alberto Kuba (appointed April 2024)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400800" y="5660136"/>
            <a:ext cx="5120640" cy="2011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000">
                <a:solidFill>
                  <a:srgbClr val="1A202C"/>
                </a:solidFill>
              </a:rPr>
              <a:t>  Internal promotion after 25+ years at WEG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400800" y="5879592"/>
            <a:ext cx="5120640" cy="2011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000">
                <a:solidFill>
                  <a:srgbClr val="1A202C"/>
                </a:solidFill>
              </a:rPr>
              <a:t>• HQ: Jaraguá do Sul, Santa Catarina, Brazil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400800" y="6099048"/>
            <a:ext cx="5120640" cy="2011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000">
                <a:solidFill>
                  <a:srgbClr val="1A202C"/>
                </a:solidFill>
              </a:rPr>
              <a:t>• Stock: Bovespa: WEGE3 | Market Cap: ~$15B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914400"/>
          </a:xfrm>
          <a:prstGeom prst="rect">
            <a:avLst/>
          </a:prstGeom>
          <a:solidFill>
            <a:srgbClr val="00214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09728"/>
            <a:ext cx="9144000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800" b="1">
                <a:solidFill>
                  <a:srgbClr val="FFFFFF"/>
                </a:solidFill>
              </a:rPr>
              <a:t>FINANCIAL HEALTH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566928"/>
            <a:ext cx="114300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200">
                <a:solidFill>
                  <a:srgbClr val="C8D2DC"/>
                </a:solidFill>
              </a:rPr>
              <a:t>Revenue &amp; EBITDA Trajectory 2022-2024 | Bovespa: WEGE3</a:t>
            </a:r>
          </a:p>
        </p:txBody>
      </p:sp>
      <p:pic>
        <p:nvPicPr>
          <p:cNvPr id="5" name="Picture 4" descr="03_financial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74320" y="960120"/>
            <a:ext cx="6858000" cy="4160520"/>
          </a:xfrm>
          <a:prstGeom prst="rect">
            <a:avLst/>
          </a:prstGeom>
        </p:spPr>
      </p:pic>
      <p:sp>
        <p:nvSpPr>
          <p:cNvPr id="6" name="Rounded Rectangle 5"/>
          <p:cNvSpPr/>
          <p:nvPr/>
        </p:nvSpPr>
        <p:spPr>
          <a:xfrm>
            <a:off x="7223760" y="960120"/>
            <a:ext cx="4572000" cy="5120640"/>
          </a:xfrm>
          <a:prstGeom prst="roundRect">
            <a:avLst/>
          </a:prstGeom>
          <a:solidFill>
            <a:srgbClr val="F0F5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406640" y="1078992"/>
            <a:ext cx="420624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>
                <a:solidFill>
                  <a:srgbClr val="002147"/>
                </a:solidFill>
              </a:rPr>
              <a:t>KEY METRICS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406640" y="1463040"/>
            <a:ext cx="228600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>
                <a:solidFill>
                  <a:srgbClr val="4A5568"/>
                </a:solidFill>
              </a:rPr>
              <a:t>Revenue (2024):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692640" y="1463040"/>
            <a:ext cx="201168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1A202C"/>
                </a:solidFill>
              </a:rPr>
              <a:t>R$ 38.0B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406640" y="1810512"/>
            <a:ext cx="228600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>
                <a:solidFill>
                  <a:srgbClr val="4A5568"/>
                </a:solidFill>
              </a:rPr>
              <a:t>Revenue YoY: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9692640" y="1810512"/>
            <a:ext cx="201168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1A202C"/>
                </a:solidFill>
              </a:rPr>
              <a:t>+16.9%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406640" y="2157984"/>
            <a:ext cx="228600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>
                <a:solidFill>
                  <a:srgbClr val="4A5568"/>
                </a:solidFill>
              </a:rPr>
              <a:t>EBITDA: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9692640" y="2157984"/>
            <a:ext cx="201168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1A202C"/>
                </a:solidFill>
              </a:rPr>
              <a:t>R$ 8.5B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7406640" y="2505456"/>
            <a:ext cx="228600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>
                <a:solidFill>
                  <a:srgbClr val="4A5568"/>
                </a:solidFill>
              </a:rPr>
              <a:t>EBITDA Margin: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9692640" y="2505456"/>
            <a:ext cx="201168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1A202C"/>
                </a:solidFill>
              </a:rPr>
              <a:t>22.4%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7406640" y="2852928"/>
            <a:ext cx="228600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>
                <a:solidFill>
                  <a:srgbClr val="4A5568"/>
                </a:solidFill>
              </a:rPr>
              <a:t>Net Profit: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9692640" y="2852928"/>
            <a:ext cx="201168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1A202C"/>
                </a:solidFill>
              </a:rPr>
              <a:t>R$ 4.2B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7406640" y="3200400"/>
            <a:ext cx="228600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>
                <a:solidFill>
                  <a:srgbClr val="4A5568"/>
                </a:solidFill>
              </a:rPr>
              <a:t>3-Year CAGR: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9692640" y="3200400"/>
            <a:ext cx="201168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1A202C"/>
                </a:solidFill>
              </a:rPr>
              <a:t>16.9%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7406640" y="3547872"/>
            <a:ext cx="228600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>
                <a:solidFill>
                  <a:srgbClr val="4A5568"/>
                </a:solidFill>
              </a:rPr>
              <a:t>Debt/EBITDA: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9692640" y="3547872"/>
            <a:ext cx="201168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1A202C"/>
                </a:solidFill>
              </a:rPr>
              <a:t>0.6x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7406640" y="3895344"/>
            <a:ext cx="228600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>
                <a:solidFill>
                  <a:srgbClr val="4A5568"/>
                </a:solidFill>
              </a:rPr>
              <a:t>Cash Position: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9692640" y="3895344"/>
            <a:ext cx="201168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1A202C"/>
                </a:solidFill>
              </a:rPr>
              <a:t>R$ 7.3B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7406640" y="4242816"/>
            <a:ext cx="228600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>
                <a:solidFill>
                  <a:srgbClr val="4A5568"/>
                </a:solidFill>
              </a:rPr>
              <a:t>Market Cap: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9692640" y="4242816"/>
            <a:ext cx="201168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1A202C"/>
                </a:solidFill>
              </a:rPr>
              <a:t>~$15B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7406640" y="4590288"/>
            <a:ext cx="228600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>
                <a:solidFill>
                  <a:srgbClr val="4A5568"/>
                </a:solidFill>
              </a:rPr>
              <a:t>Employees: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9692640" y="4590288"/>
            <a:ext cx="201168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1A202C"/>
                </a:solidFill>
              </a:rPr>
              <a:t>40,000+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274320" y="6537960"/>
            <a:ext cx="1170432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800">
                <a:solidFill>
                  <a:srgbClr val="718096"/>
                </a:solidFill>
              </a:rPr>
              <a:t>Source: Manu Forti Intelligence  |  Confidential  |  March 2026</a:t>
            </a:r>
          </a:p>
        </p:txBody>
      </p:sp>
      <p:pic>
        <p:nvPicPr>
          <p:cNvPr id="29" name="Picture 28" descr="manu_forti_logo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1460175" y="6047110"/>
            <a:ext cx="548640" cy="673729"/>
          </a:xfrm>
          <a:prstGeom prst="rect">
            <a:avLst/>
          </a:prstGeom>
        </p:spPr>
      </p:pic>
      <p:sp>
        <p:nvSpPr>
          <p:cNvPr id="30" name="Rounded Rectangle 29"/>
          <p:cNvSpPr/>
          <p:nvPr/>
        </p:nvSpPr>
        <p:spPr>
          <a:xfrm>
            <a:off x="7223760" y="4572000"/>
            <a:ext cx="4572000" cy="1828800"/>
          </a:xfrm>
          <a:prstGeom prst="roundRect">
            <a:avLst/>
          </a:prstGeom>
          <a:solidFill>
            <a:srgbClr val="F0F5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7406640" y="4681728"/>
            <a:ext cx="420624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300" b="1">
                <a:solidFill>
                  <a:srgbClr val="48BB78"/>
                </a:solidFill>
              </a:rPr>
              <a:t>Financial Risk: LOW ✓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7406640" y="4983480"/>
            <a:ext cx="420624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200" b="1">
                <a:solidFill>
                  <a:srgbClr val="002147"/>
                </a:solidFill>
              </a:rPr>
              <a:t>Exposure Guidance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7406640" y="5257800"/>
            <a:ext cx="4206240" cy="219456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000">
                <a:solidFill>
                  <a:srgbClr val="1A202C"/>
                </a:solidFill>
              </a:rPr>
              <a:t>• Conservative leverage at 0.6x Debt/EBITDA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7406640" y="5495544"/>
            <a:ext cx="4206240" cy="219456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000">
                <a:solidFill>
                  <a:srgbClr val="1A202C"/>
                </a:solidFill>
              </a:rPr>
              <a:t>• Strong cash generation supports growth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7406640" y="5733288"/>
            <a:ext cx="4206240" cy="219456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000">
                <a:solidFill>
                  <a:srgbClr val="1A202C"/>
                </a:solidFill>
              </a:rPr>
              <a:t>• Currency hedge recommended for non-BRL contracts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7406640" y="5971031"/>
            <a:ext cx="4206240" cy="219456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000">
                <a:solidFill>
                  <a:srgbClr val="1A202C"/>
                </a:solidFill>
              </a:rPr>
              <a:t>• Investment-grade credit profile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914400"/>
          </a:xfrm>
          <a:prstGeom prst="rect">
            <a:avLst/>
          </a:prstGeom>
          <a:solidFill>
            <a:srgbClr val="00214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09728"/>
            <a:ext cx="9144000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800" b="1">
                <a:solidFill>
                  <a:srgbClr val="FFFFFF"/>
                </a:solidFill>
              </a:rPr>
              <a:t>MARKET POSITION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566928"/>
            <a:ext cx="114300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200">
                <a:solidFill>
                  <a:srgbClr val="C8D2DC"/>
                </a:solidFill>
              </a:rPr>
              <a:t>Global Electric Motor Market Comparison</a:t>
            </a:r>
          </a:p>
        </p:txBody>
      </p:sp>
      <p:pic>
        <p:nvPicPr>
          <p:cNvPr id="5" name="Picture 4" descr="04_market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74320" y="960120"/>
            <a:ext cx="6858000" cy="4160520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274320" y="6537960"/>
            <a:ext cx="1170432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800">
                <a:solidFill>
                  <a:srgbClr val="718096"/>
                </a:solidFill>
              </a:rPr>
              <a:t>Source: Manu Forti Intelligence  |  Confidential  |  March 2026</a:t>
            </a:r>
          </a:p>
        </p:txBody>
      </p:sp>
      <p:pic>
        <p:nvPicPr>
          <p:cNvPr id="7" name="Picture 6" descr="manu_forti_logo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1460175" y="6047110"/>
            <a:ext cx="548640" cy="673729"/>
          </a:xfrm>
          <a:prstGeom prst="rect">
            <a:avLst/>
          </a:prstGeom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914400"/>
          </a:xfrm>
          <a:prstGeom prst="rect">
            <a:avLst/>
          </a:prstGeom>
          <a:solidFill>
            <a:srgbClr val="00214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09728"/>
            <a:ext cx="9144000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800" b="1">
                <a:solidFill>
                  <a:srgbClr val="FFFFFF"/>
                </a:solidFill>
              </a:rPr>
              <a:t>OPERATIONAL CAPABILITY + RISK ASSESSMENT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566928"/>
            <a:ext cx="114300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200">
                <a:solidFill>
                  <a:srgbClr val="C8D2DC"/>
                </a:solidFill>
              </a:rPr>
              <a:t>Strategic Timeline &amp; Risk Matrix</a:t>
            </a:r>
          </a:p>
        </p:txBody>
      </p:sp>
      <p:pic>
        <p:nvPicPr>
          <p:cNvPr id="5" name="Picture 4" descr="05_timelin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74320" y="960120"/>
            <a:ext cx="6400800" cy="3200400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274320" y="6537960"/>
            <a:ext cx="1170432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800">
                <a:solidFill>
                  <a:srgbClr val="718096"/>
                </a:solidFill>
              </a:rPr>
              <a:t>Source: Manu Forti Intelligence  |  Confidential  |  March 2026</a:t>
            </a:r>
          </a:p>
        </p:txBody>
      </p:sp>
      <p:pic>
        <p:nvPicPr>
          <p:cNvPr id="7" name="Picture 6" descr="manu_forti_logo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1460175" y="6047110"/>
            <a:ext cx="548640" cy="673729"/>
          </a:xfrm>
          <a:prstGeom prst="rect">
            <a:avLst/>
          </a:prstGeom>
        </p:spPr>
      </p:pic>
      <p:sp>
        <p:nvSpPr>
          <p:cNvPr id="8" name="Rounded Rectangle 7"/>
          <p:cNvSpPr/>
          <p:nvPr/>
        </p:nvSpPr>
        <p:spPr>
          <a:xfrm>
            <a:off x="274320" y="4297680"/>
            <a:ext cx="11612880" cy="2103120"/>
          </a:xfrm>
          <a:prstGeom prst="roundRect">
            <a:avLst/>
          </a:prstGeom>
          <a:solidFill>
            <a:srgbClr val="F0F5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457200" y="4407408"/>
            <a:ext cx="109728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300" b="1">
                <a:solidFill>
                  <a:srgbClr val="002147"/>
                </a:solidFill>
              </a:rPr>
              <a:t>Risk Summary Table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57200" y="4709160"/>
            <a:ext cx="32004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000" b="1">
                <a:solidFill>
                  <a:srgbClr val="1A202C"/>
                </a:solidFill>
              </a:rPr>
              <a:t>BRL Currency Volatility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3657600" y="4709160"/>
            <a:ext cx="18288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000">
                <a:solidFill>
                  <a:srgbClr val="4A5568"/>
                </a:solidFill>
              </a:rPr>
              <a:t>Geopolitical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486400" y="4709160"/>
            <a:ext cx="9144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000" b="1">
                <a:solidFill>
                  <a:srgbClr val="E53E3E"/>
                </a:solidFill>
              </a:rPr>
              <a:t>HIGH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400800" y="4709160"/>
            <a:ext cx="50292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000">
                <a:solidFill>
                  <a:srgbClr val="4A5568"/>
                </a:solidFill>
              </a:rPr>
              <a:t>15-25% annual volatility affects pricing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57200" y="5029200"/>
            <a:ext cx="32004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000" b="1">
                <a:solidFill>
                  <a:srgbClr val="1A202C"/>
                </a:solidFill>
              </a:rPr>
              <a:t>Brazil Economic Exposure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3657600" y="5029200"/>
            <a:ext cx="18288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000">
                <a:solidFill>
                  <a:srgbClr val="4A5568"/>
                </a:solidFill>
              </a:rPr>
              <a:t>Geopolitical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5486400" y="5029200"/>
            <a:ext cx="9144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000" b="1">
                <a:solidFill>
                  <a:srgbClr val="D69E2E"/>
                </a:solidFill>
              </a:rPr>
              <a:t>MEDIUM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400800" y="5029200"/>
            <a:ext cx="50292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000">
                <a:solidFill>
                  <a:srgbClr val="4A5568"/>
                </a:solidFill>
              </a:rPr>
              <a:t>43% revenue from Brazil market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457200" y="5349240"/>
            <a:ext cx="32004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000" b="1">
                <a:solidFill>
                  <a:srgbClr val="1A202C"/>
                </a:solidFill>
              </a:rPr>
              <a:t>Commodity Price Fluctuation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3657600" y="5349240"/>
            <a:ext cx="18288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000">
                <a:solidFill>
                  <a:srgbClr val="4A5568"/>
                </a:solidFill>
              </a:rPr>
              <a:t>Operational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5486400" y="5349240"/>
            <a:ext cx="9144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000" b="1">
                <a:solidFill>
                  <a:srgbClr val="D69E2E"/>
                </a:solidFill>
              </a:rPr>
              <a:t>MEDIUM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400800" y="5349240"/>
            <a:ext cx="50292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000">
                <a:solidFill>
                  <a:srgbClr val="4A5568"/>
                </a:solidFill>
              </a:rPr>
              <a:t>Copper, steel price impacts margins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457200" y="5669280"/>
            <a:ext cx="32004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000" b="1">
                <a:solidFill>
                  <a:srgbClr val="1A202C"/>
                </a:solidFill>
              </a:rPr>
              <a:t>Acquisition Integration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3657600" y="5669280"/>
            <a:ext cx="18288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000">
                <a:solidFill>
                  <a:srgbClr val="4A5568"/>
                </a:solidFill>
              </a:rPr>
              <a:t>Operational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5486400" y="5669280"/>
            <a:ext cx="9144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000" b="1">
                <a:solidFill>
                  <a:srgbClr val="D69E2E"/>
                </a:solidFill>
              </a:rPr>
              <a:t>MEDIUM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6400800" y="5669280"/>
            <a:ext cx="50292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000">
                <a:solidFill>
                  <a:srgbClr val="4A5568"/>
                </a:solidFill>
              </a:rPr>
              <a:t>Regal Rexnord integration ongoing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457200" y="5989320"/>
            <a:ext cx="32004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000" b="1">
                <a:solidFill>
                  <a:srgbClr val="1A202C"/>
                </a:solidFill>
              </a:rPr>
              <a:t>Supply Chain Disruption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3657600" y="5989320"/>
            <a:ext cx="18288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000">
                <a:solidFill>
                  <a:srgbClr val="4A5568"/>
                </a:solidFill>
              </a:rPr>
              <a:t>Operational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5486400" y="5989320"/>
            <a:ext cx="9144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000" b="1">
                <a:solidFill>
                  <a:srgbClr val="48BB78"/>
                </a:solidFill>
              </a:rPr>
              <a:t>LOW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6400800" y="5989320"/>
            <a:ext cx="50292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000">
                <a:solidFill>
                  <a:srgbClr val="4A5568"/>
                </a:solidFill>
              </a:rPr>
              <a:t>Diversified global manufacturing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457200" y="6309360"/>
            <a:ext cx="32004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000" b="1">
                <a:solidFill>
                  <a:srgbClr val="1A202C"/>
                </a:solidFill>
              </a:rPr>
              <a:t>Market Share Defense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3657600" y="6309360"/>
            <a:ext cx="18288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000">
                <a:solidFill>
                  <a:srgbClr val="4A5568"/>
                </a:solidFill>
              </a:rPr>
              <a:t>Commercial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5486400" y="6309360"/>
            <a:ext cx="9144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000" b="1">
                <a:solidFill>
                  <a:srgbClr val="48BB78"/>
                </a:solidFill>
              </a:rPr>
              <a:t>LOW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6400800" y="6309360"/>
            <a:ext cx="50292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000">
                <a:solidFill>
                  <a:srgbClr val="4A5568"/>
                </a:solidFill>
              </a:rPr>
              <a:t>Strong competitive position</a:t>
            </a:r>
          </a:p>
        </p:txBody>
      </p:sp>
      <p:pic>
        <p:nvPicPr>
          <p:cNvPr id="34" name="Picture 33" descr="06_risk_matrix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400800" y="960120"/>
            <a:ext cx="5029200" cy="4114800"/>
          </a:xfrm>
          <a:prstGeom prst="rect">
            <a:avLst/>
          </a:prstGeom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914400"/>
          </a:xfrm>
          <a:prstGeom prst="rect">
            <a:avLst/>
          </a:prstGeom>
          <a:solidFill>
            <a:srgbClr val="00214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09728"/>
            <a:ext cx="9144000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800" b="1">
                <a:solidFill>
                  <a:srgbClr val="FFFFFF"/>
                </a:solidFill>
              </a:rPr>
              <a:t>COMMERCIAL INTELLIGENCE + PEER RISK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566928"/>
            <a:ext cx="114300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200">
                <a:solidFill>
                  <a:srgbClr val="C8D2DC"/>
                </a:solidFill>
              </a:rPr>
              <a:t>Benchmarking &amp; Competitive Analysis</a:t>
            </a:r>
          </a:p>
        </p:txBody>
      </p:sp>
      <p:pic>
        <p:nvPicPr>
          <p:cNvPr id="5" name="Picture 4" descr="07_radar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74320" y="960120"/>
            <a:ext cx="5486400" cy="3657600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274320" y="6537960"/>
            <a:ext cx="1170432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800">
                <a:solidFill>
                  <a:srgbClr val="718096"/>
                </a:solidFill>
              </a:rPr>
              <a:t>Source: Manu Forti Intelligence  |  Confidential  |  March 2026</a:t>
            </a:r>
          </a:p>
        </p:txBody>
      </p:sp>
      <p:pic>
        <p:nvPicPr>
          <p:cNvPr id="7" name="Picture 6" descr="manu_forti_logo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1460175" y="6047110"/>
            <a:ext cx="548640" cy="673729"/>
          </a:xfrm>
          <a:prstGeom prst="rect">
            <a:avLst/>
          </a:prstGeom>
        </p:spPr>
      </p:pic>
      <p:sp>
        <p:nvSpPr>
          <p:cNvPr id="8" name="Rounded Rectangle 7"/>
          <p:cNvSpPr/>
          <p:nvPr/>
        </p:nvSpPr>
        <p:spPr>
          <a:xfrm>
            <a:off x="274320" y="4754880"/>
            <a:ext cx="11612880" cy="1737360"/>
          </a:xfrm>
          <a:prstGeom prst="roundRect">
            <a:avLst/>
          </a:prstGeom>
          <a:solidFill>
            <a:srgbClr val="F0F5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457200" y="4864608"/>
            <a:ext cx="54864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300" b="1">
                <a:solidFill>
                  <a:srgbClr val="002147"/>
                </a:solidFill>
              </a:rPr>
              <a:t>Negotiation Leverage Assessment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217920" y="4864608"/>
            <a:ext cx="54864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300" b="1">
                <a:solidFill>
                  <a:srgbClr val="002147"/>
                </a:solidFill>
              </a:rPr>
              <a:t>Commercial Terms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57200" y="5166360"/>
            <a:ext cx="5486400" cy="237744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000">
                <a:solidFill>
                  <a:srgbClr val="1A202C"/>
                </a:solidFill>
              </a:rPr>
              <a:t>• Buyer power: MODERATE (multiple Tier-1 options)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57200" y="5422392"/>
            <a:ext cx="5486400" cy="237744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000">
                <a:solidFill>
                  <a:srgbClr val="1A202C"/>
                </a:solidFill>
              </a:rPr>
              <a:t>• Volume commitment increases leverage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57200" y="5678424"/>
            <a:ext cx="5486400" cy="237744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000">
                <a:solidFill>
                  <a:srgbClr val="1A202C"/>
                </a:solidFill>
              </a:rPr>
              <a:t>• Long-term contracts favor buyer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57200" y="5934456"/>
            <a:ext cx="5486400" cy="237744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000">
                <a:solidFill>
                  <a:srgbClr val="1A202C"/>
                </a:solidFill>
              </a:rPr>
              <a:t>• Currency hedge is key negotiation point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217920" y="5166360"/>
            <a:ext cx="5486400" cy="237744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000">
                <a:solidFill>
                  <a:srgbClr val="1A202C"/>
                </a:solidFill>
              </a:rPr>
              <a:t>• Pricing: Competitive vs ABB/Siemens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217920" y="5422392"/>
            <a:ext cx="5486400" cy="237744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000">
                <a:solidFill>
                  <a:srgbClr val="1A202C"/>
                </a:solidFill>
              </a:rPr>
              <a:t>• Payment: 30-60 days standard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217920" y="5678424"/>
            <a:ext cx="5486400" cy="237744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000">
                <a:solidFill>
                  <a:srgbClr val="1A202C"/>
                </a:solidFill>
              </a:rPr>
              <a:t>• Warranty: Standard manufacturer terms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217920" y="5934456"/>
            <a:ext cx="5486400" cy="237744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000">
                <a:solidFill>
                  <a:srgbClr val="1A202C"/>
                </a:solidFill>
              </a:rPr>
              <a:t>• Delivery: 8-12 weeks for custom orders</a:t>
            </a:r>
          </a:p>
        </p:txBody>
      </p:sp>
      <p:pic>
        <p:nvPicPr>
          <p:cNvPr id="19" name="Picture 18" descr="08_peer_risk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943600" y="960120"/>
            <a:ext cx="5943600" cy="3200400"/>
          </a:xfrm>
          <a:prstGeom prst="rect">
            <a:avLst/>
          </a:prstGeom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914400"/>
          </a:xfrm>
          <a:prstGeom prst="rect">
            <a:avLst/>
          </a:prstGeom>
          <a:solidFill>
            <a:srgbClr val="00214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09728"/>
            <a:ext cx="9144000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800" b="1">
                <a:solidFill>
                  <a:srgbClr val="FFFFFF"/>
                </a:solidFill>
              </a:rPr>
              <a:t>ESG ASSESSMENT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566928"/>
            <a:ext cx="114300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200">
                <a:solidFill>
                  <a:srgbClr val="C8D2DC"/>
                </a:solidFill>
              </a:rPr>
              <a:t>Environmental, Social &amp; Governance Review</a:t>
            </a:r>
          </a:p>
        </p:txBody>
      </p:sp>
      <p:pic>
        <p:nvPicPr>
          <p:cNvPr id="5" name="Picture 4" descr="09_esg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74320" y="960120"/>
            <a:ext cx="11612880" cy="5303520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274320" y="6537960"/>
            <a:ext cx="1170432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800">
                <a:solidFill>
                  <a:srgbClr val="718096"/>
                </a:solidFill>
              </a:rPr>
              <a:t>Source: Manu Forti Intelligence  |  Confidential  |  March 2026</a:t>
            </a:r>
          </a:p>
        </p:txBody>
      </p:sp>
      <p:pic>
        <p:nvPicPr>
          <p:cNvPr id="7" name="Picture 6" descr="manu_forti_logo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1460175" y="6047110"/>
            <a:ext cx="548640" cy="673729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