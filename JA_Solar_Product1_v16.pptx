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88952" cy="73152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718096"/>
                </a:solidFill>
              </a:rPr>
              <a:t>SUPPLIER EVALUATION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JA Solar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00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8D2DC"/>
                </a:solidFill>
              </a:rPr>
              <a:t>Solar Cell &amp; Module Manufacturing | 100+ GW Capacity | Global Leader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3977639"/>
            <a:ext cx="5029200" cy="45720"/>
          </a:xfrm>
          <a:prstGeom prst="rect">
            <a:avLst/>
          </a:prstGeom>
          <a:solidFill>
            <a:srgbClr val="2B6C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C8D2DC"/>
                </a:solidFill>
              </a:rPr>
              <a:t>RMB 81.6B Revenue | 50,000+ Employees | SZSE: 002459 | Founded 2005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6692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718096"/>
                </a:solidFill>
              </a:rPr>
              <a:t>Confidential | March 2026 | Manu Forti Intelligence</a:t>
            </a:r>
          </a:p>
        </p:txBody>
      </p:sp>
      <p:pic>
        <p:nvPicPr>
          <p:cNvPr id="10" name="Picture 9" descr="manu_for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JA Solar - Risk &amp; Suitability Overview</a:t>
            </a:r>
          </a:p>
        </p:txBody>
      </p:sp>
      <p:pic>
        <p:nvPicPr>
          <p:cNvPr id="5" name="Picture 4" descr="01_risk_gau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583680" cy="28346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949440" y="960120"/>
            <a:ext cx="4937760" cy="51206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0" y="1115568"/>
            <a:ext cx="4754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147"/>
                </a:solidFill>
              </a:rPr>
              <a:t>SUPPLIER SNAPSHOT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0" y="149961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Supplier: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35440" y="149961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JA Solar Technology Co., Ltd.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77393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Type: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177393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Public Company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048255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Sector: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2048255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Solar Manufacturing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32257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HQ: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35440" y="232257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Beijing, China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59689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Founded: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259689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2005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871215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Employees: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871215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50,000+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3145535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Revenue: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3145535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RMB 81.6B (2023)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32320" y="341985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Net Profit: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341985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RMB 7.0B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0" y="369417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Shipments: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369417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79 GW (2024)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3968496"/>
            <a:ext cx="210312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Exchange: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35440" y="3968496"/>
            <a:ext cx="246888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Shenzhen 002459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74320" y="4773168"/>
            <a:ext cx="6583680" cy="1307592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873752"/>
            <a:ext cx="6400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147"/>
                </a:solidFill>
              </a:rPr>
              <a:t>Key Findings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166360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Tier-1 solar manufacturer with 79 GW shipments in 2024 (#3 globally)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413248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Strong financials: RMB 81.6B revenue, 40.5% 3-year CAGR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660136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Global manufacturing: China + Southeast Asia facilities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5907024"/>
            <a:ext cx="64008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• V16: What This Means for Buyers: Reliable supplier with trade risk exposure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35" name="Picture 34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Decision Summary &amp; Commercial Conditions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05840"/>
            <a:ext cx="11274552" cy="1234440"/>
          </a:xfrm>
          <a:prstGeom prst="roundRect">
            <a:avLst/>
          </a:prstGeom>
          <a:solidFill>
            <a:srgbClr val="48B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430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✓ RECOMMENDATION: APPROVE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</a:rPr>
              <a:t>JA Solar is a Tier-1 solar manufacturer with strong financials, proven scale, and competitive positioning. Primary risk is geopolitical (China-based, trade restrictions). Recommended with standard monitoring.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4231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147"/>
                </a:solidFill>
              </a:rPr>
              <a:t>Commercial Conditions</a:t>
            </a:r>
          </a:p>
          <a:p>
            <a:r>
              <a:rPr sz="1100">
                <a:solidFill>
                  <a:srgbClr val="1A202C"/>
                </a:solidFill>
              </a:rPr>
              <a:t>• Payment: Standard terms (30-60 days)</a:t>
            </a:r>
          </a:p>
          <a:p>
            <a:r>
              <a:rPr sz="1100">
                <a:solidFill>
                  <a:srgbClr val="1A202C"/>
                </a:solidFill>
              </a:rPr>
              <a:t>• Performance warranty: 25-year module warranty</a:t>
            </a:r>
          </a:p>
          <a:p>
            <a:r>
              <a:rPr sz="1100">
                <a:solidFill>
                  <a:srgbClr val="1A202C"/>
                </a:solidFill>
              </a:rPr>
              <a:t>• Supply agreement: Annual volume commitment</a:t>
            </a:r>
          </a:p>
          <a:p>
            <a:r>
              <a:rPr sz="1100">
                <a:solidFill>
                  <a:srgbClr val="1A202C"/>
                </a:solidFill>
              </a:rPr>
              <a:t>• Price protection: Quarterly price adjustments</a:t>
            </a:r>
          </a:p>
          <a:p>
            <a:r>
              <a:rPr sz="1100">
                <a:solidFill>
                  <a:srgbClr val="1A202C"/>
                </a:solidFill>
              </a:rPr>
              <a:t>• Quality assurance: IEC certified products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2423160"/>
            <a:ext cx="5486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147"/>
                </a:solidFill>
              </a:rPr>
              <a:t>Due Diligence (Recommended)</a:t>
            </a:r>
          </a:p>
          <a:p>
            <a:r>
              <a:rPr sz="1100">
                <a:solidFill>
                  <a:srgbClr val="1A202C"/>
                </a:solidFill>
              </a:rPr>
              <a:t>• Verify supply chain transparency (no forced labor)</a:t>
            </a:r>
          </a:p>
          <a:p>
            <a:r>
              <a:rPr sz="1100">
                <a:solidFill>
                  <a:srgbClr val="1A202C"/>
                </a:solidFill>
              </a:rPr>
              <a:t>• Review tariff exposure for destination market</a:t>
            </a:r>
          </a:p>
          <a:p>
            <a:r>
              <a:rPr sz="1100">
                <a:solidFill>
                  <a:srgbClr val="1A202C"/>
                </a:solidFill>
              </a:rPr>
              <a:t>• Confirm manufacturing capacity allocation</a:t>
            </a:r>
          </a:p>
          <a:p>
            <a:r>
              <a:rPr sz="1100">
                <a:solidFill>
                  <a:srgbClr val="1A202C"/>
                </a:solidFill>
              </a:rPr>
              <a:t>• Validate 25-year warranty backing</a:t>
            </a:r>
          </a:p>
          <a:p>
            <a:r>
              <a:rPr sz="1100">
                <a:solidFill>
                  <a:srgbClr val="1A202C"/>
                </a:solidFill>
              </a:rPr>
              <a:t>• Check ESG compliance certifications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892040"/>
            <a:ext cx="11274552" cy="137160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010912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147"/>
                </a:solidFill>
              </a:rPr>
              <a:t>Escalation Triggers - Change Recommendation If: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285232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New sanctions imposed on JA Solar or parent entities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513832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Forced labor allegations substantiated in supply chain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742432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Financial distress (debt/EBITDA &gt; 4x, negative cash flow)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971032"/>
            <a:ext cx="10972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Loss of Tier-1 Bloomberg NEF ranking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17" name="Picture 16" descr="manu_forti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SUPPLIER PROFILE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Corporate Structure &amp; Global Footprint</a:t>
            </a:r>
          </a:p>
        </p:txBody>
      </p:sp>
      <p:pic>
        <p:nvPicPr>
          <p:cNvPr id="5" name="Picture 4" descr="02_org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7498079" cy="409651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55279" y="960120"/>
            <a:ext cx="39319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147"/>
                </a:solidFill>
              </a:rPr>
              <a:t>Company Overview</a:t>
            </a:r>
          </a:p>
          <a:p>
            <a:r>
              <a:rPr sz="1100">
                <a:solidFill>
                  <a:srgbClr val="1A202C"/>
                </a:solidFill>
              </a:rPr>
              <a:t>• JA Solar is a leading global manufacturer</a:t>
            </a:r>
          </a:p>
          <a:p>
            <a:r>
              <a:rPr sz="1100">
                <a:solidFill>
                  <a:srgbClr val="1A202C"/>
                </a:solidFill>
              </a:rPr>
              <a:t>• of high-performance solar cells and modules.</a:t>
            </a:r>
          </a:p>
          <a:p>
            <a:r>
              <a:rPr sz="1100">
                <a:solidFill>
                  <a:srgbClr val="1A202C"/>
                </a:solidFill>
              </a:rPr>
              <a:t>• Founded 2005, listed on Shenzhen Stock</a:t>
            </a:r>
          </a:p>
          <a:p>
            <a:r>
              <a:rPr sz="1100">
                <a:solidFill>
                  <a:srgbClr val="1A202C"/>
                </a:solidFill>
              </a:rPr>
              <a:t>• Exchange (002459) since 2018.</a:t>
            </a:r>
          </a:p>
          <a:p>
            <a:r>
              <a:rPr sz="1100">
                <a:solidFill>
                  <a:srgbClr val="1A202C"/>
                </a:solidFill>
              </a:rPr>
              <a:t>• </a:t>
            </a:r>
          </a:p>
          <a:p>
            <a:r>
              <a:rPr sz="1100">
                <a:solidFill>
                  <a:srgbClr val="1A202C"/>
                </a:solidFill>
              </a:rPr>
              <a:t>• Vertically integrated from wafer to module</a:t>
            </a:r>
          </a:p>
          <a:p>
            <a:r>
              <a:rPr sz="1100">
                <a:solidFill>
                  <a:srgbClr val="1A202C"/>
                </a:solidFill>
              </a:rPr>
              <a:t>• with R&amp;D focus on cell efficiency.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79" y="4114800"/>
            <a:ext cx="39319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2147"/>
                </a:solidFill>
              </a:rPr>
              <a:t>Leadership &amp; Operations</a:t>
            </a:r>
          </a:p>
          <a:p>
            <a:r>
              <a:rPr sz="1100">
                <a:solidFill>
                  <a:srgbClr val="1A202C"/>
                </a:solidFill>
              </a:rPr>
              <a:t>• CEO: Jin Baofang</a:t>
            </a:r>
          </a:p>
          <a:p>
            <a:r>
              <a:rPr sz="1100">
                <a:solidFill>
                  <a:srgbClr val="1A202C"/>
                </a:solidFill>
              </a:rPr>
              <a:t>•   (industry veteran)</a:t>
            </a:r>
          </a:p>
          <a:p>
            <a:r>
              <a:rPr sz="1100">
                <a:solidFill>
                  <a:srgbClr val="1A202C"/>
                </a:solidFill>
              </a:rPr>
              <a:t>• </a:t>
            </a:r>
          </a:p>
          <a:p>
            <a:r>
              <a:rPr sz="1100">
                <a:solidFill>
                  <a:srgbClr val="1A202C"/>
                </a:solidFill>
              </a:rPr>
              <a:t>• HQ: Beijing, China</a:t>
            </a:r>
          </a:p>
          <a:p>
            <a:r>
              <a:rPr sz="1100">
                <a:solidFill>
                  <a:srgbClr val="1A202C"/>
                </a:solidFill>
              </a:rPr>
              <a:t>• Manufacturing: China,</a:t>
            </a:r>
          </a:p>
          <a:p>
            <a:r>
              <a:rPr sz="1100">
                <a:solidFill>
                  <a:srgbClr val="1A202C"/>
                </a:solidFill>
              </a:rPr>
              <a:t>•   Malaysia, Vietnam</a:t>
            </a:r>
          </a:p>
          <a:p>
            <a:r>
              <a:rPr sz="1100">
                <a:solidFill>
                  <a:srgbClr val="1A202C"/>
                </a:solidFill>
              </a:rPr>
              <a:t>• </a:t>
            </a:r>
          </a:p>
          <a:p>
            <a:r>
              <a:rPr sz="1100">
                <a:solidFill>
                  <a:srgbClr val="1A202C"/>
                </a:solidFill>
              </a:rPr>
              <a:t>• R&amp;D: 1,899 patents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9" name="Picture 8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FINANCIAL HEALTH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Revenue &amp; EBITDA Trajectory 2021-2024E | Shenzhen Stock Exchange</a:t>
            </a:r>
          </a:p>
        </p:txBody>
      </p:sp>
      <p:pic>
        <p:nvPicPr>
          <p:cNvPr id="5" name="Picture 4" descr="03_financi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858000" cy="4160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223760" y="960120"/>
            <a:ext cx="4572000" cy="51206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078992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147"/>
                </a:solidFill>
              </a:rPr>
              <a:t>KEY METRICS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4630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Revenue (2023):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146304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RMB 81.6B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81051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Revenue YoY: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92640" y="181051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+11.7%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15798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EBITDA: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215798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RMB 10.5B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250545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EBITDA Margin: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92640" y="250545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12.9%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285292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Net Profit: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285292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RMB 7.0B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320040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3-Year CAGR: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3200400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40.5%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3547872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Interest Coverage: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92640" y="3547872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~8.5x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389534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Debt/EBITDA: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92640" y="389534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~1.2x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4242816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2024 Shipments: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4242816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79 GW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4590288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4A5568"/>
                </a:solidFill>
              </a:rPr>
              <a:t>R&amp;D Spend: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4590288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RMB 3.7B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29" name="Picture 28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MARKET 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Global Solar Module Rankings &amp; Competitive Landscape</a:t>
            </a:r>
          </a:p>
        </p:txBody>
      </p:sp>
      <p:pic>
        <p:nvPicPr>
          <p:cNvPr id="5" name="Picture 4" descr="04_mark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858000" cy="4160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223760" y="960120"/>
            <a:ext cx="4572000" cy="512064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078992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2147"/>
                </a:solidFill>
              </a:rPr>
              <a:t>COMPETITIVE 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554480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JA Solar ranks #3 globally 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1810512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module shipments (79 GW 2024).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2322576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Tier-1 manufacturer per Bloomberg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2578608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NEF - bankable for utility-scale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834640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projects.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3346704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Competes on price-performance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3602736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with JinkoSolar and LONGi.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06640" y="4114800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Key differentiator: Vertically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4370832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integrated manufacturing with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4626864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strong R&amp;D investment (5.3% of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4882896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A202C"/>
                </a:solidFill>
              </a:rPr>
              <a:t>revenue).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20" name="Picture 19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OPERATIONAL CAPABILITY + RISK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Manufacturing Timeline &amp; Risk Matrix</a:t>
            </a:r>
          </a:p>
        </p:txBody>
      </p:sp>
      <p:pic>
        <p:nvPicPr>
          <p:cNvPr id="5" name="Picture 4" descr="05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6400800" cy="3200400"/>
          </a:xfrm>
          <a:prstGeom prst="rect">
            <a:avLst/>
          </a:prstGeom>
        </p:spPr>
      </p:pic>
      <p:pic>
        <p:nvPicPr>
          <p:cNvPr id="6" name="Picture 5" descr="06_risk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0" y="960120"/>
            <a:ext cx="5029200" cy="3200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74320" y="4297680"/>
            <a:ext cx="11612880" cy="210312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38912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147"/>
                </a:solidFill>
              </a:rPr>
              <a:t>Risk Summary 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7091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China Trade Restrictions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47091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</a:rPr>
              <a:t>Geopolitical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47091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3E3E"/>
                </a:solidFill>
              </a:rPr>
              <a:t>HIGH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7091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</a:rPr>
              <a:t>US tariffs, sanctions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029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Tariff Exposure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50292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</a:rPr>
              <a:t>Geopolitical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5029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53E3E"/>
                </a:solidFill>
              </a:rPr>
              <a:t>HIGH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50292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</a:rPr>
              <a:t>Import duties affect pricing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349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Supply Chain Disruption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0" y="53492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</a:rPr>
              <a:t>Operational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534924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69E2E"/>
                </a:solidFill>
              </a:rPr>
              <a:t>MEDIUM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34924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</a:rPr>
              <a:t>Component availability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669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Technology Transition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0" y="5669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</a:rPr>
              <a:t>Operational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5669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D69E2E"/>
                </a:solidFill>
              </a:rPr>
              <a:t>MEDIUM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56692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</a:rPr>
              <a:t>N-type cell migration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98932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A202C"/>
                </a:solidFill>
              </a:rPr>
              <a:t>Market Share Defense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0" y="5989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</a:rPr>
              <a:t>Commercial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0" y="59893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48BB78"/>
                </a:solidFill>
              </a:rPr>
              <a:t>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598932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4A5568"/>
                </a:solidFill>
              </a:rPr>
              <a:t>Competition from Tier-1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30" name="Picture 29" descr="manu_fort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COMMERCIAL INTELLIGENCE + PEER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Benchmarking &amp; Negotiation Insights</a:t>
            </a:r>
          </a:p>
        </p:txBody>
      </p:sp>
      <p:pic>
        <p:nvPicPr>
          <p:cNvPr id="5" name="Picture 4" descr="07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5486400" cy="3657600"/>
          </a:xfrm>
          <a:prstGeom prst="rect">
            <a:avLst/>
          </a:prstGeom>
        </p:spPr>
      </p:pic>
      <p:pic>
        <p:nvPicPr>
          <p:cNvPr id="6" name="Picture 5" descr="08_peer_ri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960120"/>
            <a:ext cx="5943600" cy="32004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74320" y="4754880"/>
            <a:ext cx="11612880" cy="1737360"/>
          </a:xfrm>
          <a:prstGeom prst="roundRect">
            <a:avLst/>
          </a:prstGeom>
          <a:solidFill>
            <a:srgbClr val="F0F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8646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147"/>
                </a:solidFill>
              </a:rPr>
              <a:t>Negotiation Leverage Assessment (V16)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86460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2147"/>
                </a:solidFill>
              </a:rPr>
              <a:t>Commercial Terms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16636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Buyer power: MODERATE (multiple Tier-1 options)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42239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Volume commitment increases leverage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67842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Long-term contracts favor buyer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93445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Tariff exposure is key negotiation point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5166360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Pricing: $0.15-0.20/W (module)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5422392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Payment: 30-60 days standard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5678424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Warranty: 25-year performance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5934456"/>
            <a:ext cx="5486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202C"/>
                </a:solidFill>
              </a:rPr>
              <a:t>• Delivery: 8-12 weeks lead time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19" name="Picture 18" descr="manu_forti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214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9144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FFFFF"/>
                </a:solidFill>
              </a:rPr>
              <a:t>ESG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66928"/>
            <a:ext cx="11430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C8D2DC"/>
                </a:solidFill>
              </a:rPr>
              <a:t>Environmental, Social &amp; Governance Review</a:t>
            </a:r>
          </a:p>
        </p:txBody>
      </p:sp>
      <p:pic>
        <p:nvPicPr>
          <p:cNvPr id="5" name="Picture 4" descr="09_es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60120"/>
            <a:ext cx="11612880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4320" y="6537960"/>
            <a:ext cx="1170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00">
                <a:solidFill>
                  <a:srgbClr val="718096"/>
                </a:solidFill>
              </a:rPr>
              <a:t>Source: Manu Forti Intelligence  |  Confidential  |  March 2026</a:t>
            </a:r>
          </a:p>
        </p:txBody>
      </p:sp>
      <p:pic>
        <p:nvPicPr>
          <p:cNvPr id="7" name="Picture 6" descr="manu_forti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0175" y="6047110"/>
            <a:ext cx="548640" cy="67372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