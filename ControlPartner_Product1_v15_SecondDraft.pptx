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88952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18096"/>
                </a:solidFill>
              </a:rPr>
              <a:t>SUPPLIER EVALUATION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ControlPartner 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DC"/>
                </a:solidFill>
              </a:rPr>
              <a:t>Industrial Automation  |  SCADA Systems  |  Water/Wastewater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977639"/>
            <a:ext cx="4114800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2DC"/>
                </a:solidFill>
              </a:rPr>
              <a:t>NOK 57.3M Revenue  |  40-46 Employees  |  Norway  |  Uniwater Subsidiary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8096"/>
                </a:solidFill>
              </a:rPr>
              <a:t>Confidential  |  March 2026  |  Manu Forti Intelligence</a:t>
            </a:r>
          </a:p>
        </p:txBody>
      </p:sp>
      <p:pic>
        <p:nvPicPr>
          <p:cNvPr id="10" name="Picture 9" descr="manu_for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ControlPartner AS — Risk &amp; Suitability Overview</a:t>
            </a:r>
          </a:p>
        </p:txBody>
      </p:sp>
      <p:pic>
        <p:nvPicPr>
          <p:cNvPr id="5" name="Picture 4" descr="01_risk_gau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583680" cy="2834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0" y="960120"/>
            <a:ext cx="4937760" cy="51206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1155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147"/>
                </a:solidFill>
              </a:rPr>
              <a:t>SUPPLIER 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49961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Supplier: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149961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ControlPartner 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77393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Type: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7393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Private (Uniwater subsidiary)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04825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Sector: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04825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Industrial Automation / SCADA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32257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HQ: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32257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Porsgrunn, Norway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59689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Founded: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59689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2015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87121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Revenue: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87121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NOK 57.3M (2023)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14553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EBITDA: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14553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NOK 5.2M (9.1% margin)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41985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Order Book: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41985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N/A (private)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69417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Employees: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69417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40-46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96849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Parent: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96849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Uniwater AB (Sweden)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4773168"/>
            <a:ext cx="6583680" cy="1307592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8737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147"/>
                </a:solidFill>
              </a:rPr>
              <a:t>Key Findings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166360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Niche Norwegian automation specialist with steady 2021-2023 growth trajectory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13248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Acquired by Uniwater AB in October 2025 — now part of Nordic water tech group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660136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Limited public financial data as private subsidiary — governance integration ongoing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907024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ESG flag: MEDIUM rating due to limited disclosure and recent ownership change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35" name="Picture 34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Decision Summary &amp; Commercial Conditions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11274552" cy="123444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⚠  RECOMMENDATION: CONDITIONAL APPROVAL — ENHANCED DUE DILIGENCE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ControlPartner is a technically capable Norwegian automation specialist with water/wastewater expertise. However, significant data limitations due to private subsidiary status and recent Uniwater acquisition (October 2025) require enhanced due diligence before engagement.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Commercial Conditions</a:t>
            </a:r>
          </a:p>
          <a:p>
            <a:r>
              <a:rPr sz="1100">
                <a:solidFill>
                  <a:srgbClr val="1A202C"/>
                </a:solidFill>
              </a:rPr>
              <a:t>• Payment: Letter of Credit required (no open account)</a:t>
            </a:r>
          </a:p>
          <a:p>
            <a:r>
              <a:rPr sz="1100">
                <a:solidFill>
                  <a:srgbClr val="1A202C"/>
                </a:solidFill>
              </a:rPr>
              <a:t>• Performance bonds: 15% of contract value (above standard)</a:t>
            </a:r>
          </a:p>
          <a:p>
            <a:r>
              <a:rPr sz="1100">
                <a:solidFill>
                  <a:srgbClr val="1A202C"/>
                </a:solidFill>
              </a:rPr>
              <a:t>• Force-majeure: Explicit geopolitical/sanctions clause</a:t>
            </a:r>
          </a:p>
          <a:p>
            <a:r>
              <a:rPr sz="1100">
                <a:solidFill>
                  <a:srgbClr val="1A202C"/>
                </a:solidFill>
              </a:rPr>
              <a:t>• Uniwater parent guarantee for contracts &gt;NOK 5M</a:t>
            </a:r>
          </a:p>
          <a:p>
            <a:r>
              <a:rPr sz="1100">
                <a:solidFill>
                  <a:srgbClr val="1A202C"/>
                </a:solidFill>
              </a:rPr>
              <a:t>• Local entity contracting preferred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4231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Enhanced Due Diligence (Mandatory)</a:t>
            </a:r>
          </a:p>
          <a:p>
            <a:r>
              <a:rPr sz="1100">
                <a:solidFill>
                  <a:srgbClr val="1A202C"/>
                </a:solidFill>
              </a:rPr>
              <a:t>• Request 2024 financials post-Uniwater acquisition</a:t>
            </a:r>
          </a:p>
          <a:p>
            <a:r>
              <a:rPr sz="1100">
                <a:solidFill>
                  <a:srgbClr val="1A202C"/>
                </a:solidFill>
              </a:rPr>
              <a:t>• Verify Uniwater AB creditworthiness and governance</a:t>
            </a:r>
          </a:p>
          <a:p>
            <a:r>
              <a:rPr sz="1100">
                <a:solidFill>
                  <a:srgbClr val="1A202C"/>
                </a:solidFill>
              </a:rPr>
              <a:t>• Supply chain audit: Norwegian labour standards</a:t>
            </a:r>
          </a:p>
          <a:p>
            <a:r>
              <a:rPr sz="1100">
                <a:solidFill>
                  <a:srgbClr val="1A202C"/>
                </a:solidFill>
              </a:rPr>
              <a:t>• Confirm key personnel retention post-acquisition</a:t>
            </a:r>
          </a:p>
          <a:p>
            <a:r>
              <a:rPr sz="1100">
                <a:solidFill>
                  <a:srgbClr val="1A202C"/>
                </a:solidFill>
              </a:rPr>
              <a:t>• Request latest ISO certifications</a:t>
            </a:r>
          </a:p>
          <a:p>
            <a:r>
              <a:rPr sz="1100">
                <a:solidFill>
                  <a:srgbClr val="1A202C"/>
                </a:solidFill>
              </a:rPr>
              <a:t>• Annual financial disclosure as contract condition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892040"/>
            <a:ext cx="11274552" cy="13716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147"/>
                </a:solidFill>
              </a:rPr>
              <a:t>Overall Risk Summary — MEDIUM (52/100)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7667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147"/>
                </a:solidFill>
              </a:rPr>
              <a:t>Financial: 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4184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Private; limited disclosure; Uniwater backing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537667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147"/>
                </a:solidFill>
              </a:rPr>
              <a:t>Operational: 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564184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Proven SCADA expertise; Norwegian standards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37667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147"/>
                </a:solidFill>
              </a:rPr>
              <a:t>Geopolitical: 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64184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Norwegian-based; stable jurisdiction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537667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147"/>
                </a:solidFill>
              </a:rPr>
              <a:t>ESG: 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564184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Limited public disclosure; recent acquisition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21" name="Picture 20" descr="manu_for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SUPPLIER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Corporate Structure &amp; Global Footprint</a:t>
            </a:r>
          </a:p>
        </p:txBody>
      </p:sp>
      <p:pic>
        <p:nvPicPr>
          <p:cNvPr id="5" name="Picture 4" descr="02_org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7498079" cy="40965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96012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Company Overview</a:t>
            </a:r>
          </a:p>
          <a:p>
            <a:r>
              <a:rPr sz="1100">
                <a:solidFill>
                  <a:srgbClr val="1A202C"/>
                </a:solidFill>
              </a:rPr>
              <a:t>• ControlPartner AS is a Norwegian industrial</a:t>
            </a:r>
          </a:p>
          <a:p>
            <a:r>
              <a:rPr sz="1100">
                <a:solidFill>
                  <a:srgbClr val="1A202C"/>
                </a:solidFill>
              </a:rPr>
              <a:t>• automation company founded in 2015 in</a:t>
            </a:r>
          </a:p>
          <a:p>
            <a:r>
              <a:rPr sz="1100">
                <a:solidFill>
                  <a:srgbClr val="1A202C"/>
                </a:solidFill>
              </a:rPr>
              <a:t>• Porsgrunn. Specializes in SCADA systems,</a:t>
            </a:r>
          </a:p>
          <a:p>
            <a:r>
              <a:rPr sz="1100">
                <a:solidFill>
                  <a:srgbClr val="1A202C"/>
                </a:solidFill>
              </a:rPr>
              <a:t>• process control, and automation solutions</a:t>
            </a:r>
          </a:p>
          <a:p>
            <a:r>
              <a:rPr sz="1100">
                <a:solidFill>
                  <a:srgbClr val="1A202C"/>
                </a:solidFill>
              </a:rPr>
              <a:t>• for water/wastewater and industrial clients.</a:t>
            </a:r>
          </a:p>
          <a:p>
            <a:r>
              <a:rPr sz="1100">
                <a:solidFill>
                  <a:srgbClr val="1A202C"/>
                </a:solidFill>
              </a:rPr>
              <a:t>• </a:t>
            </a:r>
          </a:p>
          <a:p>
            <a:r>
              <a:rPr sz="1100">
                <a:solidFill>
                  <a:srgbClr val="1A202C"/>
                </a:solidFill>
              </a:rPr>
              <a:t>• Acquired by Uniwater AB (Sweden) in</a:t>
            </a:r>
          </a:p>
          <a:p>
            <a:r>
              <a:rPr sz="1100">
                <a:solidFill>
                  <a:srgbClr val="1A202C"/>
                </a:solidFill>
              </a:rPr>
              <a:t>• October 2025 — 5th Uniwater acquisition</a:t>
            </a:r>
          </a:p>
          <a:p>
            <a:r>
              <a:rPr sz="1100">
                <a:solidFill>
                  <a:srgbClr val="1A202C"/>
                </a:solidFill>
              </a:rPr>
              <a:t>• in 2025. Now part of Nordic water tech group.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4114800"/>
            <a:ext cx="3931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Leadership</a:t>
            </a:r>
          </a:p>
          <a:p>
            <a:r>
              <a:rPr sz="1100">
                <a:solidFill>
                  <a:srgbClr val="1A202C"/>
                </a:solidFill>
              </a:rPr>
              <a:t>• Management team retained post-acquisition</a:t>
            </a:r>
          </a:p>
          <a:p>
            <a:r>
              <a:rPr sz="1100">
                <a:solidFill>
                  <a:srgbClr val="1A202C"/>
                </a:solidFill>
              </a:rPr>
              <a:t>•   Uniwater integration ongoing</a:t>
            </a:r>
          </a:p>
          <a:p>
            <a:r>
              <a:rPr sz="1100">
                <a:solidFill>
                  <a:srgbClr val="1A202C"/>
                </a:solidFill>
              </a:rPr>
              <a:t>• </a:t>
            </a:r>
          </a:p>
          <a:p>
            <a:r>
              <a:rPr sz="1100">
                <a:solidFill>
                  <a:srgbClr val="1A202C"/>
                </a:solidFill>
              </a:rPr>
              <a:t>• Key: Norwegian operations with Swedish</a:t>
            </a:r>
          </a:p>
          <a:p>
            <a:r>
              <a:rPr sz="1100">
                <a:solidFill>
                  <a:srgbClr val="1A202C"/>
                </a:solidFill>
              </a:rPr>
              <a:t>•   parent company oversight</a:t>
            </a:r>
          </a:p>
          <a:p>
            <a:r>
              <a:rPr sz="1100">
                <a:solidFill>
                  <a:srgbClr val="1A202C"/>
                </a:solidFill>
              </a:rPr>
              <a:t>• </a:t>
            </a:r>
          </a:p>
          <a:p>
            <a:r>
              <a:rPr sz="1100">
                <a:solidFill>
                  <a:srgbClr val="1A202C"/>
                </a:solidFill>
              </a:rPr>
              <a:t>• HQ: Porsgrunn, NO  |  Founded: 2015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9" name="Picture 8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FINANCIAL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Revenue &amp; EBITDA Trajectory 2021–2023 (Pre-Acquisition)  |  Limited Post-Acquisition Data</a:t>
            </a:r>
          </a:p>
        </p:txBody>
      </p:sp>
      <p:pic>
        <p:nvPicPr>
          <p:cNvPr id="5" name="Picture 4" descr="03_finan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85800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0058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147"/>
                </a:solidFill>
              </a:rPr>
              <a:t>Financial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42646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2023 Revenue: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142646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NOK 57.3M  (+4.6% YoY)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70078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2023 EBITDA: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170078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NOK 5.2M  (9.1% margin)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97510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2023 Operating: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197510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NOK 5.2M  (pre-acquisition)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24942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3yr Revenue CAGR: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24942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+5.0%  (2021–2023)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52374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Order Book: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38360" y="252374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N/A  (private subsidiary)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79806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Gross Debt: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279806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N/A  (Uniwater consolidated)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07238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Net Cash Position: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307238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N/A  (no disclosure)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34670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Debt / EBITDA: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334670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N/A  (no data)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3703320"/>
            <a:ext cx="4389120" cy="402336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37673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Financial Risk:  MEDIUM  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206240"/>
            <a:ext cx="4389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2147"/>
                </a:solidFill>
              </a:rPr>
              <a:t>Exposure Guidance</a:t>
            </a:r>
          </a:p>
          <a:p>
            <a:r>
              <a:rPr sz="1000">
                <a:solidFill>
                  <a:srgbClr val="1A202C"/>
                </a:solidFill>
              </a:rPr>
              <a:t>• Private subsidiary — limited financial disclosure</a:t>
            </a:r>
          </a:p>
          <a:p>
            <a:r>
              <a:rPr sz="1000">
                <a:solidFill>
                  <a:srgbClr val="1A202C"/>
                </a:solidFill>
              </a:rPr>
              <a:t>• Uniwater AB backing provides parent support</a:t>
            </a:r>
          </a:p>
          <a:p>
            <a:r>
              <a:rPr sz="1000">
                <a:solidFill>
                  <a:srgbClr val="1A202C"/>
                </a:solidFill>
              </a:rPr>
              <a:t>• Letter of Credit mandatory; no open account</a:t>
            </a:r>
          </a:p>
          <a:p>
            <a:r>
              <a:rPr sz="1000">
                <a:solidFill>
                  <a:srgbClr val="1A202C"/>
                </a:solidFill>
              </a:rPr>
              <a:t>• Request 2024 audited financials before award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27" name="Picture 26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MARKET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Industrial Automation &amp; SCADA Market Position — 2023</a:t>
            </a:r>
          </a:p>
        </p:txBody>
      </p:sp>
      <p:pic>
        <p:nvPicPr>
          <p:cNvPr id="5" name="Picture 4" descr="04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7315200" cy="40782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00584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Competitive Landscape</a:t>
            </a:r>
          </a:p>
          <a:p>
            <a:r>
              <a:rPr sz="1100">
                <a:solidFill>
                  <a:srgbClr val="1A202C"/>
                </a:solidFill>
              </a:rPr>
              <a:t>• ControlPartner is a niche player in the</a:t>
            </a:r>
          </a:p>
          <a:p>
            <a:r>
              <a:rPr sz="1100">
                <a:solidFill>
                  <a:srgbClr val="1A202C"/>
                </a:solidFill>
              </a:rPr>
              <a:t>• Norwegian industrial automation market.</a:t>
            </a:r>
          </a:p>
          <a:p>
            <a:r>
              <a:rPr sz="1100">
                <a:solidFill>
                  <a:srgbClr val="1A202C"/>
                </a:solidFill>
              </a:rPr>
              <a:t>• Competes with global giants through</a:t>
            </a:r>
          </a:p>
          <a:p>
            <a:r>
              <a:rPr sz="1100">
                <a:solidFill>
                  <a:srgbClr val="1A202C"/>
                </a:solidFill>
              </a:rPr>
              <a:t>• specialization in water/wastewater SCADA</a:t>
            </a:r>
          </a:p>
          <a:p>
            <a:r>
              <a:rPr sz="1100">
                <a:solidFill>
                  <a:srgbClr val="1A202C"/>
                </a:solidFill>
              </a:rPr>
              <a:t>• and local Norwegian expertise.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926080"/>
            <a:ext cx="4114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ControlPartner Competitive Advantages</a:t>
            </a:r>
          </a:p>
          <a:p>
            <a:r>
              <a:rPr sz="1100">
                <a:solidFill>
                  <a:srgbClr val="1A202C"/>
                </a:solidFill>
              </a:rPr>
              <a:t>• Water/wastewater SCADA specialization</a:t>
            </a:r>
          </a:p>
          <a:p>
            <a:r>
              <a:rPr sz="1100">
                <a:solidFill>
                  <a:srgbClr val="1A202C"/>
                </a:solidFill>
              </a:rPr>
              <a:t>• Norwegian market knowledge and relationships</a:t>
            </a:r>
          </a:p>
          <a:p>
            <a:r>
              <a:rPr sz="1100">
                <a:solidFill>
                  <a:srgbClr val="1A202C"/>
                </a:solidFill>
              </a:rPr>
              <a:t>• Local service and support capability</a:t>
            </a:r>
          </a:p>
          <a:p>
            <a:r>
              <a:rPr sz="1100">
                <a:solidFill>
                  <a:srgbClr val="1A202C"/>
                </a:solidFill>
              </a:rPr>
              <a:t>• Integration with Nordic water infrastructure</a:t>
            </a:r>
          </a:p>
          <a:p>
            <a:r>
              <a:rPr sz="1100">
                <a:solidFill>
                  <a:srgbClr val="1A202C"/>
                </a:solidFill>
              </a:rPr>
              <a:t>• Uniwater group synergies (post-acquisition)</a:t>
            </a:r>
          </a:p>
          <a:p>
            <a:r>
              <a:rPr sz="1100">
                <a:solidFill>
                  <a:srgbClr val="1A202C"/>
                </a:solidFill>
              </a:rPr>
              <a:t>• Agile compared to global competitors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147"/>
                </a:solidFill>
              </a:rPr>
              <a:t>Key Competitors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40096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ABB — Switzerland — NOK 3.2B Norway — Global automation leader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05272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Siemens Energy — Germany — NOK 2.8B Norway — Diversified industrial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70448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Schneider Electric — France — NOK 3.5B Norway — Energy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35624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Emerson — USA — NOK 15B global — Process 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14" name="Picture 13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OPERATIONAL CAPABILITY  &amp;  RISK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Milestones &amp; Strategic Investment  |  Risk Matrix  |  Capability Summary</a:t>
            </a:r>
          </a:p>
        </p:txBody>
      </p:sp>
      <p:pic>
        <p:nvPicPr>
          <p:cNvPr id="5" name="Picture 4" descr="05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400800" cy="2670048"/>
          </a:xfrm>
          <a:prstGeom prst="rect">
            <a:avLst/>
          </a:prstGeom>
        </p:spPr>
      </p:pic>
      <p:pic>
        <p:nvPicPr>
          <p:cNvPr id="6" name="Picture 5" descr="06_risk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960120"/>
            <a:ext cx="5029200" cy="40782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10235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147"/>
                </a:solidFill>
              </a:rPr>
              <a:t>Risk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3858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Financial: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53858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🟡 MEDIUM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53858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Private; limited disclosure; Uniwater backing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6144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Geopolitical: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56144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🟢 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56144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Norway-based; stable jurisdiction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8430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Uniwater Integration: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58430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🟡 MEDIUM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58430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Recent acquisition; governance alignment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0716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Customer Concentration: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60716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🟡 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60716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Niche market; limited diversification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3002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Delivery: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63002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🟢 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63002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Proven execution; Norwegian standards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5102352"/>
            <a:ext cx="5029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2147"/>
                </a:solidFill>
              </a:rPr>
              <a:t>Key Capabilities</a:t>
            </a:r>
          </a:p>
          <a:p>
            <a:r>
              <a:rPr sz="1000">
                <a:solidFill>
                  <a:srgbClr val="1A202C"/>
                </a:solidFill>
              </a:rPr>
              <a:t>• SCADA system design and implementation</a:t>
            </a:r>
          </a:p>
          <a:p>
            <a:r>
              <a:rPr sz="1000">
                <a:solidFill>
                  <a:srgbClr val="1A202C"/>
                </a:solidFill>
              </a:rPr>
              <a:t>• Process control and automation</a:t>
            </a:r>
          </a:p>
          <a:p>
            <a:r>
              <a:rPr sz="1000">
                <a:solidFill>
                  <a:srgbClr val="1A202C"/>
                </a:solidFill>
              </a:rPr>
              <a:t>• Water/wastewater sector expertise</a:t>
            </a:r>
          </a:p>
          <a:p>
            <a:r>
              <a:rPr sz="1000">
                <a:solidFill>
                  <a:srgbClr val="1A202C"/>
                </a:solidFill>
              </a:rPr>
              <a:t>• Norwegian regulatory compliance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25" name="Picture 24" descr="manu_for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COMMERCIAL INTELLIGENCE  &amp;  PEER RISK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Benchmarking Radar  |  Peer Risk Profile  |  Commercial Terms</a:t>
            </a:r>
          </a:p>
        </p:txBody>
      </p:sp>
      <p:pic>
        <p:nvPicPr>
          <p:cNvPr id="5" name="Picture 4" descr="07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5303520" cy="4334256"/>
          </a:xfrm>
          <a:prstGeom prst="rect">
            <a:avLst/>
          </a:prstGeom>
        </p:spPr>
      </p:pic>
      <p:pic>
        <p:nvPicPr>
          <p:cNvPr id="6" name="Picture 5" descr="08_peer_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914400"/>
            <a:ext cx="6309360" cy="3520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74320" y="5303520"/>
            <a:ext cx="11612880" cy="13716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349240"/>
            <a:ext cx="5943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2147"/>
                </a:solidFill>
              </a:rPr>
              <a:t>Commercial Terms &amp; Negotiation</a:t>
            </a:r>
          </a:p>
          <a:p>
            <a:r>
              <a:rPr sz="1000">
                <a:solidFill>
                  <a:srgbClr val="1A202C"/>
                </a:solidFill>
              </a:rPr>
              <a:t>• Pricing: Competitive vs global players on local projects</a:t>
            </a:r>
          </a:p>
          <a:p>
            <a:r>
              <a:rPr sz="1000">
                <a:solidFill>
                  <a:srgbClr val="1A202C"/>
                </a:solidFill>
              </a:rPr>
              <a:t>• Lead time: 4–8 weeks for standard SCADA components</a:t>
            </a:r>
          </a:p>
          <a:p>
            <a:r>
              <a:rPr sz="1000">
                <a:solidFill>
                  <a:srgbClr val="1A202C"/>
                </a:solidFill>
              </a:rPr>
              <a:t>• Payment: Letter of Credit mandatory — no open account</a:t>
            </a:r>
          </a:p>
          <a:p>
            <a:r>
              <a:rPr sz="1000">
                <a:solidFill>
                  <a:srgbClr val="1A202C"/>
                </a:solidFill>
              </a:rPr>
              <a:t>• Leverage: Multi-year service agreements for discount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34924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2147"/>
                </a:solidFill>
              </a:rPr>
              <a:t>Key Watch Points</a:t>
            </a:r>
          </a:p>
          <a:p>
            <a:r>
              <a:rPr sz="1000">
                <a:solidFill>
                  <a:srgbClr val="1A202C"/>
                </a:solidFill>
              </a:rPr>
              <a:t>• ⚠ Request 2024 financials post-Uniwater acquisition</a:t>
            </a:r>
          </a:p>
          <a:p>
            <a:r>
              <a:rPr sz="1000">
                <a:solidFill>
                  <a:srgbClr val="1A202C"/>
                </a:solidFill>
              </a:rPr>
              <a:t>• ⚠ Confirm key personnel retention post-acquisition</a:t>
            </a:r>
          </a:p>
          <a:p>
            <a:r>
              <a:rPr sz="1000">
                <a:solidFill>
                  <a:srgbClr val="1A202C"/>
                </a:solidFill>
              </a:rPr>
              <a:t>• ⚠ Verify Uniwater AB creditworthiness</a:t>
            </a:r>
          </a:p>
          <a:p>
            <a:r>
              <a:rPr sz="1000">
                <a:solidFill>
                  <a:srgbClr val="1A202C"/>
                </a:solidFill>
              </a:rPr>
              <a:t>• ⚠ Monitor integration progress with parent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11" name="Picture 10" descr="manu_for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ESG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Environmental, Social &amp; Governance Screening  |  Overall Rating: MEDIUM</a:t>
            </a:r>
          </a:p>
        </p:txBody>
      </p:sp>
      <p:pic>
        <p:nvPicPr>
          <p:cNvPr id="5" name="Picture 4" descr="09_es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960120"/>
            <a:ext cx="9144000" cy="54223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7" name="Picture 6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